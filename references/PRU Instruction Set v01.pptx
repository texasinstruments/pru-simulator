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85" r:id="rId2"/>
    <p:sldId id="329" r:id="rId3"/>
    <p:sldId id="330" r:id="rId4"/>
    <p:sldId id="258" r:id="rId5"/>
    <p:sldId id="259" r:id="rId6"/>
    <p:sldId id="260" r:id="rId7"/>
    <p:sldId id="261" r:id="rId8"/>
    <p:sldId id="263" r:id="rId9"/>
    <p:sldId id="26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77" r:id="rId25"/>
    <p:sldId id="283" r:id="rId26"/>
    <p:sldId id="347" r:id="rId27"/>
    <p:sldId id="280" r:id="rId28"/>
    <p:sldId id="281" r:id="rId29"/>
    <p:sldId id="286" r:id="rId30"/>
    <p:sldId id="332" r:id="rId31"/>
    <p:sldId id="333" r:id="rId32"/>
    <p:sldId id="334" r:id="rId33"/>
    <p:sldId id="336" r:id="rId34"/>
    <p:sldId id="337" r:id="rId35"/>
    <p:sldId id="338" r:id="rId36"/>
    <p:sldId id="339" r:id="rId37"/>
    <p:sldId id="341" r:id="rId38"/>
    <p:sldId id="346" r:id="rId39"/>
    <p:sldId id="342" r:id="rId40"/>
    <p:sldId id="343" r:id="rId41"/>
    <p:sldId id="344" r:id="rId42"/>
    <p:sldId id="345" r:id="rId43"/>
  </p:sldIdLst>
  <p:sldSz cx="9144000" cy="5143500" type="screen16x9"/>
  <p:notesSz cx="9296400" cy="14770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80895" algn="l" rtl="0" fontAlgn="base">
      <a:spcBef>
        <a:spcPct val="0"/>
      </a:spcBef>
      <a:spcAft>
        <a:spcPct val="0"/>
      </a:spcAft>
      <a:defRPr kern="1200">
        <a:solidFill>
          <a:schemeClr val="tx1"/>
        </a:solidFill>
        <a:latin typeface="Arial" charset="0"/>
        <a:ea typeface="+mn-ea"/>
        <a:cs typeface="+mn-cs"/>
      </a:defRPr>
    </a:lvl2pPr>
    <a:lvl3pPr marL="761790" algn="l" rtl="0" fontAlgn="base">
      <a:spcBef>
        <a:spcPct val="0"/>
      </a:spcBef>
      <a:spcAft>
        <a:spcPct val="0"/>
      </a:spcAft>
      <a:defRPr kern="1200">
        <a:solidFill>
          <a:schemeClr val="tx1"/>
        </a:solidFill>
        <a:latin typeface="Arial" charset="0"/>
        <a:ea typeface="+mn-ea"/>
        <a:cs typeface="+mn-cs"/>
      </a:defRPr>
    </a:lvl3pPr>
    <a:lvl4pPr marL="1142683" algn="l" rtl="0" fontAlgn="base">
      <a:spcBef>
        <a:spcPct val="0"/>
      </a:spcBef>
      <a:spcAft>
        <a:spcPct val="0"/>
      </a:spcAft>
      <a:defRPr kern="1200">
        <a:solidFill>
          <a:schemeClr val="tx1"/>
        </a:solidFill>
        <a:latin typeface="Arial" charset="0"/>
        <a:ea typeface="+mn-ea"/>
        <a:cs typeface="+mn-cs"/>
      </a:defRPr>
    </a:lvl4pPr>
    <a:lvl5pPr marL="1523573" algn="l" rtl="0" fontAlgn="base">
      <a:spcBef>
        <a:spcPct val="0"/>
      </a:spcBef>
      <a:spcAft>
        <a:spcPct val="0"/>
      </a:spcAft>
      <a:defRPr kern="1200">
        <a:solidFill>
          <a:schemeClr val="tx1"/>
        </a:solidFill>
        <a:latin typeface="Arial" charset="0"/>
        <a:ea typeface="+mn-ea"/>
        <a:cs typeface="+mn-cs"/>
      </a:defRPr>
    </a:lvl5pPr>
    <a:lvl6pPr marL="1904467" algn="l" defTabSz="761790" rtl="0" eaLnBrk="1" latinLnBrk="0" hangingPunct="1">
      <a:defRPr kern="1200">
        <a:solidFill>
          <a:schemeClr val="tx1"/>
        </a:solidFill>
        <a:latin typeface="Arial" charset="0"/>
        <a:ea typeface="+mn-ea"/>
        <a:cs typeface="+mn-cs"/>
      </a:defRPr>
    </a:lvl6pPr>
    <a:lvl7pPr marL="2285362" algn="l" defTabSz="761790" rtl="0" eaLnBrk="1" latinLnBrk="0" hangingPunct="1">
      <a:defRPr kern="1200">
        <a:solidFill>
          <a:schemeClr val="tx1"/>
        </a:solidFill>
        <a:latin typeface="Arial" charset="0"/>
        <a:ea typeface="+mn-ea"/>
        <a:cs typeface="+mn-cs"/>
      </a:defRPr>
    </a:lvl7pPr>
    <a:lvl8pPr marL="2666253" algn="l" defTabSz="761790" rtl="0" eaLnBrk="1" latinLnBrk="0" hangingPunct="1">
      <a:defRPr kern="1200">
        <a:solidFill>
          <a:schemeClr val="tx1"/>
        </a:solidFill>
        <a:latin typeface="Arial" charset="0"/>
        <a:ea typeface="+mn-ea"/>
        <a:cs typeface="+mn-cs"/>
      </a:defRPr>
    </a:lvl8pPr>
    <a:lvl9pPr marL="3047146" algn="l" defTabSz="76179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2DF0CB10-8FFA-4623-9E63-64FE90746EDB}">
          <p14:sldIdLst>
            <p14:sldId id="285"/>
            <p14:sldId id="329"/>
            <p14:sldId id="330"/>
          </p14:sldIdLst>
        </p14:section>
        <p14:section name="Arithmetic Instructions" id="{57402583-9059-4894-86DC-3222D64079EE}">
          <p14:sldIdLst>
            <p14:sldId id="258"/>
            <p14:sldId id="259"/>
            <p14:sldId id="260"/>
            <p14:sldId id="261"/>
            <p14:sldId id="263"/>
            <p14:sldId id="262"/>
            <p14:sldId id="264"/>
          </p14:sldIdLst>
        </p14:section>
        <p14:section name="Logic Operations" id="{EBA7FA88-837E-48DA-B1C9-39589CE02C7C}">
          <p14:sldIdLst>
            <p14:sldId id="265"/>
            <p14:sldId id="266"/>
            <p14:sldId id="267"/>
            <p14:sldId id="268"/>
            <p14:sldId id="269"/>
            <p14:sldId id="270"/>
            <p14:sldId id="271"/>
            <p14:sldId id="272"/>
            <p14:sldId id="273"/>
            <p14:sldId id="274"/>
            <p14:sldId id="275"/>
            <p14:sldId id="276"/>
          </p14:sldIdLst>
        </p14:section>
        <p14:section name="IO Operations" id="{43C0E3C5-505C-42ED-BFE0-280625CF8DBE}">
          <p14:sldIdLst>
            <p14:sldId id="278"/>
            <p14:sldId id="277"/>
            <p14:sldId id="283"/>
            <p14:sldId id="347"/>
            <p14:sldId id="280"/>
            <p14:sldId id="281"/>
            <p14:sldId id="286"/>
          </p14:sldIdLst>
        </p14:section>
        <p14:section name="Program Flow" id="{183123BB-2C51-4FB8-A721-11703A6F0018}">
          <p14:sldIdLst>
            <p14:sldId id="332"/>
            <p14:sldId id="333"/>
            <p14:sldId id="334"/>
            <p14:sldId id="336"/>
            <p14:sldId id="337"/>
            <p14:sldId id="338"/>
            <p14:sldId id="339"/>
            <p14:sldId id="341"/>
            <p14:sldId id="346"/>
            <p14:sldId id="342"/>
            <p14:sldId id="343"/>
            <p14:sldId id="344"/>
            <p14:sldId id="345"/>
          </p14:sldIdLst>
        </p14:section>
      </p14:sectionLst>
    </p:ext>
    <p:ext uri="{EFAFB233-063F-42B5-8137-9DF3F51BA10A}">
      <p15:sldGuideLst xmlns:p15="http://schemas.microsoft.com/office/powerpoint/2012/main">
        <p15:guide id="1" orient="horz" pos="1620">
          <p15:clr>
            <a:srgbClr val="A4A3A4"/>
          </p15:clr>
        </p15:guide>
        <p15:guide id="2" pos="2878">
          <p15:clr>
            <a:srgbClr val="A4A3A4"/>
          </p15:clr>
        </p15:guide>
      </p15:sldGuideLst>
    </p:ext>
    <p:ext uri="{2D200454-40CA-4A62-9FC3-DE9A4176ACB9}">
      <p15:notesGuideLst xmlns:p15="http://schemas.microsoft.com/office/powerpoint/2012/main">
        <p15:guide id="1" orient="horz" pos="4652">
          <p15:clr>
            <a:srgbClr val="A4A3A4"/>
          </p15:clr>
        </p15:guide>
        <p15:guide id="2" pos="292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lukaj, Dardan" initials="KD" lastIdx="1" clrIdx="0">
    <p:extLst>
      <p:ext uri="{19B8F6BF-5375-455C-9EA6-DF929625EA0E}">
        <p15:presenceInfo xmlns:p15="http://schemas.microsoft.com/office/powerpoint/2012/main" userId="6152147ec9476c5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64" autoAdjust="0"/>
    <p:restoredTop sz="94660"/>
  </p:normalViewPr>
  <p:slideViewPr>
    <p:cSldViewPr snapToGrid="0">
      <p:cViewPr varScale="1">
        <p:scale>
          <a:sx n="218" d="100"/>
          <a:sy n="218" d="100"/>
        </p:scale>
        <p:origin x="500" y="120"/>
      </p:cViewPr>
      <p:guideLst>
        <p:guide orient="horz" pos="1620"/>
        <p:guide pos="2878"/>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4652"/>
        <p:guide pos="292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9075" cy="7397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65738" y="0"/>
            <a:ext cx="4029075" cy="739775"/>
          </a:xfrm>
          <a:prstGeom prst="rect">
            <a:avLst/>
          </a:prstGeom>
        </p:spPr>
        <p:txBody>
          <a:bodyPr vert="horz" lIns="91440" tIns="45720" rIns="91440" bIns="45720" rtlCol="0"/>
          <a:lstStyle>
            <a:lvl1pPr algn="r">
              <a:defRPr sz="1200"/>
            </a:lvl1pPr>
          </a:lstStyle>
          <a:p>
            <a:fld id="{7D3A4D34-8E1E-4014-9819-422F7A1B1690}" type="datetimeFigureOut">
              <a:rPr lang="en-US" smtClean="0"/>
              <a:t>7/28/2025</a:t>
            </a:fld>
            <a:endParaRPr lang="en-US"/>
          </a:p>
        </p:txBody>
      </p:sp>
      <p:sp>
        <p:nvSpPr>
          <p:cNvPr id="4" name="Slide Image Placeholder 3"/>
          <p:cNvSpPr>
            <a:spLocks noGrp="1" noRot="1" noChangeAspect="1"/>
          </p:cNvSpPr>
          <p:nvPr>
            <p:ph type="sldImg" idx="2"/>
          </p:nvPr>
        </p:nvSpPr>
        <p:spPr>
          <a:xfrm>
            <a:off x="217488" y="1846263"/>
            <a:ext cx="8861425" cy="4984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275" y="7108825"/>
            <a:ext cx="7435850" cy="581501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4030325"/>
            <a:ext cx="4029075" cy="7397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65738" y="14030325"/>
            <a:ext cx="4029075" cy="739775"/>
          </a:xfrm>
          <a:prstGeom prst="rect">
            <a:avLst/>
          </a:prstGeom>
        </p:spPr>
        <p:txBody>
          <a:bodyPr vert="horz" lIns="91440" tIns="45720" rIns="91440" bIns="45720" rtlCol="0" anchor="b"/>
          <a:lstStyle>
            <a:lvl1pPr algn="r">
              <a:defRPr sz="1200"/>
            </a:lvl1pPr>
          </a:lstStyle>
          <a:p>
            <a:fld id="{FDC98F26-9990-4F3E-9A36-541ED6FAAC5A}" type="slidenum">
              <a:rPr lang="en-US" smtClean="0"/>
              <a:t>‹#›</a:t>
            </a:fld>
            <a:endParaRPr lang="en-US"/>
          </a:p>
        </p:txBody>
      </p:sp>
    </p:spTree>
    <p:extLst>
      <p:ext uri="{BB962C8B-B14F-4D97-AF65-F5344CB8AC3E}">
        <p14:creationId xmlns:p14="http://schemas.microsoft.com/office/powerpoint/2010/main" val="1954720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4E7FB2D2-A6FD-4717-AC47-4C5B0968DD3F}" type="slidenum">
              <a:rPr lang="en-US" smtClean="0">
                <a:solidFill>
                  <a:prstClr val="black"/>
                </a:solidFill>
              </a:rPr>
              <a:pPr/>
              <a:t>1</a:t>
            </a:fld>
            <a:endParaRPr lang="en-US">
              <a:solidFill>
                <a:prstClr val="black"/>
              </a:solidFill>
            </a:endParaRPr>
          </a:p>
        </p:txBody>
      </p:sp>
      <p:sp>
        <p:nvSpPr>
          <p:cNvPr id="90115" name="Rectangle 2"/>
          <p:cNvSpPr>
            <a:spLocks noGrp="1" noRot="1" noChangeAspect="1" noChangeArrowheads="1" noTextEdit="1"/>
          </p:cNvSpPr>
          <p:nvPr>
            <p:ph type="sldImg"/>
          </p:nvPr>
        </p:nvSpPr>
        <p:spPr>
          <a:xfrm>
            <a:off x="93663" y="746125"/>
            <a:ext cx="6611937" cy="3719513"/>
          </a:xfrm>
          <a:ln/>
        </p:spPr>
      </p:sp>
      <p:sp>
        <p:nvSpPr>
          <p:cNvPr id="90116" name="Rectangle 3"/>
          <p:cNvSpPr>
            <a:spLocks noGrp="1" noChangeArrowheads="1"/>
          </p:cNvSpPr>
          <p:nvPr>
            <p:ph type="body" idx="1"/>
          </p:nvPr>
        </p:nvSpPr>
        <p:spPr>
          <a:xfrm>
            <a:off x="907243" y="4715482"/>
            <a:ext cx="4983192" cy="4464360"/>
          </a:xfrm>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a:t>Click to edit Master title style</a:t>
            </a:r>
            <a:endParaRPr lang="en-US" dirty="0"/>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439927"/>
            <a:ext cx="2133600" cy="154782"/>
          </a:xfrm>
        </p:spPr>
        <p:txBody>
          <a:bodyPr/>
          <a:lstStyle>
            <a:lvl1pPr>
              <a:defRPr/>
            </a:lvl1pPr>
          </a:lstStyle>
          <a:p>
            <a:pPr>
              <a:defRPr/>
            </a:pPr>
            <a:fld id="{03BA23CF-AA30-4A18-B744-605C3E9DBF07}" type="slidenum">
              <a:rPr lang="en-US"/>
              <a:pPr>
                <a:defRPr/>
              </a:pPr>
              <a:t>‹#›</a:t>
            </a:fld>
            <a:endParaRPr lang="en-US"/>
          </a:p>
        </p:txBody>
      </p:sp>
      <p:sp>
        <p:nvSpPr>
          <p:cNvPr id="2" name="TextBox 1">
            <a:extLst>
              <a:ext uri="{FF2B5EF4-FFF2-40B4-BE49-F238E27FC236}">
                <a16:creationId xmlns:a16="http://schemas.microsoft.com/office/drawing/2014/main" id="{D56687D7-76F0-8040-93B6-084C7529F854}"/>
              </a:ext>
            </a:extLst>
          </p:cNvPr>
          <p:cNvSpPr txBox="1"/>
          <p:nvPr/>
        </p:nvSpPr>
        <p:spPr>
          <a:xfrm>
            <a:off x="4705815" y="4780156"/>
            <a:ext cx="184731" cy="369332"/>
          </a:xfrm>
          <a:prstGeom prst="rect">
            <a:avLst/>
          </a:prstGeom>
          <a:noFill/>
        </p:spPr>
        <p:txBody>
          <a:bodyPr wrap="none" rtlCol="0">
            <a:spAutoFit/>
          </a:bodyPr>
          <a:lstStyle/>
          <a:p>
            <a:endParaRPr lang="en-US" dirty="0"/>
          </a:p>
        </p:txBody>
      </p:sp>
      <p:pic>
        <p:nvPicPr>
          <p:cNvPr id="6" name="Picture 27" descr="ti_logo_powerpoint_1_line.png"/>
          <p:cNvPicPr>
            <a:picLocks noChangeAspect="1"/>
          </p:cNvPicPr>
          <p:nvPr/>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a:t>Click to edit Master title style</a:t>
            </a:r>
            <a:endParaRPr lang="en-US" dirty="0"/>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5" name="Rectangle 24">
            <a:extLst>
              <a:ext uri="{FF2B5EF4-FFF2-40B4-BE49-F238E27FC236}">
                <a16:creationId xmlns:a16="http://schemas.microsoft.com/office/drawing/2014/main" id="{73F1F293-7B5B-6248-AEF0-BCB7B73543E3}"/>
              </a:ext>
            </a:extLst>
          </p:cNvPr>
          <p:cNvSpPr>
            <a:spLocks noGrp="1" noChangeArrowheads="1"/>
          </p:cNvSpPr>
          <p:nvPr>
            <p:ph type="sldNum" sz="quarter" idx="10"/>
          </p:nvPr>
        </p:nvSpPr>
        <p:spPr>
          <a:xfrm>
            <a:off x="6642100" y="4439927"/>
            <a:ext cx="2133600" cy="154782"/>
          </a:xfrm>
        </p:spPr>
        <p:txBody>
          <a:bodyPr/>
          <a:lstStyle>
            <a:lvl1pPr>
              <a:defRPr/>
            </a:lvl1pPr>
          </a:lstStyle>
          <a:p>
            <a:pPr>
              <a:defRPr/>
            </a:pPr>
            <a:fld id="{03BA23CF-AA30-4A18-B744-605C3E9DBF07}" type="slidenum">
              <a:rPr lang="en-US"/>
              <a:pPr>
                <a:defRPr/>
              </a:pPr>
              <a:t>‹#›</a:t>
            </a:fld>
            <a:endParaRPr lang="en-US"/>
          </a:p>
        </p:txBody>
      </p:sp>
      <p:pic>
        <p:nvPicPr>
          <p:cNvPr id="6" name="Picture 27" descr="ti_logo_powerpoint_1_line.png"/>
          <p:cNvPicPr>
            <a:picLocks noChangeAspect="1"/>
          </p:cNvPicPr>
          <p:nvPr/>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Tree>
    <p:extLst>
      <p:ext uri="{BB962C8B-B14F-4D97-AF65-F5344CB8AC3E}">
        <p14:creationId xmlns:p14="http://schemas.microsoft.com/office/powerpoint/2010/main" val="65610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8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10"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a:t>Click to edit Master title style</a:t>
            </a:r>
            <a:endParaRPr lang="en-US" dirty="0"/>
          </a:p>
        </p:txBody>
      </p:sp>
      <p:sp>
        <p:nvSpPr>
          <p:cNvPr id="5" name="Rectangle 24">
            <a:extLst>
              <a:ext uri="{FF2B5EF4-FFF2-40B4-BE49-F238E27FC236}">
                <a16:creationId xmlns:a16="http://schemas.microsoft.com/office/drawing/2014/main" id="{7815B5F2-A5A7-1E49-BC30-BA3F75996177}"/>
              </a:ext>
            </a:extLst>
          </p:cNvPr>
          <p:cNvSpPr>
            <a:spLocks noGrp="1" noChangeArrowheads="1"/>
          </p:cNvSpPr>
          <p:nvPr>
            <p:ph type="sldNum" sz="quarter" idx="10"/>
          </p:nvPr>
        </p:nvSpPr>
        <p:spPr>
          <a:xfrm>
            <a:off x="6642100" y="4439927"/>
            <a:ext cx="2133600" cy="154782"/>
          </a:xfrm>
        </p:spPr>
        <p:txBody>
          <a:bodyPr/>
          <a:lstStyle>
            <a:lvl1pPr>
              <a:defRPr>
                <a:solidFill>
                  <a:schemeClr val="tx1"/>
                </a:solidFill>
              </a:defRPr>
            </a:lvl1pPr>
          </a:lstStyle>
          <a:p>
            <a:pPr>
              <a:defRPr/>
            </a:pPr>
            <a:fld id="{03BA23CF-AA30-4A18-B744-605C3E9DBF07}" type="slidenum">
              <a:rPr lang="en-US" smtClean="0"/>
              <a:pPr>
                <a:defRPr/>
              </a:pPr>
              <a:t>‹#›</a:t>
            </a:fld>
            <a:endParaRPr lang="en-US"/>
          </a:p>
        </p:txBody>
      </p:sp>
      <p:pic>
        <p:nvPicPr>
          <p:cNvPr id="6" name="Picture 27" descr="ti_logo_powerpoint_1_line.png"/>
          <p:cNvPicPr>
            <a:picLocks noChangeAspect="1"/>
          </p:cNvPicPr>
          <p:nvPr/>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Tree>
    <p:extLst>
      <p:ext uri="{BB962C8B-B14F-4D97-AF65-F5344CB8AC3E}">
        <p14:creationId xmlns:p14="http://schemas.microsoft.com/office/powerpoint/2010/main" val="3546851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7_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a:t>Click to edit Master title style</a:t>
            </a:r>
            <a:endParaRPr lang="en-US" dirty="0"/>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5" name="Rectangle 24">
            <a:extLst>
              <a:ext uri="{FF2B5EF4-FFF2-40B4-BE49-F238E27FC236}">
                <a16:creationId xmlns:a16="http://schemas.microsoft.com/office/drawing/2014/main" id="{73F1F293-7B5B-6248-AEF0-BCB7B73543E3}"/>
              </a:ext>
            </a:extLst>
          </p:cNvPr>
          <p:cNvSpPr>
            <a:spLocks noGrp="1" noChangeArrowheads="1"/>
          </p:cNvSpPr>
          <p:nvPr>
            <p:ph type="sldNum" sz="quarter" idx="10"/>
          </p:nvPr>
        </p:nvSpPr>
        <p:spPr>
          <a:xfrm>
            <a:off x="6642100" y="4439927"/>
            <a:ext cx="2133600" cy="154782"/>
          </a:xfrm>
        </p:spPr>
        <p:txBody>
          <a:bodyPr/>
          <a:lstStyle>
            <a:lvl1pPr>
              <a:defRPr/>
            </a:lvl1pPr>
          </a:lstStyle>
          <a:p>
            <a:pPr>
              <a:defRPr/>
            </a:pPr>
            <a:fld id="{03BA23CF-AA30-4A18-B744-605C3E9DBF07}" type="slidenum">
              <a:rPr lang="en-US"/>
              <a:pPr>
                <a:defRPr/>
              </a:pPr>
              <a:t>‹#›</a:t>
            </a:fld>
            <a:endParaRPr lang="en-US"/>
          </a:p>
        </p:txBody>
      </p:sp>
      <p:pic>
        <p:nvPicPr>
          <p:cNvPr id="6" name="Picture 5" descr="A picture containing drawing, cup&#10;&#10;Description automatically generated">
            <a:extLst>
              <a:ext uri="{FF2B5EF4-FFF2-40B4-BE49-F238E27FC236}">
                <a16:creationId xmlns:a16="http://schemas.microsoft.com/office/drawing/2014/main" id="{7CC34E39-7310-7442-846F-66689DD005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9868" y="4782676"/>
            <a:ext cx="1563597" cy="191106"/>
          </a:xfrm>
          <a:prstGeom prst="rect">
            <a:avLst/>
          </a:prstGeom>
        </p:spPr>
      </p:pic>
    </p:spTree>
    <p:extLst>
      <p:ext uri="{BB962C8B-B14F-4D97-AF65-F5344CB8AC3E}">
        <p14:creationId xmlns:p14="http://schemas.microsoft.com/office/powerpoint/2010/main" val="796813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333378" y="786357"/>
            <a:ext cx="8467725" cy="3709449"/>
          </a:xfrm>
        </p:spPr>
        <p:txBody>
          <a:bodyPr/>
          <a:lstStyle>
            <a:lvl1pPr>
              <a:spcBef>
                <a:spcPts val="667"/>
              </a:spcBef>
              <a:defRPr/>
            </a:lvl1pPr>
            <a:lvl3pPr>
              <a:defRPr sz="1500"/>
            </a:lvl3pPr>
            <a:lvl4pPr>
              <a:defRPr sz="1500"/>
            </a:lvl4pPr>
            <a:lvl5pPr>
              <a:defRPr sz="15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2B97888F-6AF7-4263-B69D-592D8C33BAC7}" type="slidenum">
              <a:rPr lang="en-US"/>
              <a:pPr>
                <a:defRPr/>
              </a:pPr>
              <a:t>‹#›</a:t>
            </a:fld>
            <a:endParaRPr lang="en-US"/>
          </a:p>
        </p:txBody>
      </p:sp>
      <p:pic>
        <p:nvPicPr>
          <p:cNvPr id="5" name="Picture 27" descr="ti_logo_powerpoint_1_line.png"/>
          <p:cNvPicPr>
            <a:picLocks noChangeAspect="1"/>
          </p:cNvPicPr>
          <p:nvPr/>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333375" y="889398"/>
            <a:ext cx="4157663"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3438" y="889398"/>
            <a:ext cx="4157662"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6"/>
          <p:cNvSpPr>
            <a:spLocks noGrp="1" noChangeArrowheads="1"/>
          </p:cNvSpPr>
          <p:nvPr>
            <p:ph type="sldNum" sz="quarter" idx="10"/>
          </p:nvPr>
        </p:nvSpPr>
        <p:spPr>
          <a:ln/>
        </p:spPr>
        <p:txBody>
          <a:bodyPr/>
          <a:lstStyle>
            <a:lvl1pPr>
              <a:defRPr/>
            </a:lvl1pPr>
          </a:lstStyle>
          <a:p>
            <a:pPr>
              <a:defRPr/>
            </a:pPr>
            <a:fld id="{B53548F6-AAA9-4A8D-A869-511B3DFE3256}" type="slidenum">
              <a:rPr lang="en-US"/>
              <a:pPr>
                <a:defRPr/>
              </a:pPr>
              <a:t>‹#›</a:t>
            </a:fld>
            <a:endParaRPr lang="en-US"/>
          </a:p>
        </p:txBody>
      </p:sp>
      <p:pic>
        <p:nvPicPr>
          <p:cNvPr id="6" name="Picture 27" descr="ti_logo_powerpoint_1_line.png"/>
          <p:cNvPicPr>
            <a:picLocks noChangeAspect="1"/>
          </p:cNvPicPr>
          <p:nvPr/>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Edit Master text styles</a:t>
            </a:r>
          </a:p>
        </p:txBody>
      </p:sp>
      <p:sp>
        <p:nvSpPr>
          <p:cNvPr id="4" name="Content Placeholder 3"/>
          <p:cNvSpPr>
            <a:spLocks noGrp="1"/>
          </p:cNvSpPr>
          <p:nvPr>
            <p:ph sz="half" idx="2"/>
          </p:nvPr>
        </p:nvSpPr>
        <p:spPr>
          <a:xfrm>
            <a:off x="457200" y="1631157"/>
            <a:ext cx="4040188"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Edit Master text styles</a:t>
            </a:r>
          </a:p>
        </p:txBody>
      </p:sp>
      <p:sp>
        <p:nvSpPr>
          <p:cNvPr id="6" name="Content Placeholder 5"/>
          <p:cNvSpPr>
            <a:spLocks noGrp="1"/>
          </p:cNvSpPr>
          <p:nvPr>
            <p:ph sz="quarter" idx="4"/>
          </p:nvPr>
        </p:nvSpPr>
        <p:spPr>
          <a:xfrm>
            <a:off x="4645028" y="1631157"/>
            <a:ext cx="4041775"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pPr>
              <a:defRPr/>
            </a:pPr>
            <a:fld id="{204C35C9-3222-4444-B33E-8AB075BE83C6}" type="slidenum">
              <a:rPr lang="en-US"/>
              <a:pPr>
                <a:defRPr/>
              </a:pPr>
              <a:t>‹#›</a:t>
            </a:fld>
            <a:endParaRPr lang="en-US"/>
          </a:p>
        </p:txBody>
      </p:sp>
      <p:pic>
        <p:nvPicPr>
          <p:cNvPr id="8" name="Picture 27" descr="ti_logo_powerpoint_1_line.png"/>
          <p:cNvPicPr>
            <a:picLocks noChangeAspect="1"/>
          </p:cNvPicPr>
          <p:nvPr/>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Rectangle 6"/>
          <p:cNvSpPr>
            <a:spLocks noGrp="1" noChangeArrowheads="1"/>
          </p:cNvSpPr>
          <p:nvPr>
            <p:ph type="sldNum" sz="quarter" idx="10"/>
          </p:nvPr>
        </p:nvSpPr>
        <p:spPr>
          <a:ln/>
        </p:spPr>
        <p:txBody>
          <a:bodyPr/>
          <a:lstStyle>
            <a:lvl1pPr>
              <a:defRPr/>
            </a:lvl1pPr>
          </a:lstStyle>
          <a:p>
            <a:pPr>
              <a:defRPr/>
            </a:pPr>
            <a:fld id="{D4C52F08-588C-488E-A5AB-DF69250DE862}" type="slidenum">
              <a:rPr lang="en-US"/>
              <a:pPr>
                <a:defRPr/>
              </a:pPr>
              <a:t>‹#›</a:t>
            </a:fld>
            <a:endParaRPr lang="en-US"/>
          </a:p>
        </p:txBody>
      </p:sp>
      <p:pic>
        <p:nvPicPr>
          <p:cNvPr id="4" name="Picture 27" descr="ti_logo_powerpoint_1_line.png"/>
          <p:cNvPicPr>
            <a:picLocks noChangeAspect="1"/>
          </p:cNvPicPr>
          <p:nvPr/>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8"/>
          </a:xfrm>
        </p:spPr>
        <p:txBody>
          <a:bodyPr anchor="b"/>
          <a:lstStyle>
            <a:lvl1pPr algn="l">
              <a:defRPr sz="2700" b="1">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3575050" y="204788"/>
            <a:ext cx="5111750" cy="4389835"/>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700"/>
            </a:lvl6pPr>
            <a:lvl7pPr>
              <a:defRPr sz="1700"/>
            </a:lvl7pPr>
            <a:lvl8pPr>
              <a:defRPr sz="1700"/>
            </a:lvl8pPr>
            <a:lvl9pPr>
              <a:defRPr sz="17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076325"/>
            <a:ext cx="3008313" cy="3518298"/>
          </a:xfrm>
        </p:spPr>
        <p:txBody>
          <a:bodyPr/>
          <a:lstStyle>
            <a:lvl1pPr marL="0" indent="0">
              <a:buNone/>
              <a:defRPr sz="1700"/>
            </a:lvl1pPr>
            <a:lvl2pPr marL="380895" indent="0">
              <a:buNone/>
              <a:defRPr sz="1000"/>
            </a:lvl2pPr>
            <a:lvl3pPr marL="761790" indent="0">
              <a:buNone/>
              <a:defRPr sz="800"/>
            </a:lvl3pPr>
            <a:lvl4pPr marL="1142683" indent="0">
              <a:buNone/>
              <a:defRPr sz="700"/>
            </a:lvl4pPr>
            <a:lvl5pPr marL="1523573" indent="0">
              <a:buNone/>
              <a:defRPr sz="700"/>
            </a:lvl5pPr>
            <a:lvl6pPr marL="1904467" indent="0">
              <a:buNone/>
              <a:defRPr sz="700"/>
            </a:lvl6pPr>
            <a:lvl7pPr marL="2285362" indent="0">
              <a:buNone/>
              <a:defRPr sz="700"/>
            </a:lvl7pPr>
            <a:lvl8pPr marL="2666253" indent="0">
              <a:buNone/>
              <a:defRPr sz="700"/>
            </a:lvl8pPr>
            <a:lvl9pPr marL="3047146" indent="0">
              <a:buNone/>
              <a:defRPr sz="700"/>
            </a:lvl9pPr>
          </a:lstStyle>
          <a:p>
            <a:pPr lvl="0"/>
            <a:r>
              <a:rPr lang="en-US"/>
              <a:t>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D9B97EEC-B5BC-42C5-B73F-31CC660D4D8A}" type="slidenum">
              <a:rPr lang="en-US"/>
              <a:pPr>
                <a:defRPr/>
              </a:pPr>
              <a:t>‹#›</a:t>
            </a:fld>
            <a:endParaRPr lang="en-US"/>
          </a:p>
        </p:txBody>
      </p:sp>
      <p:pic>
        <p:nvPicPr>
          <p:cNvPr id="6" name="Picture 27" descr="ti_logo_powerpoint_1_line.png"/>
          <p:cNvPicPr>
            <a:picLocks noChangeAspect="1"/>
          </p:cNvPicPr>
          <p:nvPr/>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31775" y="107163"/>
            <a:ext cx="8458200" cy="610791"/>
          </a:xfrm>
          <a:prstGeom prst="rect">
            <a:avLst/>
          </a:prstGeom>
          <a:noFill/>
          <a:ln w="9525">
            <a:noFill/>
            <a:miter lim="800000"/>
            <a:headEnd/>
            <a:tailEnd/>
          </a:ln>
        </p:spPr>
        <p:txBody>
          <a:bodyPr vert="horz" wrap="square" lIns="76179" tIns="38088" rIns="76179" bIns="38088"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333378" y="794149"/>
            <a:ext cx="8467725" cy="3701653"/>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30" name="Rectangle 6"/>
          <p:cNvSpPr>
            <a:spLocks noGrp="1" noChangeArrowheads="1"/>
          </p:cNvSpPr>
          <p:nvPr>
            <p:ph type="sldNum" sz="quarter" idx="4"/>
          </p:nvPr>
        </p:nvSpPr>
        <p:spPr bwMode="auto">
          <a:xfrm>
            <a:off x="6667503" y="4442792"/>
            <a:ext cx="2133600" cy="154782"/>
          </a:xfrm>
          <a:prstGeom prst="rect">
            <a:avLst/>
          </a:prstGeom>
          <a:noFill/>
          <a:ln w="9525">
            <a:noFill/>
            <a:miter lim="800000"/>
            <a:headEnd/>
            <a:tailEnd/>
          </a:ln>
          <a:effectLst/>
        </p:spPr>
        <p:txBody>
          <a:bodyPr vert="horz" wrap="square" lIns="76179" tIns="38088" rIns="76179" bIns="38088" numCol="1" anchor="t" anchorCtr="0" compatLnSpc="1">
            <a:prstTxWarp prst="textNoShape">
              <a:avLst/>
            </a:prstTxWarp>
          </a:bodyPr>
          <a:lstStyle>
            <a:lvl1pPr algn="r">
              <a:defRPr sz="700"/>
            </a:lvl1pPr>
          </a:lstStyle>
          <a:p>
            <a:pPr>
              <a:defRPr/>
            </a:pPr>
            <a:fld id="{B6C70261-DCF8-4A97-9502-E8EEF2364CDE}" type="slidenum">
              <a:rPr lang="en-US"/>
              <a:pPr>
                <a:defRPr/>
              </a:pPr>
              <a:t>‹#›</a:t>
            </a:fld>
            <a:endParaRPr lang="en-US"/>
          </a:p>
        </p:txBody>
      </p:sp>
      <p:cxnSp>
        <p:nvCxnSpPr>
          <p:cNvPr id="3" name="Straight Connector 2">
            <a:extLst>
              <a:ext uri="{FF2B5EF4-FFF2-40B4-BE49-F238E27FC236}">
                <a16:creationId xmlns:a16="http://schemas.microsoft.com/office/drawing/2014/main" id="{92663C74-62AB-B64B-BCBB-0866ABE6E2D3}"/>
              </a:ext>
            </a:extLst>
          </p:cNvPr>
          <p:cNvCxnSpPr>
            <a:cxnSpLocks/>
          </p:cNvCxnSpPr>
          <p:nvPr/>
        </p:nvCxnSpPr>
        <p:spPr>
          <a:xfrm>
            <a:off x="0" y="4656947"/>
            <a:ext cx="892889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 Box 31">
            <a:extLst>
              <a:ext uri="{FF2B5EF4-FFF2-40B4-BE49-F238E27FC236}">
                <a16:creationId xmlns:a16="http://schemas.microsoft.com/office/drawing/2014/main" id="{BBEA79FD-0CFB-464E-959F-0C18C604804A}"/>
              </a:ext>
            </a:extLst>
          </p:cNvPr>
          <p:cNvSpPr txBox="1">
            <a:spLocks noChangeArrowheads="1"/>
          </p:cNvSpPr>
          <p:nvPr/>
        </p:nvSpPr>
        <p:spPr bwMode="auto">
          <a:xfrm>
            <a:off x="334013" y="4646685"/>
            <a:ext cx="2111375" cy="184642"/>
          </a:xfrm>
          <a:prstGeom prst="rect">
            <a:avLst/>
          </a:prstGeom>
          <a:noFill/>
          <a:ln w="9525">
            <a:noFill/>
            <a:miter lim="800000"/>
            <a:headEnd/>
            <a:tailEnd/>
          </a:ln>
          <a:effectLst/>
        </p:spPr>
        <p:txBody>
          <a:bodyPr lIns="76179" tIns="38088" rIns="76179" bIns="38088">
            <a:spAutoFit/>
          </a:bodyPr>
          <a:lstStyle/>
          <a:p>
            <a:pPr>
              <a:spcBef>
                <a:spcPct val="50000"/>
              </a:spcBef>
              <a:defRPr/>
            </a:pPr>
            <a:r>
              <a:rPr lang="en-US" sz="700" dirty="0">
                <a:cs typeface="+mn-cs"/>
              </a:rPr>
              <a:t>TI Confidential – NDA Restrictions</a:t>
            </a:r>
          </a:p>
        </p:txBody>
      </p:sp>
    </p:spTree>
  </p:cSld>
  <p:clrMap bg1="lt1" tx1="dk1" bg2="lt2" tx2="dk2" accent1="accent1" accent2="accent2" accent3="accent3" accent4="accent4" accent5="accent5" accent6="accent6" hlink="hlink" folHlink="folHlink"/>
  <p:sldLayoutIdLst>
    <p:sldLayoutId id="2147483719" r:id="rId1"/>
    <p:sldLayoutId id="2147483726" r:id="rId2"/>
    <p:sldLayoutId id="2147483735" r:id="rId3"/>
    <p:sldLayoutId id="2147483750" r:id="rId4"/>
    <p:sldLayoutId id="2147483709" r:id="rId5"/>
    <p:sldLayoutId id="2147483711" r:id="rId6"/>
    <p:sldLayoutId id="2147483712" r:id="rId7"/>
    <p:sldLayoutId id="2147483713" r:id="rId8"/>
    <p:sldLayoutId id="2147483715" r:id="rId9"/>
  </p:sldLayoutIdLst>
  <p:hf hdr="0" ftr="0" dt="0"/>
  <p:txStyles>
    <p:titleStyle>
      <a:lvl1pPr algn="l" rtl="0" eaLnBrk="1" fontAlgn="base" hangingPunct="1">
        <a:lnSpc>
          <a:spcPct val="85000"/>
        </a:lnSpc>
        <a:spcBef>
          <a:spcPct val="0"/>
        </a:spcBef>
        <a:spcAft>
          <a:spcPct val="0"/>
        </a:spcAft>
        <a:defRPr sz="2700" b="1">
          <a:solidFill>
            <a:schemeClr val="tx2"/>
          </a:solidFill>
          <a:latin typeface="+mj-lt"/>
          <a:ea typeface="+mj-ea"/>
          <a:cs typeface="+mj-cs"/>
        </a:defRPr>
      </a:lvl1pPr>
      <a:lvl2pPr algn="l" rtl="0" eaLnBrk="1" fontAlgn="base" hangingPunct="1">
        <a:lnSpc>
          <a:spcPct val="85000"/>
        </a:lnSpc>
        <a:spcBef>
          <a:spcPct val="0"/>
        </a:spcBef>
        <a:spcAft>
          <a:spcPct val="0"/>
        </a:spcAft>
        <a:defRPr sz="2700" b="1">
          <a:solidFill>
            <a:schemeClr val="tx2"/>
          </a:solidFill>
          <a:latin typeface="Arial" charset="0"/>
        </a:defRPr>
      </a:lvl2pPr>
      <a:lvl3pPr algn="l" rtl="0" eaLnBrk="1" fontAlgn="base" hangingPunct="1">
        <a:lnSpc>
          <a:spcPct val="85000"/>
        </a:lnSpc>
        <a:spcBef>
          <a:spcPct val="0"/>
        </a:spcBef>
        <a:spcAft>
          <a:spcPct val="0"/>
        </a:spcAft>
        <a:defRPr sz="2700" b="1">
          <a:solidFill>
            <a:schemeClr val="tx2"/>
          </a:solidFill>
          <a:latin typeface="Arial" charset="0"/>
        </a:defRPr>
      </a:lvl3pPr>
      <a:lvl4pPr algn="l" rtl="0" eaLnBrk="1" fontAlgn="base" hangingPunct="1">
        <a:lnSpc>
          <a:spcPct val="85000"/>
        </a:lnSpc>
        <a:spcBef>
          <a:spcPct val="0"/>
        </a:spcBef>
        <a:spcAft>
          <a:spcPct val="0"/>
        </a:spcAft>
        <a:defRPr sz="2700" b="1">
          <a:solidFill>
            <a:schemeClr val="tx2"/>
          </a:solidFill>
          <a:latin typeface="Arial" charset="0"/>
        </a:defRPr>
      </a:lvl4pPr>
      <a:lvl5pPr algn="l" rtl="0" eaLnBrk="1" fontAlgn="base" hangingPunct="1">
        <a:lnSpc>
          <a:spcPct val="85000"/>
        </a:lnSpc>
        <a:spcBef>
          <a:spcPct val="0"/>
        </a:spcBef>
        <a:spcAft>
          <a:spcPct val="0"/>
        </a:spcAft>
        <a:defRPr sz="2700" b="1">
          <a:solidFill>
            <a:schemeClr val="tx2"/>
          </a:solidFill>
          <a:latin typeface="Arial" charset="0"/>
        </a:defRPr>
      </a:lvl5pPr>
      <a:lvl6pPr marL="380895" algn="l" rtl="0" eaLnBrk="1" fontAlgn="base" hangingPunct="1">
        <a:lnSpc>
          <a:spcPct val="85000"/>
        </a:lnSpc>
        <a:spcBef>
          <a:spcPct val="0"/>
        </a:spcBef>
        <a:spcAft>
          <a:spcPct val="0"/>
        </a:spcAft>
        <a:defRPr sz="2700" b="1">
          <a:solidFill>
            <a:srgbClr val="FF0000"/>
          </a:solidFill>
          <a:latin typeface="Arial" charset="0"/>
        </a:defRPr>
      </a:lvl6pPr>
      <a:lvl7pPr marL="761790" algn="l" rtl="0" eaLnBrk="1" fontAlgn="base" hangingPunct="1">
        <a:lnSpc>
          <a:spcPct val="85000"/>
        </a:lnSpc>
        <a:spcBef>
          <a:spcPct val="0"/>
        </a:spcBef>
        <a:spcAft>
          <a:spcPct val="0"/>
        </a:spcAft>
        <a:defRPr sz="2700" b="1">
          <a:solidFill>
            <a:srgbClr val="FF0000"/>
          </a:solidFill>
          <a:latin typeface="Arial" charset="0"/>
        </a:defRPr>
      </a:lvl7pPr>
      <a:lvl8pPr marL="1142683" algn="l" rtl="0" eaLnBrk="1" fontAlgn="base" hangingPunct="1">
        <a:lnSpc>
          <a:spcPct val="85000"/>
        </a:lnSpc>
        <a:spcBef>
          <a:spcPct val="0"/>
        </a:spcBef>
        <a:spcAft>
          <a:spcPct val="0"/>
        </a:spcAft>
        <a:defRPr sz="2700" b="1">
          <a:solidFill>
            <a:srgbClr val="FF0000"/>
          </a:solidFill>
          <a:latin typeface="Arial" charset="0"/>
        </a:defRPr>
      </a:lvl8pPr>
      <a:lvl9pPr marL="1523573" algn="l" rtl="0" eaLnBrk="1" fontAlgn="base" hangingPunct="1">
        <a:lnSpc>
          <a:spcPct val="85000"/>
        </a:lnSpc>
        <a:spcBef>
          <a:spcPct val="0"/>
        </a:spcBef>
        <a:spcAft>
          <a:spcPct val="0"/>
        </a:spcAft>
        <a:defRPr sz="2700" b="1">
          <a:solidFill>
            <a:srgbClr val="FF0000"/>
          </a:solidFill>
          <a:latin typeface="Arial" charset="0"/>
        </a:defRPr>
      </a:lvl9pPr>
    </p:titleStyle>
    <p:body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p:bodyStyle>
    <p:otherStyle>
      <a:defPPr>
        <a:defRPr lang="en-US"/>
      </a:defPPr>
      <a:lvl1pPr marL="0" algn="l" defTabSz="761790" rtl="0" eaLnBrk="1" latinLnBrk="0" hangingPunct="1">
        <a:defRPr sz="1500" kern="1200">
          <a:solidFill>
            <a:schemeClr val="tx1"/>
          </a:solidFill>
          <a:latin typeface="+mn-lt"/>
          <a:ea typeface="+mn-ea"/>
          <a:cs typeface="+mn-cs"/>
        </a:defRPr>
      </a:lvl1pPr>
      <a:lvl2pPr marL="380895" algn="l" defTabSz="761790" rtl="0" eaLnBrk="1" latinLnBrk="0" hangingPunct="1">
        <a:defRPr sz="1500" kern="1200">
          <a:solidFill>
            <a:schemeClr val="tx1"/>
          </a:solidFill>
          <a:latin typeface="+mn-lt"/>
          <a:ea typeface="+mn-ea"/>
          <a:cs typeface="+mn-cs"/>
        </a:defRPr>
      </a:lvl2pPr>
      <a:lvl3pPr marL="761790" algn="l" defTabSz="761790" rtl="0" eaLnBrk="1" latinLnBrk="0" hangingPunct="1">
        <a:defRPr sz="1500" kern="1200">
          <a:solidFill>
            <a:schemeClr val="tx1"/>
          </a:solidFill>
          <a:latin typeface="+mn-lt"/>
          <a:ea typeface="+mn-ea"/>
          <a:cs typeface="+mn-cs"/>
        </a:defRPr>
      </a:lvl3pPr>
      <a:lvl4pPr marL="1142683" algn="l" defTabSz="761790" rtl="0" eaLnBrk="1" latinLnBrk="0" hangingPunct="1">
        <a:defRPr sz="1500" kern="1200">
          <a:solidFill>
            <a:schemeClr val="tx1"/>
          </a:solidFill>
          <a:latin typeface="+mn-lt"/>
          <a:ea typeface="+mn-ea"/>
          <a:cs typeface="+mn-cs"/>
        </a:defRPr>
      </a:lvl4pPr>
      <a:lvl5pPr marL="1523573" algn="l" defTabSz="761790" rtl="0" eaLnBrk="1" latinLnBrk="0" hangingPunct="1">
        <a:defRPr sz="1500" kern="1200">
          <a:solidFill>
            <a:schemeClr val="tx1"/>
          </a:solidFill>
          <a:latin typeface="+mn-lt"/>
          <a:ea typeface="+mn-ea"/>
          <a:cs typeface="+mn-cs"/>
        </a:defRPr>
      </a:lvl5pPr>
      <a:lvl6pPr marL="1904467" algn="l" defTabSz="761790" rtl="0" eaLnBrk="1" latinLnBrk="0" hangingPunct="1">
        <a:defRPr sz="1500" kern="1200">
          <a:solidFill>
            <a:schemeClr val="tx1"/>
          </a:solidFill>
          <a:latin typeface="+mn-lt"/>
          <a:ea typeface="+mn-ea"/>
          <a:cs typeface="+mn-cs"/>
        </a:defRPr>
      </a:lvl6pPr>
      <a:lvl7pPr marL="2285362" algn="l" defTabSz="761790" rtl="0" eaLnBrk="1" latinLnBrk="0" hangingPunct="1">
        <a:defRPr sz="1500" kern="1200">
          <a:solidFill>
            <a:schemeClr val="tx1"/>
          </a:solidFill>
          <a:latin typeface="+mn-lt"/>
          <a:ea typeface="+mn-ea"/>
          <a:cs typeface="+mn-cs"/>
        </a:defRPr>
      </a:lvl7pPr>
      <a:lvl8pPr marL="2666253" algn="l" defTabSz="761790" rtl="0" eaLnBrk="1" latinLnBrk="0" hangingPunct="1">
        <a:defRPr sz="1500" kern="1200">
          <a:solidFill>
            <a:schemeClr val="tx1"/>
          </a:solidFill>
          <a:latin typeface="+mn-lt"/>
          <a:ea typeface="+mn-ea"/>
          <a:cs typeface="+mn-cs"/>
        </a:defRPr>
      </a:lvl8pPr>
      <a:lvl9pPr marL="3047146" algn="l" defTabSz="76179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noFill/>
          <a:ln w="9525">
            <a:noFill/>
            <a:miter lim="800000"/>
            <a:headEnd/>
            <a:tailEnd/>
          </a:ln>
        </p:spPr>
        <p:txBody>
          <a:bodyPr vert="horz" wrap="square" lIns="76179" tIns="38088" rIns="76179" bIns="38088" numCol="1" anchor="ctr" anchorCtr="0" compatLnSpc="1">
            <a:prstTxWarp prst="textNoShape">
              <a:avLst/>
            </a:prstTxWarp>
          </a:bodyPr>
          <a:lstStyle/>
          <a:p>
            <a:pPr eaLnBrk="1" hangingPunct="1"/>
            <a:r>
              <a:rPr lang="en-US" dirty="0" err="1"/>
              <a:t>PRU</a:t>
            </a:r>
            <a:r>
              <a:rPr lang="en-US" dirty="0"/>
              <a:t> Instruction Set</a:t>
            </a:r>
          </a:p>
        </p:txBody>
      </p:sp>
      <p:graphicFrame>
        <p:nvGraphicFramePr>
          <p:cNvPr id="820227" name="Group 3"/>
          <p:cNvGraphicFramePr>
            <a:graphicFrameLocks noGrp="1"/>
          </p:cNvGraphicFramePr>
          <p:nvPr>
            <p:ph idx="4294967295"/>
            <p:extLst/>
          </p:nvPr>
        </p:nvGraphicFramePr>
        <p:xfrm>
          <a:off x="676276" y="1492250"/>
          <a:ext cx="8467725" cy="3062529"/>
        </p:xfrm>
        <a:graphic>
          <a:graphicData uri="http://schemas.openxmlformats.org/drawingml/2006/table">
            <a:tbl>
              <a:tblPr/>
              <a:tblGrid>
                <a:gridCol w="1641475">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8787">
                  <a:extLst>
                    <a:ext uri="{9D8B030D-6E8A-4147-A177-3AD203B41FA5}">
                      <a16:colId xmlns:a16="http://schemas.microsoft.com/office/drawing/2014/main" val="20002"/>
                    </a:ext>
                  </a:extLst>
                </a:gridCol>
                <a:gridCol w="1728788">
                  <a:extLst>
                    <a:ext uri="{9D8B030D-6E8A-4147-A177-3AD203B41FA5}">
                      <a16:colId xmlns:a16="http://schemas.microsoft.com/office/drawing/2014/main" val="20003"/>
                    </a:ext>
                  </a:extLst>
                </a:gridCol>
                <a:gridCol w="1641475">
                  <a:extLst>
                    <a:ext uri="{9D8B030D-6E8A-4147-A177-3AD203B41FA5}">
                      <a16:colId xmlns:a16="http://schemas.microsoft.com/office/drawing/2014/main" val="20004"/>
                    </a:ext>
                  </a:extLst>
                </a:gridCol>
              </a:tblGrid>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8000"/>
                          </a:solidFill>
                          <a:effectLst/>
                          <a:latin typeface="Arial" pitchFamily="34" charset="0"/>
                          <a:ea typeface="Times New Roman" pitchFamily="18" charset="0"/>
                          <a:cs typeface="Arial" pitchFamily="34" charset="0"/>
                        </a:rPr>
                        <a:t>ADD </a:t>
                      </a:r>
                      <a:endParaRPr kumimoji="0" lang="en-US" sz="1500" b="0" i="0" u="none" strike="noStrike" cap="none" normalizeH="0" baseline="0" dirty="0">
                        <a:ln>
                          <a:noFill/>
                        </a:ln>
                        <a:solidFill>
                          <a:srgbClr val="008000"/>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rgbClr val="008000"/>
                          </a:solidFill>
                          <a:effectLst/>
                          <a:latin typeface="Arial" pitchFamily="34" charset="0"/>
                          <a:ea typeface="Times New Roman" pitchFamily="18" charset="0"/>
                          <a:cs typeface="Arial" pitchFamily="34" charset="0"/>
                        </a:rPr>
                        <a:t>ADC</a:t>
                      </a:r>
                      <a:r>
                        <a:rPr kumimoji="0" lang="en-US" sz="1500" b="0" i="0" u="none" strike="noStrike" cap="none" normalizeH="0" baseline="0">
                          <a:ln>
                            <a:noFill/>
                          </a:ln>
                          <a:solidFill>
                            <a:schemeClr val="tx1"/>
                          </a:solidFill>
                          <a:effectLst/>
                          <a:latin typeface="Arial" pitchFamily="34" charset="0"/>
                          <a:ea typeface="Times New Roman" pitchFamily="18" charset="0"/>
                          <a:cs typeface="Arial" pitchFamily="34" charset="0"/>
                        </a:rPr>
                        <a:t> </a:t>
                      </a:r>
                      <a:endParaRPr kumimoji="0" lang="en-US" sz="1500" b="0" i="0" u="none" strike="noStrike" cap="none" normalizeH="0" baseline="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rgbClr val="008000"/>
                          </a:solidFill>
                          <a:effectLst/>
                          <a:latin typeface="Arial" pitchFamily="34" charset="0"/>
                          <a:ea typeface="Times New Roman" pitchFamily="18" charset="0"/>
                          <a:cs typeface="Arial" pitchFamily="34" charset="0"/>
                        </a:rPr>
                        <a:t>SUB</a:t>
                      </a:r>
                      <a:endParaRPr kumimoji="0" lang="en-US" sz="1500" b="0" i="0" u="none" strike="noStrike" cap="none" normalizeH="0" baseline="0">
                        <a:ln>
                          <a:noFill/>
                        </a:ln>
                        <a:solidFill>
                          <a:srgbClr val="008000"/>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rgbClr val="008000"/>
                          </a:solidFill>
                          <a:effectLst/>
                          <a:latin typeface="Arial" pitchFamily="34" charset="0"/>
                          <a:ea typeface="Times New Roman" pitchFamily="18" charset="0"/>
                          <a:cs typeface="Arial" pitchFamily="34" charset="0"/>
                        </a:rPr>
                        <a:t>SUC</a:t>
                      </a:r>
                      <a:endParaRPr kumimoji="0" lang="en-US" sz="1500" b="0" i="0" u="none" strike="noStrike" cap="none" normalizeH="0" baseline="0">
                        <a:ln>
                          <a:noFill/>
                        </a:ln>
                        <a:solidFill>
                          <a:srgbClr val="008000"/>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rgbClr val="008000"/>
                          </a:solidFill>
                          <a:effectLst/>
                          <a:latin typeface="Arial" pitchFamily="34" charset="0"/>
                          <a:ea typeface="Times New Roman" pitchFamily="18" charset="0"/>
                          <a:cs typeface="Arial" pitchFamily="34" charset="0"/>
                        </a:rPr>
                        <a:t>RSB</a:t>
                      </a:r>
                      <a:endParaRPr kumimoji="0" lang="en-US" sz="1500" b="0" i="0" u="none" strike="noStrike" cap="none" normalizeH="0" baseline="0">
                        <a:ln>
                          <a:noFill/>
                        </a:ln>
                        <a:solidFill>
                          <a:srgbClr val="008000"/>
                        </a:solidFill>
                        <a:effectLst/>
                        <a:latin typeface="Times New Roman" pitchFamily="18" charset="0"/>
                        <a:ea typeface="Times New Roman" pitchFamily="18" charset="0"/>
                        <a:cs typeface="Arial" pitchFamily="34" charset="0"/>
                      </a:endParaRPr>
                    </a:p>
                  </a:txBody>
                  <a:tcPr marL="0" marR="0" marT="0" marB="0"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8000"/>
                          </a:solidFill>
                          <a:effectLst/>
                          <a:latin typeface="Arial" pitchFamily="34" charset="0"/>
                          <a:ea typeface="Times New Roman" pitchFamily="18" charset="0"/>
                          <a:cs typeface="Arial" pitchFamily="34" charset="0"/>
                        </a:rPr>
                        <a:t>RSC</a:t>
                      </a:r>
                      <a:endParaRPr kumimoji="0" lang="en-US" sz="1500" b="0" i="0" u="none" strike="noStrike" cap="none" normalizeH="0" baseline="0" dirty="0">
                        <a:ln>
                          <a:noFill/>
                        </a:ln>
                        <a:solidFill>
                          <a:srgbClr val="008000"/>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LSL</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LSR</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AND</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rgbClr val="0000FF"/>
                          </a:solidFill>
                          <a:effectLst/>
                          <a:latin typeface="Arial" pitchFamily="34" charset="0"/>
                          <a:ea typeface="Times New Roman" pitchFamily="18" charset="0"/>
                          <a:cs typeface="Arial" pitchFamily="34" charset="0"/>
                        </a:rPr>
                        <a:t>OR</a:t>
                      </a:r>
                      <a:endParaRPr kumimoji="0" lang="en-US" sz="1500" b="0" i="0" u="none" strike="noStrike" cap="none" normalizeH="0" baseline="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XOR</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NOT</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MIN</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MAX</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CLR</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rgbClr val="0000FF"/>
                          </a:solidFill>
                          <a:effectLst/>
                          <a:latin typeface="Arial" pitchFamily="34" charset="0"/>
                          <a:ea typeface="Times New Roman" pitchFamily="18" charset="0"/>
                          <a:cs typeface="Arial" pitchFamily="34" charset="0"/>
                        </a:rPr>
                        <a:t>SET</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defRPr/>
                      </a:pPr>
                      <a:r>
                        <a:rPr kumimoji="0" lang="en-US" sz="1500" b="0" i="0" u="none" strike="noStrike" cap="none" normalizeH="0" baseline="0" dirty="0" err="1">
                          <a:ln>
                            <a:noFill/>
                          </a:ln>
                          <a:solidFill>
                            <a:srgbClr val="0000FF"/>
                          </a:solidFill>
                          <a:effectLst/>
                          <a:latin typeface="Arial" pitchFamily="34" charset="0"/>
                          <a:ea typeface="Times New Roman" pitchFamily="18" charset="0"/>
                          <a:cs typeface="Arial" pitchFamily="34" charset="0"/>
                        </a:rPr>
                        <a:t>LMBD</a:t>
                      </a:r>
                      <a:endParaRPr kumimoji="0" lang="en-US" sz="1500" b="0" i="0" u="none" strike="noStrike" cap="none" normalizeH="0" baseline="0" dirty="0">
                        <a:ln>
                          <a:noFill/>
                        </a:ln>
                        <a:solidFill>
                          <a:srgbClr val="0000FF"/>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defRPr/>
                      </a:pPr>
                      <a:r>
                        <a:rPr kumimoji="0" lang="en-US" sz="1500" b="0" i="1" u="none" strike="noStrike" cap="none" normalizeH="0" baseline="0" dirty="0" err="1">
                          <a:ln>
                            <a:noFill/>
                          </a:ln>
                          <a:solidFill>
                            <a:schemeClr val="tx1"/>
                          </a:solidFill>
                          <a:effectLst/>
                          <a:latin typeface="Arial" pitchFamily="34" charset="0"/>
                          <a:ea typeface="Times New Roman" pitchFamily="18" charset="0"/>
                          <a:cs typeface="Arial" pitchFamily="34" charset="0"/>
                        </a:rPr>
                        <a:t>MOV</a:t>
                      </a:r>
                      <a:endParaRPr kumimoji="0" lang="en-US" sz="1500" b="0" i="1" u="none" strike="noStrike" cap="none" normalizeH="0" baseline="0" dirty="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defRPr/>
                      </a:pPr>
                      <a:r>
                        <a:rPr kumimoji="0" lang="en-US" sz="1500" b="0" i="0" u="none" strike="noStrike" cap="none" normalizeH="0" baseline="0" dirty="0" err="1">
                          <a:ln>
                            <a:noFill/>
                          </a:ln>
                          <a:solidFill>
                            <a:schemeClr val="tx1"/>
                          </a:solidFill>
                          <a:effectLst/>
                          <a:latin typeface="Arial" pitchFamily="34" charset="0"/>
                          <a:ea typeface="Times New Roman" pitchFamily="18" charset="0"/>
                          <a:cs typeface="Arial" pitchFamily="34" charset="0"/>
                        </a:rPr>
                        <a:t>LDI</a:t>
                      </a:r>
                      <a:endParaRPr kumimoji="0" lang="en-US" sz="1500" b="0" i="0" u="none" strike="noStrike" cap="none" normalizeH="0" baseline="0" dirty="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defRPr/>
                      </a:pPr>
                      <a:r>
                        <a:rPr kumimoji="0" lang="en-US" sz="1500" b="0" i="0" u="none" strike="noStrike" kern="1200" cap="none" normalizeH="0" baseline="0" dirty="0">
                          <a:ln>
                            <a:noFill/>
                          </a:ln>
                          <a:solidFill>
                            <a:schemeClr val="tx1"/>
                          </a:solidFill>
                          <a:effectLst/>
                          <a:latin typeface="Arial" pitchFamily="34" charset="0"/>
                          <a:ea typeface="Times New Roman" pitchFamily="18" charset="0"/>
                          <a:cs typeface="Arial" pitchFamily="34" charset="0"/>
                        </a:rPr>
                        <a:t>LDI32</a:t>
                      </a:r>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1"/>
                          </a:solidFill>
                          <a:effectLst/>
                          <a:latin typeface="Arial" pitchFamily="34" charset="0"/>
                          <a:ea typeface="Times New Roman" pitchFamily="18" charset="0"/>
                          <a:cs typeface="Arial" pitchFamily="34" charset="0"/>
                        </a:rPr>
                        <a:t>LBBO</a:t>
                      </a:r>
                      <a:endParaRPr kumimoji="0" lang="en-US" sz="1500" b="0" i="0" u="none" strike="noStrike" cap="none" normalizeH="0" baseline="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1"/>
                          </a:solidFill>
                          <a:effectLst/>
                          <a:latin typeface="Arial" pitchFamily="34" charset="0"/>
                          <a:ea typeface="Times New Roman" pitchFamily="18" charset="0"/>
                          <a:cs typeface="Arial" pitchFamily="34" charset="0"/>
                        </a:rPr>
                        <a:t>SBBO</a:t>
                      </a:r>
                      <a:endParaRPr kumimoji="0" lang="en-US" sz="1500" b="0" i="0" u="none" strike="noStrike" cap="none" normalizeH="0" baseline="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1"/>
                          </a:solidFill>
                          <a:effectLst/>
                          <a:latin typeface="Arial" pitchFamily="34" charset="0"/>
                          <a:ea typeface="Times New Roman" pitchFamily="18" charset="0"/>
                          <a:cs typeface="Arial" pitchFamily="34" charset="0"/>
                        </a:rPr>
                        <a:t>LBCO</a:t>
                      </a:r>
                      <a:endParaRPr kumimoji="0" lang="en-US" sz="1500" b="0" i="0" u="none" strike="noStrike" cap="none" normalizeH="0" baseline="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1"/>
                          </a:solidFill>
                          <a:effectLst/>
                          <a:latin typeface="Arial" pitchFamily="34" charset="0"/>
                          <a:ea typeface="Times New Roman" pitchFamily="18" charset="0"/>
                          <a:cs typeface="Arial" pitchFamily="34" charset="0"/>
                        </a:rPr>
                        <a:t>SBCO</a:t>
                      </a:r>
                      <a:endParaRPr kumimoji="0" lang="en-US" sz="1500" b="0" i="0" u="none" strike="noStrike" cap="none" normalizeH="0" baseline="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None/>
                        <a:tabLst>
                          <a:tab pos="103188" algn="l"/>
                        </a:tabLst>
                      </a:pPr>
                      <a:endParaRPr kumimoji="0" lang="en-US" sz="1500" b="0" i="0" u="none" strike="noStrike" cap="none" normalizeH="0" baseline="0" dirty="0">
                        <a:ln>
                          <a:noFill/>
                        </a:ln>
                        <a:solidFill>
                          <a:schemeClr val="bg2"/>
                        </a:solidFill>
                        <a:effectLst/>
                        <a:latin typeface="Times New Roman" pitchFamily="18" charset="0"/>
                        <a:ea typeface="Times New Roman" pitchFamily="18" charset="0"/>
                        <a:cs typeface="Arial" pitchFamily="34" charset="0"/>
                      </a:endParaRPr>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08610">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chemeClr val="tx2"/>
                          </a:solidFill>
                          <a:effectLst/>
                          <a:latin typeface="Arial" pitchFamily="34" charset="0"/>
                          <a:ea typeface="Times New Roman" pitchFamily="18" charset="0"/>
                          <a:cs typeface="Arial" pitchFamily="34" charset="0"/>
                        </a:rPr>
                        <a:t>JAL</a:t>
                      </a:r>
                      <a:endParaRPr kumimoji="0" lang="en-US" sz="1500" b="0" i="0" u="none" strike="noStrike" cap="none" normalizeH="0" baseline="0" dirty="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err="1">
                          <a:ln>
                            <a:noFill/>
                          </a:ln>
                          <a:solidFill>
                            <a:schemeClr val="tx2"/>
                          </a:solidFill>
                          <a:effectLst/>
                          <a:latin typeface="Arial" pitchFamily="34" charset="0"/>
                          <a:ea typeface="Times New Roman" pitchFamily="18" charset="0"/>
                          <a:cs typeface="Arial" pitchFamily="34" charset="0"/>
                        </a:rPr>
                        <a:t>JMP</a:t>
                      </a:r>
                      <a:endParaRPr kumimoji="0" lang="en-US" sz="1500" b="0" i="0" u="none" strike="noStrike" cap="none" normalizeH="0" baseline="0" dirty="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1" u="none" strike="noStrike" cap="none" normalizeH="0" baseline="0" dirty="0">
                          <a:ln>
                            <a:noFill/>
                          </a:ln>
                          <a:solidFill>
                            <a:schemeClr val="tx2"/>
                          </a:solidFill>
                          <a:effectLst/>
                          <a:latin typeface="Arial" pitchFamily="34" charset="0"/>
                          <a:ea typeface="Times New Roman" pitchFamily="18" charset="0"/>
                          <a:cs typeface="Arial" pitchFamily="34" charset="0"/>
                        </a:rPr>
                        <a:t>CALL</a:t>
                      </a:r>
                      <a:endParaRPr kumimoji="0" lang="en-US" sz="1500" b="0" i="1" u="none" strike="noStrike" cap="none" normalizeH="0" baseline="0" dirty="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1" u="none" strike="noStrike" cap="none" normalizeH="0" baseline="0" dirty="0">
                          <a:ln>
                            <a:noFill/>
                          </a:ln>
                          <a:solidFill>
                            <a:schemeClr val="tx2"/>
                          </a:solidFill>
                          <a:effectLst/>
                          <a:latin typeface="Arial" pitchFamily="34" charset="0"/>
                          <a:ea typeface="Times New Roman" pitchFamily="18" charset="0"/>
                          <a:cs typeface="Arial" pitchFamily="34" charset="0"/>
                        </a:rPr>
                        <a:t>(RET)</a:t>
                      </a:r>
                      <a:endParaRPr kumimoji="0" lang="en-US" sz="1500" b="0" i="1" u="none" strike="noStrike" cap="none" normalizeH="0" baseline="0" dirty="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endParaRPr lang="en-US" sz="2000" dirty="0"/>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QBGT</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QBGE</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QBLT</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QBLE</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err="1">
                          <a:ln>
                            <a:noFill/>
                          </a:ln>
                          <a:solidFill>
                            <a:schemeClr val="tx2"/>
                          </a:solidFill>
                          <a:effectLst/>
                          <a:latin typeface="Arial" pitchFamily="34" charset="0"/>
                          <a:ea typeface="Times New Roman" pitchFamily="18" charset="0"/>
                          <a:cs typeface="Arial" pitchFamily="34" charset="0"/>
                        </a:rPr>
                        <a:t>QBEQ</a:t>
                      </a:r>
                      <a:endParaRPr kumimoji="0" lang="en-US" sz="1500" b="0" i="0" u="none" strike="noStrike" cap="none" normalizeH="0" baseline="0" dirty="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QBNE</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QBA</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QBBS</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QBBC</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WBS</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a:ln>
                            <a:noFill/>
                          </a:ln>
                          <a:solidFill>
                            <a:schemeClr val="tx2"/>
                          </a:solidFill>
                          <a:effectLst/>
                          <a:latin typeface="Arial" pitchFamily="34" charset="0"/>
                          <a:ea typeface="Times New Roman" pitchFamily="18" charset="0"/>
                          <a:cs typeface="Arial" pitchFamily="34" charset="0"/>
                        </a:rPr>
                        <a:t>WBC</a:t>
                      </a:r>
                      <a:endParaRPr kumimoji="0" lang="en-US" sz="1500" b="0" i="0" u="none" strike="noStrike" cap="none" normalizeH="0" baseline="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chemeClr val="tx2"/>
                          </a:solidFill>
                          <a:effectLst/>
                          <a:latin typeface="Arial" pitchFamily="34" charset="0"/>
                          <a:ea typeface="Times New Roman" pitchFamily="18" charset="0"/>
                          <a:cs typeface="Arial" pitchFamily="34" charset="0"/>
                        </a:rPr>
                        <a:t>HALT</a:t>
                      </a:r>
                      <a:endParaRPr kumimoji="0" lang="en-US" sz="1500" b="0" i="0" u="none" strike="noStrike" cap="none" normalizeH="0" baseline="0" dirty="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err="1">
                          <a:ln>
                            <a:noFill/>
                          </a:ln>
                          <a:solidFill>
                            <a:schemeClr val="tx2"/>
                          </a:solidFill>
                          <a:effectLst/>
                          <a:latin typeface="Arial" pitchFamily="34" charset="0"/>
                          <a:ea typeface="Times New Roman" pitchFamily="18" charset="0"/>
                          <a:cs typeface="Arial" pitchFamily="34" charset="0"/>
                        </a:rPr>
                        <a:t>SLP</a:t>
                      </a:r>
                      <a:endParaRPr kumimoji="0" lang="en-US" sz="1500" b="0" i="0" u="none" strike="noStrike" cap="none" normalizeH="0" baseline="0" dirty="0">
                        <a:ln>
                          <a:noFill/>
                        </a:ln>
                        <a:solidFill>
                          <a:schemeClr val="tx2"/>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err="1">
                          <a:ln>
                            <a:noFill/>
                          </a:ln>
                          <a:solidFill>
                            <a:schemeClr val="tx1"/>
                          </a:solidFill>
                          <a:effectLst/>
                          <a:latin typeface="Arial" pitchFamily="34" charset="0"/>
                          <a:ea typeface="Times New Roman" pitchFamily="18" charset="0"/>
                          <a:cs typeface="Arial" pitchFamily="34" charset="0"/>
                        </a:rPr>
                        <a:t>MVIB</a:t>
                      </a:r>
                      <a:endParaRPr kumimoji="0" lang="en-US" sz="1500" b="0" i="0" u="none" strike="noStrike" cap="none" normalizeH="0" baseline="0" dirty="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err="1">
                          <a:ln>
                            <a:noFill/>
                          </a:ln>
                          <a:solidFill>
                            <a:schemeClr val="tx1"/>
                          </a:solidFill>
                          <a:effectLst/>
                          <a:latin typeface="Arial" pitchFamily="34" charset="0"/>
                          <a:ea typeface="Times New Roman" pitchFamily="18" charset="0"/>
                          <a:cs typeface="Arial" pitchFamily="34" charset="0"/>
                        </a:rPr>
                        <a:t>MVIW</a:t>
                      </a:r>
                      <a:endParaRPr kumimoji="0" lang="en-US" sz="1500" b="0" i="0" u="none" strike="noStrike" cap="none" normalizeH="0" baseline="0" dirty="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305991">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err="1">
                          <a:ln>
                            <a:noFill/>
                          </a:ln>
                          <a:solidFill>
                            <a:schemeClr val="tx1"/>
                          </a:solidFill>
                          <a:effectLst/>
                          <a:latin typeface="Arial" pitchFamily="34" charset="0"/>
                          <a:ea typeface="Times New Roman" pitchFamily="18" charset="0"/>
                          <a:cs typeface="Arial" pitchFamily="34" charset="0"/>
                        </a:rPr>
                        <a:t>MVID</a:t>
                      </a:r>
                      <a:endParaRPr kumimoji="0" lang="en-US" sz="1500" b="0" i="0" u="none" strike="noStrike" cap="none" normalizeH="0" baseline="0" dirty="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Symbol" pitchFamily="18" charset="2"/>
                        <a:buChar char=""/>
                        <a:tabLst>
                          <a:tab pos="103188" algn="l"/>
                        </a:tabLst>
                      </a:pPr>
                      <a:r>
                        <a:rPr kumimoji="0" lang="en-US" sz="1500" b="0" i="0" u="none" strike="noStrike" cap="none" normalizeH="0" baseline="0" dirty="0">
                          <a:ln>
                            <a:noFill/>
                          </a:ln>
                          <a:solidFill>
                            <a:schemeClr val="tx1"/>
                          </a:solidFill>
                          <a:effectLst/>
                          <a:latin typeface="Arial" pitchFamily="34" charset="0"/>
                          <a:ea typeface="Times New Roman" pitchFamily="18" charset="0"/>
                          <a:cs typeface="Arial" pitchFamily="34" charset="0"/>
                        </a:rPr>
                        <a:t>ZERO</a:t>
                      </a:r>
                      <a:endParaRPr kumimoji="0" lang="en-US" sz="1500" b="0" i="0" u="none" strike="noStrike" cap="none" normalizeH="0" baseline="0" dirty="0">
                        <a:ln>
                          <a:noFill/>
                        </a:ln>
                        <a:solidFill>
                          <a:schemeClr val="tx1"/>
                        </a:solidFill>
                        <a:effectLst/>
                        <a:latin typeface="Times New Roman" pitchFamily="18" charset="0"/>
                        <a:ea typeface="Times New Roman" pitchFamily="18" charset="0"/>
                        <a:cs typeface="Arial" pitchFamily="34" charset="0"/>
                      </a:endParaRPr>
                    </a:p>
                  </a:txBody>
                  <a:tcPr marL="0" marR="0" marT="0" marB="0" horzOverflow="overflow">
                    <a:lnL>
                      <a:noFill/>
                    </a:lnL>
                    <a:lnR>
                      <a:noFill/>
                    </a:lnR>
                    <a:lnT>
                      <a:noFill/>
                    </a:lnT>
                    <a:lnB cap="flat">
                      <a:noFill/>
                    </a:lnB>
                    <a:lnTlToBr>
                      <a:noFill/>
                    </a:lnTlToBr>
                    <a:lnBlToTr>
                      <a:noFill/>
                    </a:lnBlToTr>
                    <a:noFill/>
                  </a:tcPr>
                </a:tc>
                <a:tc>
                  <a:txBody>
                    <a:bodyPr/>
                    <a:lstStyle/>
                    <a:p>
                      <a:pPr marL="285750" marR="0" lvl="0" indent="-28575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sz="1500" b="0" i="0" u="none" strike="noStrike" cap="none" normalizeH="0" baseline="0" dirty="0">
                          <a:ln>
                            <a:noFill/>
                          </a:ln>
                          <a:solidFill>
                            <a:schemeClr val="tx1"/>
                          </a:solidFill>
                          <a:effectLst/>
                          <a:latin typeface="Arial" pitchFamily="34" charset="0"/>
                        </a:rPr>
                        <a:t>FILL</a:t>
                      </a:r>
                    </a:p>
                  </a:txBody>
                  <a:tcPr marL="0" marR="0" marT="0" marB="0" horzOverflow="overflow">
                    <a:lnL>
                      <a:noFill/>
                    </a:lnL>
                    <a:lnR>
                      <a:noFill/>
                    </a:lnR>
                    <a:lnT>
                      <a:noFill/>
                    </a:lnT>
                    <a:lnB cap="flat">
                      <a:noFill/>
                    </a:lnB>
                    <a:lnTlToBr>
                      <a:noFill/>
                    </a:lnTlToBr>
                    <a:lnBlToTr>
                      <a:noFill/>
                    </a:lnBlToTr>
                    <a:noFill/>
                  </a:tcPr>
                </a:tc>
                <a:tc>
                  <a:txBody>
                    <a:bodyPr/>
                    <a:lstStyle/>
                    <a:p>
                      <a:pPr marL="285750" marR="0" lvl="0"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pPr>
                      <a:r>
                        <a:rPr kumimoji="0" lang="en-US" sz="1500" b="0" i="0" u="none" strike="noStrike" cap="none" normalizeH="0" baseline="0" dirty="0">
                          <a:ln>
                            <a:noFill/>
                          </a:ln>
                          <a:solidFill>
                            <a:schemeClr val="tx1"/>
                          </a:solidFill>
                          <a:effectLst/>
                          <a:latin typeface="Arial" pitchFamily="34" charset="0"/>
                        </a:rPr>
                        <a:t>XIN, XOUT, </a:t>
                      </a:r>
                    </a:p>
                  </a:txBody>
                  <a:tcPr marL="0" marR="0" marT="0" marB="0" horzOverflow="overflow">
                    <a:lnL>
                      <a:noFill/>
                    </a:lnL>
                    <a:lnR>
                      <a:noFill/>
                    </a:lnR>
                    <a:lnT>
                      <a:noFill/>
                    </a:lnT>
                    <a:lnB cap="flat">
                      <a:noFill/>
                    </a:lnB>
                    <a:lnTlToBr>
                      <a:noFill/>
                    </a:lnTlToBr>
                    <a:lnBlToTr>
                      <a:noFill/>
                    </a:lnBlToTr>
                    <a:noFill/>
                  </a:tcPr>
                </a:tc>
                <a:tc>
                  <a:txBody>
                    <a:bodyPr/>
                    <a:lstStyle/>
                    <a:p>
                      <a:pPr marL="285750" marR="0" lvl="0"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pPr>
                      <a:r>
                        <a:rPr kumimoji="0" lang="en-US" sz="1500" b="0" i="0" u="none" strike="noStrike" cap="none" normalizeH="0" baseline="0" dirty="0">
                          <a:ln>
                            <a:noFill/>
                          </a:ln>
                          <a:solidFill>
                            <a:schemeClr val="tx1"/>
                          </a:solidFill>
                          <a:effectLst/>
                          <a:latin typeface="Arial" pitchFamily="34" charset="0"/>
                        </a:rPr>
                        <a:t>TSEN</a:t>
                      </a:r>
                    </a:p>
                  </a:txBody>
                  <a:tcPr marL="0" marR="0" marT="0" marB="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3303" name="Text Box 58"/>
          <p:cNvSpPr txBox="1">
            <a:spLocks noChangeArrowheads="1"/>
          </p:cNvSpPr>
          <p:nvPr/>
        </p:nvSpPr>
        <p:spPr bwMode="auto">
          <a:xfrm>
            <a:off x="1116014" y="1102525"/>
            <a:ext cx="2995612" cy="241697"/>
          </a:xfrm>
          <a:prstGeom prst="rect">
            <a:avLst/>
          </a:prstGeom>
          <a:noFill/>
          <a:ln w="9525" algn="ctr">
            <a:noFill/>
            <a:miter lim="800000"/>
            <a:headEnd/>
            <a:tailEnd/>
          </a:ln>
        </p:spPr>
        <p:txBody>
          <a:bodyPr lIns="18288" tIns="18288" rIns="18288" bIns="18288"/>
          <a:lstStyle/>
          <a:p>
            <a:r>
              <a:rPr lang="en-US">
                <a:solidFill>
                  <a:srgbClr val="000000"/>
                </a:solidFill>
                <a:latin typeface="Arial" pitchFamily="34" charset="0"/>
              </a:rPr>
              <a:t>IO Operations (black)</a:t>
            </a:r>
          </a:p>
        </p:txBody>
      </p:sp>
      <p:sp>
        <p:nvSpPr>
          <p:cNvPr id="53304" name="Text Box 59"/>
          <p:cNvSpPr txBox="1">
            <a:spLocks noChangeArrowheads="1"/>
          </p:cNvSpPr>
          <p:nvPr/>
        </p:nvSpPr>
        <p:spPr bwMode="auto">
          <a:xfrm>
            <a:off x="4859338" y="1102525"/>
            <a:ext cx="3168650" cy="241697"/>
          </a:xfrm>
          <a:prstGeom prst="rect">
            <a:avLst/>
          </a:prstGeom>
          <a:noFill/>
          <a:ln w="9525" algn="ctr">
            <a:noFill/>
            <a:miter lim="800000"/>
            <a:headEnd/>
            <a:tailEnd/>
          </a:ln>
        </p:spPr>
        <p:txBody>
          <a:bodyPr lIns="18288" tIns="18288" rIns="18288" bIns="18288"/>
          <a:lstStyle/>
          <a:p>
            <a:r>
              <a:rPr lang="en-US">
                <a:solidFill>
                  <a:srgbClr val="FF0000"/>
                </a:solidFill>
                <a:latin typeface="Arial" pitchFamily="34" charset="0"/>
              </a:rPr>
              <a:t>Program Flow Control (red)</a:t>
            </a:r>
          </a:p>
        </p:txBody>
      </p:sp>
      <p:sp>
        <p:nvSpPr>
          <p:cNvPr id="53305" name="Text Box 60"/>
          <p:cNvSpPr txBox="1">
            <a:spLocks noChangeArrowheads="1"/>
          </p:cNvSpPr>
          <p:nvPr/>
        </p:nvSpPr>
        <p:spPr bwMode="auto">
          <a:xfrm>
            <a:off x="4859350" y="842969"/>
            <a:ext cx="3227387" cy="241697"/>
          </a:xfrm>
          <a:prstGeom prst="rect">
            <a:avLst/>
          </a:prstGeom>
          <a:noFill/>
          <a:ln w="9525" algn="ctr">
            <a:noFill/>
            <a:miter lim="800000"/>
            <a:headEnd/>
            <a:tailEnd/>
          </a:ln>
        </p:spPr>
        <p:txBody>
          <a:bodyPr lIns="18288" tIns="18288" rIns="18288" bIns="18288"/>
          <a:lstStyle/>
          <a:p>
            <a:r>
              <a:rPr lang="en-US">
                <a:solidFill>
                  <a:srgbClr val="0000FF"/>
                </a:solidFill>
                <a:latin typeface="Arial" pitchFamily="34" charset="0"/>
              </a:rPr>
              <a:t>Logic Operations (blue)</a:t>
            </a:r>
          </a:p>
        </p:txBody>
      </p:sp>
      <p:sp>
        <p:nvSpPr>
          <p:cNvPr id="53306" name="Text Box 61"/>
          <p:cNvSpPr txBox="1">
            <a:spLocks noChangeArrowheads="1"/>
          </p:cNvSpPr>
          <p:nvPr/>
        </p:nvSpPr>
        <p:spPr bwMode="auto">
          <a:xfrm>
            <a:off x="1116017" y="842969"/>
            <a:ext cx="3455987" cy="241697"/>
          </a:xfrm>
          <a:prstGeom prst="rect">
            <a:avLst/>
          </a:prstGeom>
          <a:noFill/>
          <a:ln w="9525" algn="ctr">
            <a:noFill/>
            <a:miter lim="800000"/>
            <a:headEnd/>
            <a:tailEnd/>
          </a:ln>
        </p:spPr>
        <p:txBody>
          <a:bodyPr lIns="18288" tIns="18288" rIns="18288" bIns="18288"/>
          <a:lstStyle/>
          <a:p>
            <a:r>
              <a:rPr lang="en-US">
                <a:solidFill>
                  <a:srgbClr val="008000"/>
                </a:solidFill>
                <a:latin typeface="Arial" pitchFamily="34" charset="0"/>
              </a:rPr>
              <a:t>Arithmetic Operations (green)</a:t>
            </a:r>
          </a:p>
        </p:txBody>
      </p:sp>
    </p:spTree>
    <p:extLst>
      <p:ext uri="{BB962C8B-B14F-4D97-AF65-F5344CB8AC3E}">
        <p14:creationId xmlns:p14="http://schemas.microsoft.com/office/powerpoint/2010/main" val="199060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noFill/>
          <a:ln w="9525">
            <a:noFill/>
            <a:miter lim="800000"/>
            <a:headEnd/>
            <a:tailEnd/>
          </a:ln>
        </p:spPr>
        <p:txBody>
          <a:bodyPr vert="horz" wrap="square" lIns="76179" tIns="38088" rIns="76179" bIns="38088" numCol="1" anchor="ctr" anchorCtr="0" compatLnSpc="1">
            <a:prstTxWarp prst="textNoShape">
              <a:avLst/>
            </a:prstTxWarp>
          </a:bodyPr>
          <a:lstStyle/>
          <a:p>
            <a:pPr eaLnBrk="1" hangingPunct="1"/>
            <a:r>
              <a:rPr lang="en-US" dirty="0"/>
              <a:t>Register Examples (1/2)</a:t>
            </a:r>
          </a:p>
        </p:txBody>
      </p:sp>
      <p:sp>
        <p:nvSpPr>
          <p:cNvPr id="31746" name="Slide Number Placeholder 5"/>
          <p:cNvSpPr>
            <a:spLocks noGrp="1"/>
          </p:cNvSpPr>
          <p:nvPr>
            <p:ph type="sldNum" sz="quarter" idx="10"/>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6pPr>
            <a:lvl7pPr marL="29718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7pPr>
            <a:lvl8pPr marL="34290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8pPr>
            <a:lvl9pPr marL="38862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9pPr>
          </a:lstStyle>
          <a:p>
            <a:pPr eaLnBrk="1" hangingPunct="1"/>
            <a:fld id="{1FAD4C49-5202-47D1-9AA5-235CF8275036}" type="slidenum">
              <a:rPr lang="en-US" sz="800" smtClean="0">
                <a:solidFill>
                  <a:srgbClr val="000000"/>
                </a:solidFill>
              </a:rPr>
              <a:pPr eaLnBrk="1" hangingPunct="1"/>
              <a:t>2</a:t>
            </a:fld>
            <a:endParaRPr lang="en-US" sz="800">
              <a:solidFill>
                <a:srgbClr val="000000"/>
              </a:solidFill>
            </a:endParaRPr>
          </a:p>
        </p:txBody>
      </p:sp>
      <p:grpSp>
        <p:nvGrpSpPr>
          <p:cNvPr id="31749" name="Group 21"/>
          <p:cNvGrpSpPr>
            <a:grpSpLocks/>
          </p:cNvGrpSpPr>
          <p:nvPr/>
        </p:nvGrpSpPr>
        <p:grpSpPr bwMode="auto">
          <a:xfrm>
            <a:off x="655639" y="1429938"/>
            <a:ext cx="1843087" cy="166688"/>
            <a:chOff x="231" y="1854"/>
            <a:chExt cx="1161" cy="140"/>
          </a:xfrm>
        </p:grpSpPr>
        <p:sp>
          <p:nvSpPr>
            <p:cNvPr id="31920" name="Rectangle 4"/>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21" name="Rectangle 5"/>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22" name="Rectangle 6"/>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23" name="Rectangle 7"/>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24" name="Rectangle 8"/>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25" name="Rectangle 9"/>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26" name="Rectangle 10"/>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27" name="Rectangle 11"/>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50" name="Rectangle 13"/>
          <p:cNvSpPr>
            <a:spLocks noChangeArrowheads="1"/>
          </p:cNvSpPr>
          <p:nvPr/>
        </p:nvSpPr>
        <p:spPr bwMode="auto">
          <a:xfrm>
            <a:off x="654050" y="121199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1751" name="Rectangle 14"/>
          <p:cNvSpPr>
            <a:spLocks noChangeArrowheads="1"/>
          </p:cNvSpPr>
          <p:nvPr/>
        </p:nvSpPr>
        <p:spPr bwMode="auto">
          <a:xfrm>
            <a:off x="2266950" y="121199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grpSp>
        <p:nvGrpSpPr>
          <p:cNvPr id="31752" name="Group 22"/>
          <p:cNvGrpSpPr>
            <a:grpSpLocks/>
          </p:cNvGrpSpPr>
          <p:nvPr/>
        </p:nvGrpSpPr>
        <p:grpSpPr bwMode="auto">
          <a:xfrm>
            <a:off x="6186489" y="1429938"/>
            <a:ext cx="1843087" cy="166688"/>
            <a:chOff x="231" y="1854"/>
            <a:chExt cx="1161" cy="140"/>
          </a:xfrm>
        </p:grpSpPr>
        <p:sp>
          <p:nvSpPr>
            <p:cNvPr id="31912" name="Rectangle 23"/>
            <p:cNvSpPr>
              <a:spLocks noChangeArrowheads="1"/>
            </p:cNvSpPr>
            <p:nvPr/>
          </p:nvSpPr>
          <p:spPr bwMode="auto">
            <a:xfrm>
              <a:off x="231"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3" name="Rectangle 24"/>
            <p:cNvSpPr>
              <a:spLocks noChangeArrowheads="1"/>
            </p:cNvSpPr>
            <p:nvPr/>
          </p:nvSpPr>
          <p:spPr bwMode="auto">
            <a:xfrm>
              <a:off x="376"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4" name="Rectangle 25"/>
            <p:cNvSpPr>
              <a:spLocks noChangeArrowheads="1"/>
            </p:cNvSpPr>
            <p:nvPr/>
          </p:nvSpPr>
          <p:spPr bwMode="auto">
            <a:xfrm>
              <a:off x="521"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5" name="Rectangle 26"/>
            <p:cNvSpPr>
              <a:spLocks noChangeArrowheads="1"/>
            </p:cNvSpPr>
            <p:nvPr/>
          </p:nvSpPr>
          <p:spPr bwMode="auto">
            <a:xfrm>
              <a:off x="666"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6" name="Rectangle 27"/>
            <p:cNvSpPr>
              <a:spLocks noChangeArrowheads="1"/>
            </p:cNvSpPr>
            <p:nvPr/>
          </p:nvSpPr>
          <p:spPr bwMode="auto">
            <a:xfrm>
              <a:off x="812"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7" name="Rectangle 28"/>
            <p:cNvSpPr>
              <a:spLocks noChangeArrowheads="1"/>
            </p:cNvSpPr>
            <p:nvPr/>
          </p:nvSpPr>
          <p:spPr bwMode="auto">
            <a:xfrm>
              <a:off x="957"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8" name="Rectangle 29"/>
            <p:cNvSpPr>
              <a:spLocks noChangeArrowheads="1"/>
            </p:cNvSpPr>
            <p:nvPr/>
          </p:nvSpPr>
          <p:spPr bwMode="auto">
            <a:xfrm>
              <a:off x="1102"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9" name="Rectangle 30"/>
            <p:cNvSpPr>
              <a:spLocks noChangeArrowheads="1"/>
            </p:cNvSpPr>
            <p:nvPr/>
          </p:nvSpPr>
          <p:spPr bwMode="auto">
            <a:xfrm>
              <a:off x="1247"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53" name="Group 31"/>
          <p:cNvGrpSpPr>
            <a:grpSpLocks/>
          </p:cNvGrpSpPr>
          <p:nvPr/>
        </p:nvGrpSpPr>
        <p:grpSpPr bwMode="auto">
          <a:xfrm>
            <a:off x="4341813" y="1429938"/>
            <a:ext cx="1843087" cy="166688"/>
            <a:chOff x="231" y="1854"/>
            <a:chExt cx="1161" cy="140"/>
          </a:xfrm>
        </p:grpSpPr>
        <p:sp>
          <p:nvSpPr>
            <p:cNvPr id="31904" name="Rectangle 32"/>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5" name="Rectangle 33"/>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6" name="Rectangle 34"/>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7" name="Rectangle 35"/>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8" name="Rectangle 36"/>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9" name="Rectangle 37"/>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0" name="Rectangle 38"/>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11" name="Rectangle 39"/>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54" name="Group 40"/>
          <p:cNvGrpSpPr>
            <a:grpSpLocks/>
          </p:cNvGrpSpPr>
          <p:nvPr/>
        </p:nvGrpSpPr>
        <p:grpSpPr bwMode="auto">
          <a:xfrm>
            <a:off x="2498725" y="1429938"/>
            <a:ext cx="1843088" cy="166688"/>
            <a:chOff x="231" y="1854"/>
            <a:chExt cx="1161" cy="140"/>
          </a:xfrm>
        </p:grpSpPr>
        <p:sp>
          <p:nvSpPr>
            <p:cNvPr id="31896" name="Rectangle 41"/>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7" name="Rectangle 42"/>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8" name="Rectangle 43"/>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9" name="Rectangle 44"/>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0" name="Rectangle 45"/>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1" name="Rectangle 46"/>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2" name="Rectangle 47"/>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903" name="Rectangle 48"/>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55" name="Rectangle 50"/>
          <p:cNvSpPr>
            <a:spLocks noChangeArrowheads="1"/>
          </p:cNvSpPr>
          <p:nvPr/>
        </p:nvSpPr>
        <p:spPr bwMode="auto">
          <a:xfrm>
            <a:off x="2498725" y="121199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1756" name="Rectangle 51"/>
          <p:cNvSpPr>
            <a:spLocks noChangeArrowheads="1"/>
          </p:cNvSpPr>
          <p:nvPr/>
        </p:nvSpPr>
        <p:spPr bwMode="auto">
          <a:xfrm>
            <a:off x="4111625" y="121199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1757" name="Rectangle 52"/>
          <p:cNvSpPr>
            <a:spLocks noChangeArrowheads="1"/>
          </p:cNvSpPr>
          <p:nvPr/>
        </p:nvSpPr>
        <p:spPr bwMode="auto">
          <a:xfrm>
            <a:off x="4341814" y="1211998"/>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1758" name="Rectangle 53"/>
          <p:cNvSpPr>
            <a:spLocks noChangeArrowheads="1"/>
          </p:cNvSpPr>
          <p:nvPr/>
        </p:nvSpPr>
        <p:spPr bwMode="auto">
          <a:xfrm>
            <a:off x="5954714" y="1211998"/>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1759" name="Rectangle 54"/>
          <p:cNvSpPr>
            <a:spLocks noChangeArrowheads="1"/>
          </p:cNvSpPr>
          <p:nvPr/>
        </p:nvSpPr>
        <p:spPr bwMode="auto">
          <a:xfrm>
            <a:off x="6184900" y="121199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1760" name="Rectangle 55"/>
          <p:cNvSpPr>
            <a:spLocks noChangeArrowheads="1"/>
          </p:cNvSpPr>
          <p:nvPr/>
        </p:nvSpPr>
        <p:spPr bwMode="auto">
          <a:xfrm>
            <a:off x="7797800" y="121199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grpSp>
        <p:nvGrpSpPr>
          <p:cNvPr id="31761" name="Group 56"/>
          <p:cNvGrpSpPr>
            <a:grpSpLocks/>
          </p:cNvGrpSpPr>
          <p:nvPr/>
        </p:nvGrpSpPr>
        <p:grpSpPr bwMode="auto">
          <a:xfrm>
            <a:off x="654050" y="2251470"/>
            <a:ext cx="1843088" cy="166688"/>
            <a:chOff x="231" y="1854"/>
            <a:chExt cx="1161" cy="140"/>
          </a:xfrm>
        </p:grpSpPr>
        <p:sp>
          <p:nvSpPr>
            <p:cNvPr id="31888" name="Rectangle 57"/>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9" name="Rectangle 58"/>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0" name="Rectangle 59"/>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1" name="Rectangle 60"/>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2" name="Rectangle 61"/>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3" name="Rectangle 62"/>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4" name="Rectangle 63"/>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95" name="Rectangle 64"/>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62" name="Rectangle 65"/>
          <p:cNvSpPr>
            <a:spLocks noChangeArrowheads="1"/>
          </p:cNvSpPr>
          <p:nvPr/>
        </p:nvSpPr>
        <p:spPr bwMode="auto">
          <a:xfrm>
            <a:off x="652464" y="203352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1763" name="Rectangle 66"/>
          <p:cNvSpPr>
            <a:spLocks noChangeArrowheads="1"/>
          </p:cNvSpPr>
          <p:nvPr/>
        </p:nvSpPr>
        <p:spPr bwMode="auto">
          <a:xfrm>
            <a:off x="2265364" y="203352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grpSp>
        <p:nvGrpSpPr>
          <p:cNvPr id="31764" name="Group 67"/>
          <p:cNvGrpSpPr>
            <a:grpSpLocks/>
          </p:cNvGrpSpPr>
          <p:nvPr/>
        </p:nvGrpSpPr>
        <p:grpSpPr bwMode="auto">
          <a:xfrm>
            <a:off x="6184900" y="2251470"/>
            <a:ext cx="1843088" cy="166688"/>
            <a:chOff x="231" y="1854"/>
            <a:chExt cx="1161" cy="140"/>
          </a:xfrm>
        </p:grpSpPr>
        <p:sp>
          <p:nvSpPr>
            <p:cNvPr id="31880" name="Rectangle 68"/>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1" name="Rectangle 69"/>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2" name="Rectangle 70"/>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3" name="Rectangle 71"/>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4" name="Rectangle 72"/>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5" name="Rectangle 73"/>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6" name="Rectangle 74"/>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87" name="Rectangle 75"/>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65" name="Group 76"/>
          <p:cNvGrpSpPr>
            <a:grpSpLocks/>
          </p:cNvGrpSpPr>
          <p:nvPr/>
        </p:nvGrpSpPr>
        <p:grpSpPr bwMode="auto">
          <a:xfrm>
            <a:off x="4340225" y="2251470"/>
            <a:ext cx="1843088" cy="166688"/>
            <a:chOff x="231" y="1854"/>
            <a:chExt cx="1161" cy="140"/>
          </a:xfrm>
        </p:grpSpPr>
        <p:sp>
          <p:nvSpPr>
            <p:cNvPr id="31872" name="Rectangle 77"/>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3" name="Rectangle 78"/>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4" name="Rectangle 79"/>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5" name="Rectangle 80"/>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6" name="Rectangle 81"/>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7" name="Rectangle 82"/>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8" name="Rectangle 83"/>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9" name="Rectangle 84"/>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66" name="Group 85"/>
          <p:cNvGrpSpPr>
            <a:grpSpLocks/>
          </p:cNvGrpSpPr>
          <p:nvPr/>
        </p:nvGrpSpPr>
        <p:grpSpPr bwMode="auto">
          <a:xfrm>
            <a:off x="2497139" y="2251470"/>
            <a:ext cx="1843087" cy="166688"/>
            <a:chOff x="231" y="1854"/>
            <a:chExt cx="1161" cy="140"/>
          </a:xfrm>
        </p:grpSpPr>
        <p:sp>
          <p:nvSpPr>
            <p:cNvPr id="31864" name="Rectangle 86"/>
            <p:cNvSpPr>
              <a:spLocks noChangeArrowheads="1"/>
            </p:cNvSpPr>
            <p:nvPr/>
          </p:nvSpPr>
          <p:spPr bwMode="auto">
            <a:xfrm>
              <a:off x="231"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5" name="Rectangle 87"/>
            <p:cNvSpPr>
              <a:spLocks noChangeArrowheads="1"/>
            </p:cNvSpPr>
            <p:nvPr/>
          </p:nvSpPr>
          <p:spPr bwMode="auto">
            <a:xfrm>
              <a:off x="376"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6" name="Rectangle 88"/>
            <p:cNvSpPr>
              <a:spLocks noChangeArrowheads="1"/>
            </p:cNvSpPr>
            <p:nvPr/>
          </p:nvSpPr>
          <p:spPr bwMode="auto">
            <a:xfrm>
              <a:off x="521"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7" name="Rectangle 89"/>
            <p:cNvSpPr>
              <a:spLocks noChangeArrowheads="1"/>
            </p:cNvSpPr>
            <p:nvPr/>
          </p:nvSpPr>
          <p:spPr bwMode="auto">
            <a:xfrm>
              <a:off x="666"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8" name="Rectangle 90"/>
            <p:cNvSpPr>
              <a:spLocks noChangeArrowheads="1"/>
            </p:cNvSpPr>
            <p:nvPr/>
          </p:nvSpPr>
          <p:spPr bwMode="auto">
            <a:xfrm>
              <a:off x="812"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9" name="Rectangle 91"/>
            <p:cNvSpPr>
              <a:spLocks noChangeArrowheads="1"/>
            </p:cNvSpPr>
            <p:nvPr/>
          </p:nvSpPr>
          <p:spPr bwMode="auto">
            <a:xfrm>
              <a:off x="957"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0" name="Rectangle 92"/>
            <p:cNvSpPr>
              <a:spLocks noChangeArrowheads="1"/>
            </p:cNvSpPr>
            <p:nvPr/>
          </p:nvSpPr>
          <p:spPr bwMode="auto">
            <a:xfrm>
              <a:off x="1102"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71" name="Rectangle 93"/>
            <p:cNvSpPr>
              <a:spLocks noChangeArrowheads="1"/>
            </p:cNvSpPr>
            <p:nvPr/>
          </p:nvSpPr>
          <p:spPr bwMode="auto">
            <a:xfrm>
              <a:off x="1247"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67" name="Rectangle 94"/>
          <p:cNvSpPr>
            <a:spLocks noChangeArrowheads="1"/>
          </p:cNvSpPr>
          <p:nvPr/>
        </p:nvSpPr>
        <p:spPr bwMode="auto">
          <a:xfrm>
            <a:off x="2497139" y="203352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1768" name="Rectangle 95"/>
          <p:cNvSpPr>
            <a:spLocks noChangeArrowheads="1"/>
          </p:cNvSpPr>
          <p:nvPr/>
        </p:nvSpPr>
        <p:spPr bwMode="auto">
          <a:xfrm>
            <a:off x="4110039" y="203352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1769" name="Rectangle 96"/>
          <p:cNvSpPr>
            <a:spLocks noChangeArrowheads="1"/>
          </p:cNvSpPr>
          <p:nvPr/>
        </p:nvSpPr>
        <p:spPr bwMode="auto">
          <a:xfrm>
            <a:off x="4340225" y="2033529"/>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1770" name="Rectangle 97"/>
          <p:cNvSpPr>
            <a:spLocks noChangeArrowheads="1"/>
          </p:cNvSpPr>
          <p:nvPr/>
        </p:nvSpPr>
        <p:spPr bwMode="auto">
          <a:xfrm>
            <a:off x="5953125" y="2033529"/>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1771" name="Rectangle 98"/>
          <p:cNvSpPr>
            <a:spLocks noChangeArrowheads="1"/>
          </p:cNvSpPr>
          <p:nvPr/>
        </p:nvSpPr>
        <p:spPr bwMode="auto">
          <a:xfrm>
            <a:off x="6183314" y="203352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1772" name="Rectangle 99"/>
          <p:cNvSpPr>
            <a:spLocks noChangeArrowheads="1"/>
          </p:cNvSpPr>
          <p:nvPr/>
        </p:nvSpPr>
        <p:spPr bwMode="auto">
          <a:xfrm>
            <a:off x="7796214" y="203352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sp>
        <p:nvSpPr>
          <p:cNvPr id="31773" name="Rectangle 100"/>
          <p:cNvSpPr>
            <a:spLocks noChangeArrowheads="1"/>
          </p:cNvSpPr>
          <p:nvPr/>
        </p:nvSpPr>
        <p:spPr bwMode="auto">
          <a:xfrm>
            <a:off x="309564" y="1664494"/>
            <a:ext cx="8467725"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rgbClr val="336699"/>
              </a:buClr>
              <a:buFont typeface="Arial" panose="020B0604020202020204" pitchFamily="34" charset="0"/>
              <a:buChar char="•"/>
            </a:pPr>
            <a:r>
              <a:rPr lang="en-US" sz="2000" dirty="0"/>
              <a:t>r0.b2</a:t>
            </a:r>
          </a:p>
          <a:p>
            <a:pPr marL="342900" indent="-342900">
              <a:spcBef>
                <a:spcPct val="20000"/>
              </a:spcBef>
              <a:buClr>
                <a:srgbClr val="336699"/>
              </a:buClr>
              <a:buFont typeface="Arial" panose="020B0604020202020204" pitchFamily="34" charset="0"/>
              <a:buChar char="•"/>
            </a:pPr>
            <a:endParaRPr lang="en-US" sz="2000" dirty="0"/>
          </a:p>
        </p:txBody>
      </p:sp>
      <p:sp>
        <p:nvSpPr>
          <p:cNvPr id="31774" name="Rectangle 101"/>
          <p:cNvSpPr>
            <a:spLocks noChangeArrowheads="1"/>
          </p:cNvSpPr>
          <p:nvPr/>
        </p:nvSpPr>
        <p:spPr bwMode="auto">
          <a:xfrm>
            <a:off x="309564" y="2528888"/>
            <a:ext cx="8467725"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rgbClr val="336699"/>
              </a:buClr>
              <a:buFont typeface="Arial" panose="020B0604020202020204" pitchFamily="34" charset="0"/>
              <a:buChar char="•"/>
            </a:pPr>
            <a:r>
              <a:rPr lang="en-US" sz="2000"/>
              <a:t>r0.w0</a:t>
            </a:r>
          </a:p>
          <a:p>
            <a:pPr marL="342900" indent="-342900">
              <a:spcBef>
                <a:spcPct val="20000"/>
              </a:spcBef>
              <a:buClr>
                <a:srgbClr val="336699"/>
              </a:buClr>
              <a:buFont typeface="Arial" panose="020B0604020202020204" pitchFamily="34" charset="0"/>
              <a:buChar char="•"/>
            </a:pPr>
            <a:endParaRPr lang="en-US" sz="2000"/>
          </a:p>
        </p:txBody>
      </p:sp>
      <p:grpSp>
        <p:nvGrpSpPr>
          <p:cNvPr id="31775" name="Group 102"/>
          <p:cNvGrpSpPr>
            <a:grpSpLocks/>
          </p:cNvGrpSpPr>
          <p:nvPr/>
        </p:nvGrpSpPr>
        <p:grpSpPr bwMode="auto">
          <a:xfrm>
            <a:off x="655639" y="3115863"/>
            <a:ext cx="1843087" cy="166688"/>
            <a:chOff x="231" y="1854"/>
            <a:chExt cx="1161" cy="140"/>
          </a:xfrm>
        </p:grpSpPr>
        <p:sp>
          <p:nvSpPr>
            <p:cNvPr id="31856" name="Rectangle 103"/>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7" name="Rectangle 104"/>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8" name="Rectangle 105"/>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9" name="Rectangle 106"/>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0" name="Rectangle 107"/>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1" name="Rectangle 108"/>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2" name="Rectangle 109"/>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63" name="Rectangle 110"/>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76" name="Rectangle 111"/>
          <p:cNvSpPr>
            <a:spLocks noChangeArrowheads="1"/>
          </p:cNvSpPr>
          <p:nvPr/>
        </p:nvSpPr>
        <p:spPr bwMode="auto">
          <a:xfrm>
            <a:off x="654050" y="289792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1777" name="Rectangle 112"/>
          <p:cNvSpPr>
            <a:spLocks noChangeArrowheads="1"/>
          </p:cNvSpPr>
          <p:nvPr/>
        </p:nvSpPr>
        <p:spPr bwMode="auto">
          <a:xfrm>
            <a:off x="2266950" y="289792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grpSp>
        <p:nvGrpSpPr>
          <p:cNvPr id="31778" name="Group 113"/>
          <p:cNvGrpSpPr>
            <a:grpSpLocks/>
          </p:cNvGrpSpPr>
          <p:nvPr/>
        </p:nvGrpSpPr>
        <p:grpSpPr bwMode="auto">
          <a:xfrm>
            <a:off x="6186489" y="3115863"/>
            <a:ext cx="1843087" cy="166688"/>
            <a:chOff x="231" y="1854"/>
            <a:chExt cx="1161" cy="140"/>
          </a:xfrm>
        </p:grpSpPr>
        <p:sp>
          <p:nvSpPr>
            <p:cNvPr id="31848" name="Rectangle 114"/>
            <p:cNvSpPr>
              <a:spLocks noChangeArrowheads="1"/>
            </p:cNvSpPr>
            <p:nvPr/>
          </p:nvSpPr>
          <p:spPr bwMode="auto">
            <a:xfrm>
              <a:off x="23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9" name="Rectangle 115"/>
            <p:cNvSpPr>
              <a:spLocks noChangeArrowheads="1"/>
            </p:cNvSpPr>
            <p:nvPr/>
          </p:nvSpPr>
          <p:spPr bwMode="auto">
            <a:xfrm>
              <a:off x="37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0" name="Rectangle 116"/>
            <p:cNvSpPr>
              <a:spLocks noChangeArrowheads="1"/>
            </p:cNvSpPr>
            <p:nvPr/>
          </p:nvSpPr>
          <p:spPr bwMode="auto">
            <a:xfrm>
              <a:off x="52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1" name="Rectangle 117"/>
            <p:cNvSpPr>
              <a:spLocks noChangeArrowheads="1"/>
            </p:cNvSpPr>
            <p:nvPr/>
          </p:nvSpPr>
          <p:spPr bwMode="auto">
            <a:xfrm>
              <a:off x="66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2" name="Rectangle 118"/>
            <p:cNvSpPr>
              <a:spLocks noChangeArrowheads="1"/>
            </p:cNvSpPr>
            <p:nvPr/>
          </p:nvSpPr>
          <p:spPr bwMode="auto">
            <a:xfrm>
              <a:off x="81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3" name="Rectangle 119"/>
            <p:cNvSpPr>
              <a:spLocks noChangeArrowheads="1"/>
            </p:cNvSpPr>
            <p:nvPr/>
          </p:nvSpPr>
          <p:spPr bwMode="auto">
            <a:xfrm>
              <a:off x="95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4" name="Rectangle 120"/>
            <p:cNvSpPr>
              <a:spLocks noChangeArrowheads="1"/>
            </p:cNvSpPr>
            <p:nvPr/>
          </p:nvSpPr>
          <p:spPr bwMode="auto">
            <a:xfrm>
              <a:off x="110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55" name="Rectangle 121"/>
            <p:cNvSpPr>
              <a:spLocks noChangeArrowheads="1"/>
            </p:cNvSpPr>
            <p:nvPr/>
          </p:nvSpPr>
          <p:spPr bwMode="auto">
            <a:xfrm>
              <a:off x="124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79" name="Group 122"/>
          <p:cNvGrpSpPr>
            <a:grpSpLocks/>
          </p:cNvGrpSpPr>
          <p:nvPr/>
        </p:nvGrpSpPr>
        <p:grpSpPr bwMode="auto">
          <a:xfrm>
            <a:off x="4341813" y="3115863"/>
            <a:ext cx="1843087" cy="166688"/>
            <a:chOff x="231" y="1854"/>
            <a:chExt cx="1161" cy="140"/>
          </a:xfrm>
        </p:grpSpPr>
        <p:sp>
          <p:nvSpPr>
            <p:cNvPr id="31840" name="Rectangle 123"/>
            <p:cNvSpPr>
              <a:spLocks noChangeArrowheads="1"/>
            </p:cNvSpPr>
            <p:nvPr/>
          </p:nvSpPr>
          <p:spPr bwMode="auto">
            <a:xfrm>
              <a:off x="23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1" name="Rectangle 124"/>
            <p:cNvSpPr>
              <a:spLocks noChangeArrowheads="1"/>
            </p:cNvSpPr>
            <p:nvPr/>
          </p:nvSpPr>
          <p:spPr bwMode="auto">
            <a:xfrm>
              <a:off x="37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2" name="Rectangle 125"/>
            <p:cNvSpPr>
              <a:spLocks noChangeArrowheads="1"/>
            </p:cNvSpPr>
            <p:nvPr/>
          </p:nvSpPr>
          <p:spPr bwMode="auto">
            <a:xfrm>
              <a:off x="52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3" name="Rectangle 126"/>
            <p:cNvSpPr>
              <a:spLocks noChangeArrowheads="1"/>
            </p:cNvSpPr>
            <p:nvPr/>
          </p:nvSpPr>
          <p:spPr bwMode="auto">
            <a:xfrm>
              <a:off x="66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4" name="Rectangle 127"/>
            <p:cNvSpPr>
              <a:spLocks noChangeArrowheads="1"/>
            </p:cNvSpPr>
            <p:nvPr/>
          </p:nvSpPr>
          <p:spPr bwMode="auto">
            <a:xfrm>
              <a:off x="81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5" name="Rectangle 128"/>
            <p:cNvSpPr>
              <a:spLocks noChangeArrowheads="1"/>
            </p:cNvSpPr>
            <p:nvPr/>
          </p:nvSpPr>
          <p:spPr bwMode="auto">
            <a:xfrm>
              <a:off x="95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6" name="Rectangle 129"/>
            <p:cNvSpPr>
              <a:spLocks noChangeArrowheads="1"/>
            </p:cNvSpPr>
            <p:nvPr/>
          </p:nvSpPr>
          <p:spPr bwMode="auto">
            <a:xfrm>
              <a:off x="110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47" name="Rectangle 130"/>
            <p:cNvSpPr>
              <a:spLocks noChangeArrowheads="1"/>
            </p:cNvSpPr>
            <p:nvPr/>
          </p:nvSpPr>
          <p:spPr bwMode="auto">
            <a:xfrm>
              <a:off x="124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80" name="Group 131"/>
          <p:cNvGrpSpPr>
            <a:grpSpLocks/>
          </p:cNvGrpSpPr>
          <p:nvPr/>
        </p:nvGrpSpPr>
        <p:grpSpPr bwMode="auto">
          <a:xfrm>
            <a:off x="2498725" y="3115863"/>
            <a:ext cx="1843088" cy="166688"/>
            <a:chOff x="231" y="1854"/>
            <a:chExt cx="1161" cy="140"/>
          </a:xfrm>
        </p:grpSpPr>
        <p:sp>
          <p:nvSpPr>
            <p:cNvPr id="31832" name="Rectangle 132"/>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3" name="Rectangle 133"/>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4" name="Rectangle 134"/>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5" name="Rectangle 135"/>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6" name="Rectangle 136"/>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7" name="Rectangle 137"/>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8" name="Rectangle 138"/>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9" name="Rectangle 139"/>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81" name="Rectangle 140"/>
          <p:cNvSpPr>
            <a:spLocks noChangeArrowheads="1"/>
          </p:cNvSpPr>
          <p:nvPr/>
        </p:nvSpPr>
        <p:spPr bwMode="auto">
          <a:xfrm>
            <a:off x="2498725" y="289792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1782" name="Rectangle 141"/>
          <p:cNvSpPr>
            <a:spLocks noChangeArrowheads="1"/>
          </p:cNvSpPr>
          <p:nvPr/>
        </p:nvSpPr>
        <p:spPr bwMode="auto">
          <a:xfrm>
            <a:off x="4111625" y="289792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1783" name="Rectangle 142"/>
          <p:cNvSpPr>
            <a:spLocks noChangeArrowheads="1"/>
          </p:cNvSpPr>
          <p:nvPr/>
        </p:nvSpPr>
        <p:spPr bwMode="auto">
          <a:xfrm>
            <a:off x="4341814" y="2897923"/>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1784" name="Rectangle 143"/>
          <p:cNvSpPr>
            <a:spLocks noChangeArrowheads="1"/>
          </p:cNvSpPr>
          <p:nvPr/>
        </p:nvSpPr>
        <p:spPr bwMode="auto">
          <a:xfrm>
            <a:off x="5954714" y="2897923"/>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1785" name="Rectangle 144"/>
          <p:cNvSpPr>
            <a:spLocks noChangeArrowheads="1"/>
          </p:cNvSpPr>
          <p:nvPr/>
        </p:nvSpPr>
        <p:spPr bwMode="auto">
          <a:xfrm>
            <a:off x="6184900" y="289792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1786" name="Rectangle 145"/>
          <p:cNvSpPr>
            <a:spLocks noChangeArrowheads="1"/>
          </p:cNvSpPr>
          <p:nvPr/>
        </p:nvSpPr>
        <p:spPr bwMode="auto">
          <a:xfrm>
            <a:off x="7797800" y="289792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grpSp>
        <p:nvGrpSpPr>
          <p:cNvPr id="31787" name="Group 146"/>
          <p:cNvGrpSpPr>
            <a:grpSpLocks/>
          </p:cNvGrpSpPr>
          <p:nvPr/>
        </p:nvGrpSpPr>
        <p:grpSpPr bwMode="auto">
          <a:xfrm>
            <a:off x="654050" y="3937395"/>
            <a:ext cx="1843088" cy="166688"/>
            <a:chOff x="231" y="1854"/>
            <a:chExt cx="1161" cy="140"/>
          </a:xfrm>
        </p:grpSpPr>
        <p:sp>
          <p:nvSpPr>
            <p:cNvPr id="31824" name="Rectangle 147"/>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5" name="Rectangle 148"/>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6" name="Rectangle 149"/>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7" name="Rectangle 150"/>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8" name="Rectangle 151"/>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9" name="Rectangle 152"/>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0" name="Rectangle 153"/>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31" name="Rectangle 154"/>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88" name="Rectangle 155"/>
          <p:cNvSpPr>
            <a:spLocks noChangeArrowheads="1"/>
          </p:cNvSpPr>
          <p:nvPr/>
        </p:nvSpPr>
        <p:spPr bwMode="auto">
          <a:xfrm>
            <a:off x="652464" y="371945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1789" name="Rectangle 156"/>
          <p:cNvSpPr>
            <a:spLocks noChangeArrowheads="1"/>
          </p:cNvSpPr>
          <p:nvPr/>
        </p:nvSpPr>
        <p:spPr bwMode="auto">
          <a:xfrm>
            <a:off x="2265364" y="371945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grpSp>
        <p:nvGrpSpPr>
          <p:cNvPr id="31790" name="Group 157"/>
          <p:cNvGrpSpPr>
            <a:grpSpLocks/>
          </p:cNvGrpSpPr>
          <p:nvPr/>
        </p:nvGrpSpPr>
        <p:grpSpPr bwMode="auto">
          <a:xfrm>
            <a:off x="6184900" y="3937395"/>
            <a:ext cx="1843088" cy="166688"/>
            <a:chOff x="231" y="1854"/>
            <a:chExt cx="1161" cy="140"/>
          </a:xfrm>
        </p:grpSpPr>
        <p:sp>
          <p:nvSpPr>
            <p:cNvPr id="31816" name="Rectangle 158"/>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7" name="Rectangle 159"/>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8" name="Rectangle 160"/>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9" name="Rectangle 161"/>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0" name="Rectangle 162"/>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1" name="Rectangle 163"/>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2" name="Rectangle 164"/>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23" name="Rectangle 165"/>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91" name="Group 166"/>
          <p:cNvGrpSpPr>
            <a:grpSpLocks/>
          </p:cNvGrpSpPr>
          <p:nvPr/>
        </p:nvGrpSpPr>
        <p:grpSpPr bwMode="auto">
          <a:xfrm>
            <a:off x="4340225" y="3937395"/>
            <a:ext cx="1843088" cy="166688"/>
            <a:chOff x="231" y="1854"/>
            <a:chExt cx="1161" cy="140"/>
          </a:xfrm>
        </p:grpSpPr>
        <p:sp>
          <p:nvSpPr>
            <p:cNvPr id="31808" name="Rectangle 167"/>
            <p:cNvSpPr>
              <a:spLocks noChangeArrowheads="1"/>
            </p:cNvSpPr>
            <p:nvPr/>
          </p:nvSpPr>
          <p:spPr bwMode="auto">
            <a:xfrm>
              <a:off x="23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9" name="Rectangle 168"/>
            <p:cNvSpPr>
              <a:spLocks noChangeArrowheads="1"/>
            </p:cNvSpPr>
            <p:nvPr/>
          </p:nvSpPr>
          <p:spPr bwMode="auto">
            <a:xfrm>
              <a:off x="37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0" name="Rectangle 169"/>
            <p:cNvSpPr>
              <a:spLocks noChangeArrowheads="1"/>
            </p:cNvSpPr>
            <p:nvPr/>
          </p:nvSpPr>
          <p:spPr bwMode="auto">
            <a:xfrm>
              <a:off x="52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1" name="Rectangle 170"/>
            <p:cNvSpPr>
              <a:spLocks noChangeArrowheads="1"/>
            </p:cNvSpPr>
            <p:nvPr/>
          </p:nvSpPr>
          <p:spPr bwMode="auto">
            <a:xfrm>
              <a:off x="66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2" name="Rectangle 171"/>
            <p:cNvSpPr>
              <a:spLocks noChangeArrowheads="1"/>
            </p:cNvSpPr>
            <p:nvPr/>
          </p:nvSpPr>
          <p:spPr bwMode="auto">
            <a:xfrm>
              <a:off x="81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3" name="Rectangle 172"/>
            <p:cNvSpPr>
              <a:spLocks noChangeArrowheads="1"/>
            </p:cNvSpPr>
            <p:nvPr/>
          </p:nvSpPr>
          <p:spPr bwMode="auto">
            <a:xfrm>
              <a:off x="95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4" name="Rectangle 173"/>
            <p:cNvSpPr>
              <a:spLocks noChangeArrowheads="1"/>
            </p:cNvSpPr>
            <p:nvPr/>
          </p:nvSpPr>
          <p:spPr bwMode="auto">
            <a:xfrm>
              <a:off x="110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15" name="Rectangle 174"/>
            <p:cNvSpPr>
              <a:spLocks noChangeArrowheads="1"/>
            </p:cNvSpPr>
            <p:nvPr/>
          </p:nvSpPr>
          <p:spPr bwMode="auto">
            <a:xfrm>
              <a:off x="124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1792" name="Group 175"/>
          <p:cNvGrpSpPr>
            <a:grpSpLocks/>
          </p:cNvGrpSpPr>
          <p:nvPr/>
        </p:nvGrpSpPr>
        <p:grpSpPr bwMode="auto">
          <a:xfrm>
            <a:off x="2497139" y="3937395"/>
            <a:ext cx="1843087" cy="166688"/>
            <a:chOff x="231" y="1854"/>
            <a:chExt cx="1161" cy="140"/>
          </a:xfrm>
        </p:grpSpPr>
        <p:sp>
          <p:nvSpPr>
            <p:cNvPr id="31800" name="Rectangle 176"/>
            <p:cNvSpPr>
              <a:spLocks noChangeArrowheads="1"/>
            </p:cNvSpPr>
            <p:nvPr/>
          </p:nvSpPr>
          <p:spPr bwMode="auto">
            <a:xfrm>
              <a:off x="23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1" name="Rectangle 177"/>
            <p:cNvSpPr>
              <a:spLocks noChangeArrowheads="1"/>
            </p:cNvSpPr>
            <p:nvPr/>
          </p:nvSpPr>
          <p:spPr bwMode="auto">
            <a:xfrm>
              <a:off x="37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2" name="Rectangle 178"/>
            <p:cNvSpPr>
              <a:spLocks noChangeArrowheads="1"/>
            </p:cNvSpPr>
            <p:nvPr/>
          </p:nvSpPr>
          <p:spPr bwMode="auto">
            <a:xfrm>
              <a:off x="521"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3" name="Rectangle 179"/>
            <p:cNvSpPr>
              <a:spLocks noChangeArrowheads="1"/>
            </p:cNvSpPr>
            <p:nvPr/>
          </p:nvSpPr>
          <p:spPr bwMode="auto">
            <a:xfrm>
              <a:off x="666"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4" name="Rectangle 180"/>
            <p:cNvSpPr>
              <a:spLocks noChangeArrowheads="1"/>
            </p:cNvSpPr>
            <p:nvPr/>
          </p:nvSpPr>
          <p:spPr bwMode="auto">
            <a:xfrm>
              <a:off x="81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5" name="Rectangle 181"/>
            <p:cNvSpPr>
              <a:spLocks noChangeArrowheads="1"/>
            </p:cNvSpPr>
            <p:nvPr/>
          </p:nvSpPr>
          <p:spPr bwMode="auto">
            <a:xfrm>
              <a:off x="95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6" name="Rectangle 182"/>
            <p:cNvSpPr>
              <a:spLocks noChangeArrowheads="1"/>
            </p:cNvSpPr>
            <p:nvPr/>
          </p:nvSpPr>
          <p:spPr bwMode="auto">
            <a:xfrm>
              <a:off x="1102"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1807" name="Rectangle 183"/>
            <p:cNvSpPr>
              <a:spLocks noChangeArrowheads="1"/>
            </p:cNvSpPr>
            <p:nvPr/>
          </p:nvSpPr>
          <p:spPr bwMode="auto">
            <a:xfrm>
              <a:off x="1247" y="1854"/>
              <a:ext cx="145" cy="140"/>
            </a:xfrm>
            <a:prstGeom prst="rect">
              <a:avLst/>
            </a:prstGeom>
            <a:solidFill>
              <a:srgbClr val="99CC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1793" name="Rectangle 184"/>
          <p:cNvSpPr>
            <a:spLocks noChangeArrowheads="1"/>
          </p:cNvSpPr>
          <p:nvPr/>
        </p:nvSpPr>
        <p:spPr bwMode="auto">
          <a:xfrm>
            <a:off x="2497139" y="371945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1794" name="Rectangle 185"/>
          <p:cNvSpPr>
            <a:spLocks noChangeArrowheads="1"/>
          </p:cNvSpPr>
          <p:nvPr/>
        </p:nvSpPr>
        <p:spPr bwMode="auto">
          <a:xfrm>
            <a:off x="4110039" y="371945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1795" name="Rectangle 186"/>
          <p:cNvSpPr>
            <a:spLocks noChangeArrowheads="1"/>
          </p:cNvSpPr>
          <p:nvPr/>
        </p:nvSpPr>
        <p:spPr bwMode="auto">
          <a:xfrm>
            <a:off x="4340225" y="3719454"/>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1796" name="Rectangle 187"/>
          <p:cNvSpPr>
            <a:spLocks noChangeArrowheads="1"/>
          </p:cNvSpPr>
          <p:nvPr/>
        </p:nvSpPr>
        <p:spPr bwMode="auto">
          <a:xfrm>
            <a:off x="5953125" y="3719454"/>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1797" name="Rectangle 188"/>
          <p:cNvSpPr>
            <a:spLocks noChangeArrowheads="1"/>
          </p:cNvSpPr>
          <p:nvPr/>
        </p:nvSpPr>
        <p:spPr bwMode="auto">
          <a:xfrm>
            <a:off x="6183314" y="371945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1798" name="Rectangle 189"/>
          <p:cNvSpPr>
            <a:spLocks noChangeArrowheads="1"/>
          </p:cNvSpPr>
          <p:nvPr/>
        </p:nvSpPr>
        <p:spPr bwMode="auto">
          <a:xfrm>
            <a:off x="7796214" y="371945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sp>
        <p:nvSpPr>
          <p:cNvPr id="31799" name="Rectangle 190"/>
          <p:cNvSpPr>
            <a:spLocks noChangeArrowheads="1"/>
          </p:cNvSpPr>
          <p:nvPr/>
        </p:nvSpPr>
        <p:spPr bwMode="auto">
          <a:xfrm>
            <a:off x="309564" y="3350419"/>
            <a:ext cx="8467725"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rgbClr val="336699"/>
              </a:buClr>
              <a:buFont typeface="Arial" panose="020B0604020202020204" pitchFamily="34" charset="0"/>
              <a:buChar char="•"/>
            </a:pPr>
            <a:r>
              <a:rPr lang="en-US" sz="2000"/>
              <a:t>r0.w1</a:t>
            </a:r>
          </a:p>
          <a:p>
            <a:pPr marL="342900" indent="-342900">
              <a:spcBef>
                <a:spcPct val="20000"/>
              </a:spcBef>
              <a:buClr>
                <a:srgbClr val="336699"/>
              </a:buClr>
              <a:buFont typeface="Arial" panose="020B0604020202020204" pitchFamily="34" charset="0"/>
              <a:buChar char="•"/>
            </a:pPr>
            <a:endParaRPr lang="en-US" sz="2000"/>
          </a:p>
        </p:txBody>
      </p:sp>
      <p:sp>
        <p:nvSpPr>
          <p:cNvPr id="185" name="Rectangle 100"/>
          <p:cNvSpPr>
            <a:spLocks noChangeArrowheads="1"/>
          </p:cNvSpPr>
          <p:nvPr/>
        </p:nvSpPr>
        <p:spPr bwMode="auto">
          <a:xfrm>
            <a:off x="338138" y="816581"/>
            <a:ext cx="8467725"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rgbClr val="336699"/>
              </a:buClr>
              <a:buFont typeface="Arial" panose="020B0604020202020204" pitchFamily="34" charset="0"/>
              <a:buChar char="•"/>
            </a:pPr>
            <a:r>
              <a:rPr lang="en-US" sz="2000" dirty="0"/>
              <a:t>r0.b0</a:t>
            </a:r>
          </a:p>
          <a:p>
            <a:pPr marL="342900" indent="-342900">
              <a:spcBef>
                <a:spcPct val="20000"/>
              </a:spcBef>
              <a:buClr>
                <a:srgbClr val="336699"/>
              </a:buClr>
              <a:buFont typeface="Arial" panose="020B0604020202020204" pitchFamily="34" charset="0"/>
              <a:buChar char="•"/>
            </a:pPr>
            <a:endParaRPr lang="en-US" sz="2000" dirty="0"/>
          </a:p>
        </p:txBody>
      </p:sp>
    </p:spTree>
    <p:extLst>
      <p:ext uri="{BB962C8B-B14F-4D97-AF65-F5344CB8AC3E}">
        <p14:creationId xmlns:p14="http://schemas.microsoft.com/office/powerpoint/2010/main" val="2747516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noFill/>
          <a:ln w="9525">
            <a:noFill/>
            <a:miter lim="800000"/>
            <a:headEnd/>
            <a:tailEnd/>
          </a:ln>
        </p:spPr>
        <p:txBody>
          <a:bodyPr vert="horz" wrap="square" lIns="76179" tIns="38088" rIns="76179" bIns="38088" numCol="1" anchor="ctr" anchorCtr="0" compatLnSpc="1">
            <a:prstTxWarp prst="textNoShape">
              <a:avLst/>
            </a:prstTxWarp>
          </a:bodyPr>
          <a:lstStyle/>
          <a:p>
            <a:pPr eaLnBrk="1" hangingPunct="1"/>
            <a:r>
              <a:rPr lang="en-US" dirty="0"/>
              <a:t>Register Examples (2/2)</a:t>
            </a:r>
          </a:p>
        </p:txBody>
      </p:sp>
      <p:sp>
        <p:nvSpPr>
          <p:cNvPr id="32770" name="Slide Number Placeholder 5"/>
          <p:cNvSpPr>
            <a:spLocks noGrp="1"/>
          </p:cNvSpPr>
          <p:nvPr>
            <p:ph type="sldNum" sz="quarter" idx="10"/>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6pPr>
            <a:lvl7pPr marL="29718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7pPr>
            <a:lvl8pPr marL="34290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8pPr>
            <a:lvl9pPr marL="3886200" indent="-228600" eaLnBrk="0" fontAlgn="base" hangingPunct="0">
              <a:lnSpc>
                <a:spcPct val="90000"/>
              </a:lnSpc>
              <a:spcBef>
                <a:spcPct val="20000"/>
              </a:spcBef>
              <a:spcAft>
                <a:spcPct val="0"/>
              </a:spcAft>
              <a:buFont typeface="Wingdings" pitchFamily="2" charset="2"/>
              <a:defRPr sz="1200">
                <a:solidFill>
                  <a:schemeClr val="tx1"/>
                </a:solidFill>
                <a:latin typeface="Arial" charset="0"/>
              </a:defRPr>
            </a:lvl9pPr>
          </a:lstStyle>
          <a:p>
            <a:pPr eaLnBrk="1" hangingPunct="1"/>
            <a:fld id="{86D9475A-014F-45AB-8D4D-FE743D2DAA07}" type="slidenum">
              <a:rPr lang="en-US" sz="800" smtClean="0">
                <a:solidFill>
                  <a:srgbClr val="000000"/>
                </a:solidFill>
              </a:rPr>
              <a:pPr eaLnBrk="1" hangingPunct="1"/>
              <a:t>3</a:t>
            </a:fld>
            <a:endParaRPr lang="en-US" sz="800">
              <a:solidFill>
                <a:srgbClr val="000000"/>
              </a:solidFill>
            </a:endParaRPr>
          </a:p>
        </p:txBody>
      </p:sp>
      <p:grpSp>
        <p:nvGrpSpPr>
          <p:cNvPr id="32773" name="Group 4"/>
          <p:cNvGrpSpPr>
            <a:grpSpLocks/>
          </p:cNvGrpSpPr>
          <p:nvPr/>
        </p:nvGrpSpPr>
        <p:grpSpPr bwMode="auto">
          <a:xfrm>
            <a:off x="655639" y="1803318"/>
            <a:ext cx="1843087" cy="166688"/>
            <a:chOff x="231" y="1854"/>
            <a:chExt cx="1161" cy="140"/>
          </a:xfrm>
        </p:grpSpPr>
        <p:sp>
          <p:nvSpPr>
            <p:cNvPr id="32941" name="Rectangle 5"/>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2" name="Rectangle 6"/>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3" name="Rectangle 7"/>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4" name="Rectangle 8"/>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5" name="Rectangle 9"/>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6" name="Rectangle 10"/>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7" name="Rectangle 11"/>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8" name="Rectangle 12"/>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2774" name="Rectangle 13"/>
          <p:cNvSpPr>
            <a:spLocks noChangeArrowheads="1"/>
          </p:cNvSpPr>
          <p:nvPr/>
        </p:nvSpPr>
        <p:spPr bwMode="auto">
          <a:xfrm>
            <a:off x="654050" y="158537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2775" name="Rectangle 14"/>
          <p:cNvSpPr>
            <a:spLocks noChangeArrowheads="1"/>
          </p:cNvSpPr>
          <p:nvPr/>
        </p:nvSpPr>
        <p:spPr bwMode="auto">
          <a:xfrm>
            <a:off x="2266950" y="158537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sp>
        <p:nvSpPr>
          <p:cNvPr id="32776" name="Rectangle 16"/>
          <p:cNvSpPr>
            <a:spLocks noChangeArrowheads="1"/>
          </p:cNvSpPr>
          <p:nvPr/>
        </p:nvSpPr>
        <p:spPr bwMode="auto">
          <a:xfrm>
            <a:off x="6186489" y="1802969"/>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777" name="Rectangle 17"/>
          <p:cNvSpPr>
            <a:spLocks noChangeArrowheads="1"/>
          </p:cNvSpPr>
          <p:nvPr/>
        </p:nvSpPr>
        <p:spPr bwMode="auto">
          <a:xfrm>
            <a:off x="6416675" y="1802969"/>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778" name="Rectangle 18"/>
          <p:cNvSpPr>
            <a:spLocks noChangeArrowheads="1"/>
          </p:cNvSpPr>
          <p:nvPr/>
        </p:nvSpPr>
        <p:spPr bwMode="auto">
          <a:xfrm>
            <a:off x="6646864" y="1802969"/>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779" name="Rectangle 19"/>
          <p:cNvSpPr>
            <a:spLocks noChangeArrowheads="1"/>
          </p:cNvSpPr>
          <p:nvPr/>
        </p:nvSpPr>
        <p:spPr bwMode="auto">
          <a:xfrm>
            <a:off x="6877050" y="1802969"/>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780" name="Rectangle 20"/>
          <p:cNvSpPr>
            <a:spLocks noChangeArrowheads="1"/>
          </p:cNvSpPr>
          <p:nvPr/>
        </p:nvSpPr>
        <p:spPr bwMode="auto">
          <a:xfrm>
            <a:off x="7108825" y="1802969"/>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781" name="Rectangle 21"/>
          <p:cNvSpPr>
            <a:spLocks noChangeArrowheads="1"/>
          </p:cNvSpPr>
          <p:nvPr/>
        </p:nvSpPr>
        <p:spPr bwMode="auto">
          <a:xfrm>
            <a:off x="7339014" y="1802969"/>
            <a:ext cx="230187" cy="166199"/>
          </a:xfrm>
          <a:prstGeom prst="rect">
            <a:avLst/>
          </a:prstGeom>
          <a:solidFill>
            <a:srgbClr val="FF00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782" name="Rectangle 22"/>
          <p:cNvSpPr>
            <a:spLocks noChangeArrowheads="1"/>
          </p:cNvSpPr>
          <p:nvPr/>
        </p:nvSpPr>
        <p:spPr bwMode="auto">
          <a:xfrm>
            <a:off x="7569200" y="1802969"/>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783" name="Rectangle 23"/>
          <p:cNvSpPr>
            <a:spLocks noChangeArrowheads="1"/>
          </p:cNvSpPr>
          <p:nvPr/>
        </p:nvSpPr>
        <p:spPr bwMode="auto">
          <a:xfrm>
            <a:off x="7799389" y="1802969"/>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nvGrpSpPr>
          <p:cNvPr id="32784" name="Group 24"/>
          <p:cNvGrpSpPr>
            <a:grpSpLocks/>
          </p:cNvGrpSpPr>
          <p:nvPr/>
        </p:nvGrpSpPr>
        <p:grpSpPr bwMode="auto">
          <a:xfrm>
            <a:off x="4341813" y="1803318"/>
            <a:ext cx="1843087" cy="166688"/>
            <a:chOff x="231" y="1854"/>
            <a:chExt cx="1161" cy="140"/>
          </a:xfrm>
        </p:grpSpPr>
        <p:sp>
          <p:nvSpPr>
            <p:cNvPr id="32933" name="Rectangle 25"/>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4" name="Rectangle 26"/>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5" name="Rectangle 27"/>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6" name="Rectangle 28"/>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7" name="Rectangle 29"/>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8" name="Rectangle 30"/>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9" name="Rectangle 31"/>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40" name="Rectangle 32"/>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2785" name="Group 33"/>
          <p:cNvGrpSpPr>
            <a:grpSpLocks/>
          </p:cNvGrpSpPr>
          <p:nvPr/>
        </p:nvGrpSpPr>
        <p:grpSpPr bwMode="auto">
          <a:xfrm>
            <a:off x="2498725" y="1803318"/>
            <a:ext cx="1843088" cy="166688"/>
            <a:chOff x="231" y="1854"/>
            <a:chExt cx="1161" cy="140"/>
          </a:xfrm>
        </p:grpSpPr>
        <p:sp>
          <p:nvSpPr>
            <p:cNvPr id="32925" name="Rectangle 34"/>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6" name="Rectangle 35"/>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7" name="Rectangle 36"/>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8" name="Rectangle 37"/>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9" name="Rectangle 38"/>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0" name="Rectangle 39"/>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1" name="Rectangle 40"/>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32" name="Rectangle 41"/>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2786" name="Rectangle 42"/>
          <p:cNvSpPr>
            <a:spLocks noChangeArrowheads="1"/>
          </p:cNvSpPr>
          <p:nvPr/>
        </p:nvSpPr>
        <p:spPr bwMode="auto">
          <a:xfrm>
            <a:off x="2498725" y="158537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2787" name="Rectangle 43"/>
          <p:cNvSpPr>
            <a:spLocks noChangeArrowheads="1"/>
          </p:cNvSpPr>
          <p:nvPr/>
        </p:nvSpPr>
        <p:spPr bwMode="auto">
          <a:xfrm>
            <a:off x="4111625" y="158537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2788" name="Rectangle 44"/>
          <p:cNvSpPr>
            <a:spLocks noChangeArrowheads="1"/>
          </p:cNvSpPr>
          <p:nvPr/>
        </p:nvSpPr>
        <p:spPr bwMode="auto">
          <a:xfrm>
            <a:off x="4341814" y="1585378"/>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2789" name="Rectangle 45"/>
          <p:cNvSpPr>
            <a:spLocks noChangeArrowheads="1"/>
          </p:cNvSpPr>
          <p:nvPr/>
        </p:nvSpPr>
        <p:spPr bwMode="auto">
          <a:xfrm>
            <a:off x="5954714" y="1585378"/>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2790" name="Rectangle 46"/>
          <p:cNvSpPr>
            <a:spLocks noChangeArrowheads="1"/>
          </p:cNvSpPr>
          <p:nvPr/>
        </p:nvSpPr>
        <p:spPr bwMode="auto">
          <a:xfrm>
            <a:off x="6184900" y="158537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2791" name="Rectangle 47"/>
          <p:cNvSpPr>
            <a:spLocks noChangeArrowheads="1"/>
          </p:cNvSpPr>
          <p:nvPr/>
        </p:nvSpPr>
        <p:spPr bwMode="auto">
          <a:xfrm>
            <a:off x="7797800" y="1585378"/>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grpSp>
        <p:nvGrpSpPr>
          <p:cNvPr id="32792" name="Group 48"/>
          <p:cNvGrpSpPr>
            <a:grpSpLocks/>
          </p:cNvGrpSpPr>
          <p:nvPr/>
        </p:nvGrpSpPr>
        <p:grpSpPr bwMode="auto">
          <a:xfrm>
            <a:off x="654050" y="2624850"/>
            <a:ext cx="1843088" cy="166688"/>
            <a:chOff x="231" y="1854"/>
            <a:chExt cx="1161" cy="140"/>
          </a:xfrm>
        </p:grpSpPr>
        <p:sp>
          <p:nvSpPr>
            <p:cNvPr id="32917" name="Rectangle 49"/>
            <p:cNvSpPr>
              <a:spLocks noChangeArrowheads="1"/>
            </p:cNvSpPr>
            <p:nvPr/>
          </p:nvSpPr>
          <p:spPr bwMode="auto">
            <a:xfrm>
              <a:off x="231"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8" name="Rectangle 50"/>
            <p:cNvSpPr>
              <a:spLocks noChangeArrowheads="1"/>
            </p:cNvSpPr>
            <p:nvPr/>
          </p:nvSpPr>
          <p:spPr bwMode="auto">
            <a:xfrm>
              <a:off x="376"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9" name="Rectangle 51"/>
            <p:cNvSpPr>
              <a:spLocks noChangeArrowheads="1"/>
            </p:cNvSpPr>
            <p:nvPr/>
          </p:nvSpPr>
          <p:spPr bwMode="auto">
            <a:xfrm>
              <a:off x="521"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0" name="Rectangle 52"/>
            <p:cNvSpPr>
              <a:spLocks noChangeArrowheads="1"/>
            </p:cNvSpPr>
            <p:nvPr/>
          </p:nvSpPr>
          <p:spPr bwMode="auto">
            <a:xfrm>
              <a:off x="666"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1" name="Rectangle 53"/>
            <p:cNvSpPr>
              <a:spLocks noChangeArrowheads="1"/>
            </p:cNvSpPr>
            <p:nvPr/>
          </p:nvSpPr>
          <p:spPr bwMode="auto">
            <a:xfrm>
              <a:off x="812"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2" name="Rectangle 54"/>
            <p:cNvSpPr>
              <a:spLocks noChangeArrowheads="1"/>
            </p:cNvSpPr>
            <p:nvPr/>
          </p:nvSpPr>
          <p:spPr bwMode="auto">
            <a:xfrm>
              <a:off x="957"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3" name="Rectangle 55"/>
            <p:cNvSpPr>
              <a:spLocks noChangeArrowheads="1"/>
            </p:cNvSpPr>
            <p:nvPr/>
          </p:nvSpPr>
          <p:spPr bwMode="auto">
            <a:xfrm>
              <a:off x="1102"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24" name="Rectangle 56"/>
            <p:cNvSpPr>
              <a:spLocks noChangeArrowheads="1"/>
            </p:cNvSpPr>
            <p:nvPr/>
          </p:nvSpPr>
          <p:spPr bwMode="auto">
            <a:xfrm>
              <a:off x="1247" y="1854"/>
              <a:ext cx="145" cy="140"/>
            </a:xfrm>
            <a:prstGeom prst="rect">
              <a:avLst/>
            </a:prstGeom>
            <a:solidFill>
              <a:srgbClr val="FF99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2793" name="Rectangle 57"/>
          <p:cNvSpPr>
            <a:spLocks noChangeArrowheads="1"/>
          </p:cNvSpPr>
          <p:nvPr/>
        </p:nvSpPr>
        <p:spPr bwMode="auto">
          <a:xfrm>
            <a:off x="652464" y="240690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2794" name="Rectangle 58"/>
          <p:cNvSpPr>
            <a:spLocks noChangeArrowheads="1"/>
          </p:cNvSpPr>
          <p:nvPr/>
        </p:nvSpPr>
        <p:spPr bwMode="auto">
          <a:xfrm>
            <a:off x="2265364" y="240690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grpSp>
        <p:nvGrpSpPr>
          <p:cNvPr id="32795" name="Group 59"/>
          <p:cNvGrpSpPr>
            <a:grpSpLocks/>
          </p:cNvGrpSpPr>
          <p:nvPr/>
        </p:nvGrpSpPr>
        <p:grpSpPr bwMode="auto">
          <a:xfrm>
            <a:off x="6184900" y="2624850"/>
            <a:ext cx="1843088" cy="166688"/>
            <a:chOff x="231" y="1854"/>
            <a:chExt cx="1161" cy="140"/>
          </a:xfrm>
        </p:grpSpPr>
        <p:sp>
          <p:nvSpPr>
            <p:cNvPr id="32909" name="Rectangle 60"/>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0" name="Rectangle 61"/>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1" name="Rectangle 62"/>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2" name="Rectangle 63"/>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3" name="Rectangle 64"/>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4" name="Rectangle 65"/>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5" name="Rectangle 66"/>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16" name="Rectangle 67"/>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2796" name="Group 68"/>
          <p:cNvGrpSpPr>
            <a:grpSpLocks/>
          </p:cNvGrpSpPr>
          <p:nvPr/>
        </p:nvGrpSpPr>
        <p:grpSpPr bwMode="auto">
          <a:xfrm>
            <a:off x="4340225" y="2624850"/>
            <a:ext cx="1843088" cy="166688"/>
            <a:chOff x="231" y="1854"/>
            <a:chExt cx="1161" cy="140"/>
          </a:xfrm>
        </p:grpSpPr>
        <p:sp>
          <p:nvSpPr>
            <p:cNvPr id="32901" name="Rectangle 69"/>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2" name="Rectangle 70"/>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3" name="Rectangle 71"/>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4" name="Rectangle 72"/>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5" name="Rectangle 73"/>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6" name="Rectangle 74"/>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7" name="Rectangle 75"/>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8" name="Rectangle 76"/>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2797" name="Group 77"/>
          <p:cNvGrpSpPr>
            <a:grpSpLocks/>
          </p:cNvGrpSpPr>
          <p:nvPr/>
        </p:nvGrpSpPr>
        <p:grpSpPr bwMode="auto">
          <a:xfrm>
            <a:off x="2497139" y="2624850"/>
            <a:ext cx="1843087" cy="166688"/>
            <a:chOff x="231" y="1854"/>
            <a:chExt cx="1161" cy="140"/>
          </a:xfrm>
        </p:grpSpPr>
        <p:sp>
          <p:nvSpPr>
            <p:cNvPr id="32893" name="Rectangle 78"/>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4" name="Rectangle 79"/>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5" name="Rectangle 80"/>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6" name="Rectangle 81"/>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7" name="Rectangle 82"/>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8" name="Rectangle 83"/>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9" name="Rectangle 84"/>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900" name="Rectangle 85"/>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2798" name="Rectangle 86"/>
          <p:cNvSpPr>
            <a:spLocks noChangeArrowheads="1"/>
          </p:cNvSpPr>
          <p:nvPr/>
        </p:nvSpPr>
        <p:spPr bwMode="auto">
          <a:xfrm>
            <a:off x="2497139" y="240690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2799" name="Rectangle 87"/>
          <p:cNvSpPr>
            <a:spLocks noChangeArrowheads="1"/>
          </p:cNvSpPr>
          <p:nvPr/>
        </p:nvSpPr>
        <p:spPr bwMode="auto">
          <a:xfrm>
            <a:off x="4110039" y="240690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2800" name="Rectangle 88"/>
          <p:cNvSpPr>
            <a:spLocks noChangeArrowheads="1"/>
          </p:cNvSpPr>
          <p:nvPr/>
        </p:nvSpPr>
        <p:spPr bwMode="auto">
          <a:xfrm>
            <a:off x="4340225" y="2406909"/>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2801" name="Rectangle 89"/>
          <p:cNvSpPr>
            <a:spLocks noChangeArrowheads="1"/>
          </p:cNvSpPr>
          <p:nvPr/>
        </p:nvSpPr>
        <p:spPr bwMode="auto">
          <a:xfrm>
            <a:off x="5953125" y="2406909"/>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2802" name="Rectangle 90"/>
          <p:cNvSpPr>
            <a:spLocks noChangeArrowheads="1"/>
          </p:cNvSpPr>
          <p:nvPr/>
        </p:nvSpPr>
        <p:spPr bwMode="auto">
          <a:xfrm>
            <a:off x="6183314" y="240690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2803" name="Rectangle 91"/>
          <p:cNvSpPr>
            <a:spLocks noChangeArrowheads="1"/>
          </p:cNvSpPr>
          <p:nvPr/>
        </p:nvSpPr>
        <p:spPr bwMode="auto">
          <a:xfrm>
            <a:off x="7796214" y="2406909"/>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sp>
        <p:nvSpPr>
          <p:cNvPr id="32804" name="Rectangle 92"/>
          <p:cNvSpPr>
            <a:spLocks noChangeArrowheads="1"/>
          </p:cNvSpPr>
          <p:nvPr/>
        </p:nvSpPr>
        <p:spPr bwMode="auto">
          <a:xfrm>
            <a:off x="309564" y="2037874"/>
            <a:ext cx="8467725"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spcBef>
                <a:spcPct val="20000"/>
              </a:spcBef>
              <a:buClr>
                <a:srgbClr val="336699"/>
              </a:buClr>
              <a:buFont typeface="Arial" panose="020B0604020202020204" pitchFamily="34" charset="0"/>
              <a:buChar char="•"/>
            </a:pPr>
            <a:r>
              <a:rPr lang="en-US" sz="2000" dirty="0"/>
              <a:t>r0.w2.b1 = r0.b3</a:t>
            </a:r>
          </a:p>
        </p:txBody>
      </p:sp>
      <p:sp>
        <p:nvSpPr>
          <p:cNvPr id="32805" name="Rectangle 93"/>
          <p:cNvSpPr>
            <a:spLocks noChangeArrowheads="1"/>
          </p:cNvSpPr>
          <p:nvPr/>
        </p:nvSpPr>
        <p:spPr bwMode="auto">
          <a:xfrm>
            <a:off x="309564" y="2902268"/>
            <a:ext cx="8467725"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spcBef>
                <a:spcPct val="20000"/>
              </a:spcBef>
              <a:buClr>
                <a:srgbClr val="336699"/>
              </a:buClr>
              <a:buFont typeface="Arial" panose="020B0604020202020204" pitchFamily="34" charset="0"/>
              <a:buChar char="•"/>
            </a:pPr>
            <a:r>
              <a:rPr lang="en-US" sz="2000"/>
              <a:t>r0.w1.b1.t3 = r0.b2.t3 = r0.t19</a:t>
            </a:r>
          </a:p>
        </p:txBody>
      </p:sp>
      <p:grpSp>
        <p:nvGrpSpPr>
          <p:cNvPr id="32806" name="Group 94"/>
          <p:cNvGrpSpPr>
            <a:grpSpLocks/>
          </p:cNvGrpSpPr>
          <p:nvPr/>
        </p:nvGrpSpPr>
        <p:grpSpPr bwMode="auto">
          <a:xfrm>
            <a:off x="655639" y="3489243"/>
            <a:ext cx="1843087" cy="166688"/>
            <a:chOff x="231" y="1854"/>
            <a:chExt cx="1161" cy="140"/>
          </a:xfrm>
        </p:grpSpPr>
        <p:sp>
          <p:nvSpPr>
            <p:cNvPr id="32885" name="Rectangle 95"/>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6" name="Rectangle 96"/>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7" name="Rectangle 97"/>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8" name="Rectangle 98"/>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9" name="Rectangle 99"/>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0" name="Rectangle 100"/>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1" name="Rectangle 101"/>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92" name="Rectangle 102"/>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2807" name="Rectangle 103"/>
          <p:cNvSpPr>
            <a:spLocks noChangeArrowheads="1"/>
          </p:cNvSpPr>
          <p:nvPr/>
        </p:nvSpPr>
        <p:spPr bwMode="auto">
          <a:xfrm>
            <a:off x="654050" y="327130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2808" name="Rectangle 104"/>
          <p:cNvSpPr>
            <a:spLocks noChangeArrowheads="1"/>
          </p:cNvSpPr>
          <p:nvPr/>
        </p:nvSpPr>
        <p:spPr bwMode="auto">
          <a:xfrm>
            <a:off x="2266950" y="327130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grpSp>
        <p:nvGrpSpPr>
          <p:cNvPr id="32809" name="Group 105"/>
          <p:cNvGrpSpPr>
            <a:grpSpLocks/>
          </p:cNvGrpSpPr>
          <p:nvPr/>
        </p:nvGrpSpPr>
        <p:grpSpPr bwMode="auto">
          <a:xfrm>
            <a:off x="6186489" y="3489243"/>
            <a:ext cx="1843087" cy="166688"/>
            <a:chOff x="231" y="1854"/>
            <a:chExt cx="1161" cy="140"/>
          </a:xfrm>
        </p:grpSpPr>
        <p:sp>
          <p:nvSpPr>
            <p:cNvPr id="32877" name="Rectangle 106"/>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8" name="Rectangle 107"/>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9" name="Rectangle 108"/>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0" name="Rectangle 109"/>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1" name="Rectangle 110"/>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2" name="Rectangle 111"/>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3" name="Rectangle 112"/>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84" name="Rectangle 113"/>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2810" name="Group 114"/>
          <p:cNvGrpSpPr>
            <a:grpSpLocks/>
          </p:cNvGrpSpPr>
          <p:nvPr/>
        </p:nvGrpSpPr>
        <p:grpSpPr bwMode="auto">
          <a:xfrm>
            <a:off x="4341813" y="3489243"/>
            <a:ext cx="1843087" cy="166688"/>
            <a:chOff x="231" y="1854"/>
            <a:chExt cx="1161" cy="140"/>
          </a:xfrm>
        </p:grpSpPr>
        <p:sp>
          <p:nvSpPr>
            <p:cNvPr id="32869" name="Rectangle 115"/>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0" name="Rectangle 116"/>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1" name="Rectangle 117"/>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2" name="Rectangle 118"/>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3" name="Rectangle 119"/>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4" name="Rectangle 120"/>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5" name="Rectangle 121"/>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76" name="Rectangle 122"/>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2811" name="Rectangle 124"/>
          <p:cNvSpPr>
            <a:spLocks noChangeArrowheads="1"/>
          </p:cNvSpPr>
          <p:nvPr/>
        </p:nvSpPr>
        <p:spPr bwMode="auto">
          <a:xfrm>
            <a:off x="2498725" y="3488894"/>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2" name="Rectangle 125"/>
          <p:cNvSpPr>
            <a:spLocks noChangeArrowheads="1"/>
          </p:cNvSpPr>
          <p:nvPr/>
        </p:nvSpPr>
        <p:spPr bwMode="auto">
          <a:xfrm>
            <a:off x="2728914" y="3488894"/>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3" name="Rectangle 126"/>
          <p:cNvSpPr>
            <a:spLocks noChangeArrowheads="1"/>
          </p:cNvSpPr>
          <p:nvPr/>
        </p:nvSpPr>
        <p:spPr bwMode="auto">
          <a:xfrm>
            <a:off x="2959100" y="3488894"/>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4" name="Rectangle 127"/>
          <p:cNvSpPr>
            <a:spLocks noChangeArrowheads="1"/>
          </p:cNvSpPr>
          <p:nvPr/>
        </p:nvSpPr>
        <p:spPr bwMode="auto">
          <a:xfrm>
            <a:off x="3189289" y="3488894"/>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5" name="Rectangle 128"/>
          <p:cNvSpPr>
            <a:spLocks noChangeArrowheads="1"/>
          </p:cNvSpPr>
          <p:nvPr/>
        </p:nvSpPr>
        <p:spPr bwMode="auto">
          <a:xfrm>
            <a:off x="3421064" y="3488894"/>
            <a:ext cx="230187" cy="166199"/>
          </a:xfrm>
          <a:prstGeom prst="rect">
            <a:avLst/>
          </a:prstGeom>
          <a:solidFill>
            <a:srgbClr val="FF00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6" name="Rectangle 129"/>
          <p:cNvSpPr>
            <a:spLocks noChangeArrowheads="1"/>
          </p:cNvSpPr>
          <p:nvPr/>
        </p:nvSpPr>
        <p:spPr bwMode="auto">
          <a:xfrm>
            <a:off x="3651250" y="3488894"/>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7" name="Rectangle 130"/>
          <p:cNvSpPr>
            <a:spLocks noChangeArrowheads="1"/>
          </p:cNvSpPr>
          <p:nvPr/>
        </p:nvSpPr>
        <p:spPr bwMode="auto">
          <a:xfrm>
            <a:off x="3881439" y="3488894"/>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8" name="Rectangle 131"/>
          <p:cNvSpPr>
            <a:spLocks noChangeArrowheads="1"/>
          </p:cNvSpPr>
          <p:nvPr/>
        </p:nvSpPr>
        <p:spPr bwMode="auto">
          <a:xfrm>
            <a:off x="4111625" y="3488894"/>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19" name="Rectangle 132"/>
          <p:cNvSpPr>
            <a:spLocks noChangeArrowheads="1"/>
          </p:cNvSpPr>
          <p:nvPr/>
        </p:nvSpPr>
        <p:spPr bwMode="auto">
          <a:xfrm>
            <a:off x="2498725" y="327130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2820" name="Rectangle 133"/>
          <p:cNvSpPr>
            <a:spLocks noChangeArrowheads="1"/>
          </p:cNvSpPr>
          <p:nvPr/>
        </p:nvSpPr>
        <p:spPr bwMode="auto">
          <a:xfrm>
            <a:off x="4111625" y="327130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2821" name="Rectangle 134"/>
          <p:cNvSpPr>
            <a:spLocks noChangeArrowheads="1"/>
          </p:cNvSpPr>
          <p:nvPr/>
        </p:nvSpPr>
        <p:spPr bwMode="auto">
          <a:xfrm>
            <a:off x="4341814" y="3271303"/>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2822" name="Rectangle 135"/>
          <p:cNvSpPr>
            <a:spLocks noChangeArrowheads="1"/>
          </p:cNvSpPr>
          <p:nvPr/>
        </p:nvSpPr>
        <p:spPr bwMode="auto">
          <a:xfrm>
            <a:off x="5954714" y="3271303"/>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2823" name="Rectangle 136"/>
          <p:cNvSpPr>
            <a:spLocks noChangeArrowheads="1"/>
          </p:cNvSpPr>
          <p:nvPr/>
        </p:nvSpPr>
        <p:spPr bwMode="auto">
          <a:xfrm>
            <a:off x="6184900" y="327130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2824" name="Rectangle 137"/>
          <p:cNvSpPr>
            <a:spLocks noChangeArrowheads="1"/>
          </p:cNvSpPr>
          <p:nvPr/>
        </p:nvSpPr>
        <p:spPr bwMode="auto">
          <a:xfrm>
            <a:off x="7797800" y="3271303"/>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sp>
        <p:nvSpPr>
          <p:cNvPr id="32825" name="Rectangle 139"/>
          <p:cNvSpPr>
            <a:spLocks noChangeArrowheads="1"/>
          </p:cNvSpPr>
          <p:nvPr/>
        </p:nvSpPr>
        <p:spPr bwMode="auto">
          <a:xfrm>
            <a:off x="654050" y="4310426"/>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26" name="Rectangle 140"/>
          <p:cNvSpPr>
            <a:spLocks noChangeArrowheads="1"/>
          </p:cNvSpPr>
          <p:nvPr/>
        </p:nvSpPr>
        <p:spPr bwMode="auto">
          <a:xfrm>
            <a:off x="884239" y="4310426"/>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27" name="Rectangle 141"/>
          <p:cNvSpPr>
            <a:spLocks noChangeArrowheads="1"/>
          </p:cNvSpPr>
          <p:nvPr/>
        </p:nvSpPr>
        <p:spPr bwMode="auto">
          <a:xfrm>
            <a:off x="1114425" y="4310426"/>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28" name="Rectangle 142"/>
          <p:cNvSpPr>
            <a:spLocks noChangeArrowheads="1"/>
          </p:cNvSpPr>
          <p:nvPr/>
        </p:nvSpPr>
        <p:spPr bwMode="auto">
          <a:xfrm>
            <a:off x="1344614" y="4310426"/>
            <a:ext cx="230187" cy="166199"/>
          </a:xfrm>
          <a:prstGeom prst="rect">
            <a:avLst/>
          </a:prstGeom>
          <a:solidFill>
            <a:srgbClr val="FF0000"/>
          </a:solidFill>
          <a:ln w="12700" algn="ctr">
            <a:solidFill>
              <a:schemeClr val="tx1"/>
            </a:solidFill>
            <a:miter lim="800000"/>
            <a:headEnd/>
            <a:tailEnd/>
          </a:ln>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29" name="Rectangle 143"/>
          <p:cNvSpPr>
            <a:spLocks noChangeArrowheads="1"/>
          </p:cNvSpPr>
          <p:nvPr/>
        </p:nvSpPr>
        <p:spPr bwMode="auto">
          <a:xfrm>
            <a:off x="1576389" y="4310426"/>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30" name="Rectangle 144"/>
          <p:cNvSpPr>
            <a:spLocks noChangeArrowheads="1"/>
          </p:cNvSpPr>
          <p:nvPr/>
        </p:nvSpPr>
        <p:spPr bwMode="auto">
          <a:xfrm>
            <a:off x="1806575" y="4310426"/>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31" name="Rectangle 145"/>
          <p:cNvSpPr>
            <a:spLocks noChangeArrowheads="1"/>
          </p:cNvSpPr>
          <p:nvPr/>
        </p:nvSpPr>
        <p:spPr bwMode="auto">
          <a:xfrm>
            <a:off x="2036764" y="4310426"/>
            <a:ext cx="230187"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32" name="Rectangle 146"/>
          <p:cNvSpPr>
            <a:spLocks noChangeArrowheads="1"/>
          </p:cNvSpPr>
          <p:nvPr/>
        </p:nvSpPr>
        <p:spPr bwMode="auto">
          <a:xfrm>
            <a:off x="2266950" y="4310426"/>
            <a:ext cx="230188" cy="16619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33" name="Rectangle 147"/>
          <p:cNvSpPr>
            <a:spLocks noChangeArrowheads="1"/>
          </p:cNvSpPr>
          <p:nvPr/>
        </p:nvSpPr>
        <p:spPr bwMode="auto">
          <a:xfrm>
            <a:off x="652464" y="409283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31</a:t>
            </a:r>
          </a:p>
        </p:txBody>
      </p:sp>
      <p:sp>
        <p:nvSpPr>
          <p:cNvPr id="32834" name="Rectangle 148"/>
          <p:cNvSpPr>
            <a:spLocks noChangeArrowheads="1"/>
          </p:cNvSpPr>
          <p:nvPr/>
        </p:nvSpPr>
        <p:spPr bwMode="auto">
          <a:xfrm>
            <a:off x="2265364" y="409283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24</a:t>
            </a:r>
          </a:p>
        </p:txBody>
      </p:sp>
      <p:grpSp>
        <p:nvGrpSpPr>
          <p:cNvPr id="32835" name="Group 149"/>
          <p:cNvGrpSpPr>
            <a:grpSpLocks/>
          </p:cNvGrpSpPr>
          <p:nvPr/>
        </p:nvGrpSpPr>
        <p:grpSpPr bwMode="auto">
          <a:xfrm>
            <a:off x="6184900" y="4310775"/>
            <a:ext cx="1843088" cy="166688"/>
            <a:chOff x="231" y="1854"/>
            <a:chExt cx="1161" cy="140"/>
          </a:xfrm>
        </p:grpSpPr>
        <p:sp>
          <p:nvSpPr>
            <p:cNvPr id="32861" name="Rectangle 150"/>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2" name="Rectangle 151"/>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3" name="Rectangle 152"/>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4" name="Rectangle 153"/>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5" name="Rectangle 154"/>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6" name="Rectangle 155"/>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7" name="Rectangle 156"/>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8" name="Rectangle 157"/>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2836" name="Group 158"/>
          <p:cNvGrpSpPr>
            <a:grpSpLocks/>
          </p:cNvGrpSpPr>
          <p:nvPr/>
        </p:nvGrpSpPr>
        <p:grpSpPr bwMode="auto">
          <a:xfrm>
            <a:off x="4340225" y="4310775"/>
            <a:ext cx="1843088" cy="166688"/>
            <a:chOff x="231" y="1854"/>
            <a:chExt cx="1161" cy="140"/>
          </a:xfrm>
        </p:grpSpPr>
        <p:sp>
          <p:nvSpPr>
            <p:cNvPr id="32853" name="Rectangle 159"/>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4" name="Rectangle 160"/>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5" name="Rectangle 161"/>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6" name="Rectangle 162"/>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7" name="Rectangle 163"/>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8" name="Rectangle 164"/>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9" name="Rectangle 165"/>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60" name="Rectangle 166"/>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grpSp>
        <p:nvGrpSpPr>
          <p:cNvPr id="32837" name="Group 167"/>
          <p:cNvGrpSpPr>
            <a:grpSpLocks/>
          </p:cNvGrpSpPr>
          <p:nvPr/>
        </p:nvGrpSpPr>
        <p:grpSpPr bwMode="auto">
          <a:xfrm>
            <a:off x="2497139" y="4310775"/>
            <a:ext cx="1843087" cy="166688"/>
            <a:chOff x="231" y="1854"/>
            <a:chExt cx="1161" cy="140"/>
          </a:xfrm>
        </p:grpSpPr>
        <p:sp>
          <p:nvSpPr>
            <p:cNvPr id="32845" name="Rectangle 168"/>
            <p:cNvSpPr>
              <a:spLocks noChangeArrowheads="1"/>
            </p:cNvSpPr>
            <p:nvPr/>
          </p:nvSpPr>
          <p:spPr bwMode="auto">
            <a:xfrm>
              <a:off x="23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46" name="Rectangle 169"/>
            <p:cNvSpPr>
              <a:spLocks noChangeArrowheads="1"/>
            </p:cNvSpPr>
            <p:nvPr/>
          </p:nvSpPr>
          <p:spPr bwMode="auto">
            <a:xfrm>
              <a:off x="37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47" name="Rectangle 170"/>
            <p:cNvSpPr>
              <a:spLocks noChangeArrowheads="1"/>
            </p:cNvSpPr>
            <p:nvPr/>
          </p:nvSpPr>
          <p:spPr bwMode="auto">
            <a:xfrm>
              <a:off x="521"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48" name="Rectangle 171"/>
            <p:cNvSpPr>
              <a:spLocks noChangeArrowheads="1"/>
            </p:cNvSpPr>
            <p:nvPr/>
          </p:nvSpPr>
          <p:spPr bwMode="auto">
            <a:xfrm>
              <a:off x="666"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49" name="Rectangle 172"/>
            <p:cNvSpPr>
              <a:spLocks noChangeArrowheads="1"/>
            </p:cNvSpPr>
            <p:nvPr/>
          </p:nvSpPr>
          <p:spPr bwMode="auto">
            <a:xfrm>
              <a:off x="81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0" name="Rectangle 173"/>
            <p:cNvSpPr>
              <a:spLocks noChangeArrowheads="1"/>
            </p:cNvSpPr>
            <p:nvPr/>
          </p:nvSpPr>
          <p:spPr bwMode="auto">
            <a:xfrm>
              <a:off x="95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1" name="Rectangle 174"/>
            <p:cNvSpPr>
              <a:spLocks noChangeArrowheads="1"/>
            </p:cNvSpPr>
            <p:nvPr/>
          </p:nvSpPr>
          <p:spPr bwMode="auto">
            <a:xfrm>
              <a:off x="1102"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sp>
          <p:nvSpPr>
            <p:cNvPr id="32852" name="Rectangle 175"/>
            <p:cNvSpPr>
              <a:spLocks noChangeArrowheads="1"/>
            </p:cNvSpPr>
            <p:nvPr/>
          </p:nvSpPr>
          <p:spPr bwMode="auto">
            <a:xfrm>
              <a:off x="1247" y="1854"/>
              <a:ext cx="145" cy="1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nSpc>
                  <a:spcPct val="90000"/>
                </a:lnSpc>
                <a:spcBef>
                  <a:spcPct val="20000"/>
                </a:spcBef>
                <a:buFont typeface="Wingdings" pitchFamily="2" charset="2"/>
                <a:buNone/>
              </a:pPr>
              <a:endParaRPr lang="en-US" sz="1200">
                <a:solidFill>
                  <a:srgbClr val="000000"/>
                </a:solidFill>
              </a:endParaRPr>
            </a:p>
          </p:txBody>
        </p:sp>
      </p:grpSp>
      <p:sp>
        <p:nvSpPr>
          <p:cNvPr id="32838" name="Rectangle 176"/>
          <p:cNvSpPr>
            <a:spLocks noChangeArrowheads="1"/>
          </p:cNvSpPr>
          <p:nvPr/>
        </p:nvSpPr>
        <p:spPr bwMode="auto">
          <a:xfrm>
            <a:off x="2497139" y="409283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23</a:t>
            </a:r>
          </a:p>
        </p:txBody>
      </p:sp>
      <p:sp>
        <p:nvSpPr>
          <p:cNvPr id="32839" name="Rectangle 177"/>
          <p:cNvSpPr>
            <a:spLocks noChangeArrowheads="1"/>
          </p:cNvSpPr>
          <p:nvPr/>
        </p:nvSpPr>
        <p:spPr bwMode="auto">
          <a:xfrm>
            <a:off x="4110039" y="409283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16</a:t>
            </a:r>
          </a:p>
        </p:txBody>
      </p:sp>
      <p:sp>
        <p:nvSpPr>
          <p:cNvPr id="32840" name="Rectangle 178"/>
          <p:cNvSpPr>
            <a:spLocks noChangeArrowheads="1"/>
          </p:cNvSpPr>
          <p:nvPr/>
        </p:nvSpPr>
        <p:spPr bwMode="auto">
          <a:xfrm>
            <a:off x="4340225" y="4092834"/>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15</a:t>
            </a:r>
          </a:p>
        </p:txBody>
      </p:sp>
      <p:sp>
        <p:nvSpPr>
          <p:cNvPr id="32841" name="Rectangle 179"/>
          <p:cNvSpPr>
            <a:spLocks noChangeArrowheads="1"/>
          </p:cNvSpPr>
          <p:nvPr/>
        </p:nvSpPr>
        <p:spPr bwMode="auto">
          <a:xfrm>
            <a:off x="5953125" y="4092834"/>
            <a:ext cx="230188"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8</a:t>
            </a:r>
          </a:p>
        </p:txBody>
      </p:sp>
      <p:sp>
        <p:nvSpPr>
          <p:cNvPr id="32842" name="Rectangle 180"/>
          <p:cNvSpPr>
            <a:spLocks noChangeArrowheads="1"/>
          </p:cNvSpPr>
          <p:nvPr/>
        </p:nvSpPr>
        <p:spPr bwMode="auto">
          <a:xfrm>
            <a:off x="6183314" y="409283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7</a:t>
            </a:r>
          </a:p>
        </p:txBody>
      </p:sp>
      <p:sp>
        <p:nvSpPr>
          <p:cNvPr id="32843" name="Rectangle 181"/>
          <p:cNvSpPr>
            <a:spLocks noChangeArrowheads="1"/>
          </p:cNvSpPr>
          <p:nvPr/>
        </p:nvSpPr>
        <p:spPr bwMode="auto">
          <a:xfrm>
            <a:off x="7796214" y="4092834"/>
            <a:ext cx="230187" cy="18466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eaLnBrk="0" hangingPunct="0"/>
            <a:r>
              <a:rPr lang="en-US" sz="1200">
                <a:solidFill>
                  <a:srgbClr val="000000"/>
                </a:solidFill>
              </a:rPr>
              <a:t>0</a:t>
            </a:r>
          </a:p>
        </p:txBody>
      </p:sp>
      <p:sp>
        <p:nvSpPr>
          <p:cNvPr id="32844" name="Rectangle 182"/>
          <p:cNvSpPr>
            <a:spLocks noChangeArrowheads="1"/>
          </p:cNvSpPr>
          <p:nvPr/>
        </p:nvSpPr>
        <p:spPr bwMode="auto">
          <a:xfrm>
            <a:off x="309564" y="3722609"/>
            <a:ext cx="8467725" cy="38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spcBef>
                <a:spcPct val="20000"/>
              </a:spcBef>
              <a:buClr>
                <a:srgbClr val="336699"/>
              </a:buClr>
              <a:buFont typeface="Arial" panose="020B0604020202020204" pitchFamily="34" charset="0"/>
              <a:buChar char="•"/>
            </a:pPr>
            <a:r>
              <a:rPr lang="en-US" sz="2000"/>
              <a:t>r0.w2.t12 = r0.t28</a:t>
            </a:r>
          </a:p>
        </p:txBody>
      </p:sp>
      <p:sp>
        <p:nvSpPr>
          <p:cNvPr id="2" name="TextBox 1"/>
          <p:cNvSpPr txBox="1"/>
          <p:nvPr/>
        </p:nvSpPr>
        <p:spPr>
          <a:xfrm>
            <a:off x="655639" y="882581"/>
            <a:ext cx="6857584" cy="369332"/>
          </a:xfrm>
          <a:prstGeom prst="rect">
            <a:avLst/>
          </a:prstGeom>
          <a:noFill/>
        </p:spPr>
        <p:txBody>
          <a:bodyPr wrap="square" rtlCol="0">
            <a:spAutoFit/>
          </a:bodyPr>
          <a:lstStyle/>
          <a:p>
            <a:r>
              <a:rPr lang="fr-FR" dirty="0"/>
              <a:t>There can be </a:t>
            </a:r>
            <a:r>
              <a:rPr lang="fr-FR" dirty="0" err="1"/>
              <a:t>several</a:t>
            </a:r>
            <a:r>
              <a:rPr lang="fr-FR" dirty="0"/>
              <a:t> </a:t>
            </a:r>
            <a:r>
              <a:rPr lang="fr-FR" dirty="0" err="1"/>
              <a:t>ways</a:t>
            </a:r>
            <a:r>
              <a:rPr lang="fr-FR" dirty="0"/>
              <a:t> to </a:t>
            </a:r>
            <a:r>
              <a:rPr lang="fr-FR" dirty="0" err="1"/>
              <a:t>access</a:t>
            </a:r>
            <a:r>
              <a:rPr lang="fr-FR" dirty="0"/>
              <a:t> the </a:t>
            </a:r>
            <a:r>
              <a:rPr lang="fr-FR" dirty="0" err="1"/>
              <a:t>same</a:t>
            </a:r>
            <a:r>
              <a:rPr lang="fr-FR" dirty="0"/>
              <a:t> set of bits</a:t>
            </a:r>
            <a:endParaRPr lang="en-US" dirty="0"/>
          </a:p>
        </p:txBody>
      </p:sp>
      <p:sp>
        <p:nvSpPr>
          <p:cNvPr id="182" name="Rectangle 92"/>
          <p:cNvSpPr>
            <a:spLocks noChangeArrowheads="1"/>
          </p:cNvSpPr>
          <p:nvPr/>
        </p:nvSpPr>
        <p:spPr bwMode="auto">
          <a:xfrm>
            <a:off x="309563" y="1196043"/>
            <a:ext cx="8467725"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spcBef>
                <a:spcPct val="20000"/>
              </a:spcBef>
              <a:buClr>
                <a:srgbClr val="336699"/>
              </a:buClr>
              <a:buFont typeface="Arial" panose="020B0604020202020204" pitchFamily="34" charset="0"/>
              <a:buChar char="•"/>
            </a:pPr>
            <a:r>
              <a:rPr lang="en-US" sz="2000" dirty="0"/>
              <a:t>r0.t2</a:t>
            </a:r>
          </a:p>
        </p:txBody>
      </p:sp>
    </p:spTree>
    <p:extLst>
      <p:ext uri="{BB962C8B-B14F-4D97-AF65-F5344CB8AC3E}">
        <p14:creationId xmlns:p14="http://schemas.microsoft.com/office/powerpoint/2010/main" val="183323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2469"/>
            <a:ext cx="8458200" cy="593809"/>
          </a:xfrm>
        </p:spPr>
        <p:txBody>
          <a:bodyPr/>
          <a:lstStyle/>
          <a:p>
            <a:r>
              <a:rPr lang="de-DE" sz="2800" dirty="0"/>
              <a:t>Arithmetic Instructions</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a:lnSpc>
                <a:spcPct val="120000"/>
              </a:lnSpc>
            </a:pPr>
            <a:r>
              <a:rPr lang="fr-FR" b="1" kern="0" dirty="0"/>
              <a:t>Operation: </a:t>
            </a:r>
          </a:p>
          <a:p>
            <a:pPr lvl="1">
              <a:lnSpc>
                <a:spcPct val="120000"/>
              </a:lnSpc>
            </a:pPr>
            <a:r>
              <a:rPr lang="fr-FR" kern="0" dirty="0" err="1"/>
              <a:t>Perform</a:t>
            </a:r>
            <a:r>
              <a:rPr lang="fr-FR" kern="0" dirty="0"/>
              <a:t> </a:t>
            </a:r>
            <a:r>
              <a:rPr lang="fr-FR" kern="0" dirty="0" err="1"/>
              <a:t>unsigned</a:t>
            </a:r>
            <a:r>
              <a:rPr lang="fr-FR" kern="0" dirty="0"/>
              <a:t> 32-bit </a:t>
            </a:r>
            <a:r>
              <a:rPr lang="fr-FR" kern="0" dirty="0" err="1"/>
              <a:t>integer</a:t>
            </a:r>
            <a:r>
              <a:rPr lang="fr-FR" kern="0" dirty="0"/>
              <a:t> </a:t>
            </a:r>
            <a:r>
              <a:rPr lang="fr-FR" kern="0" dirty="0" err="1"/>
              <a:t>operation</a:t>
            </a:r>
            <a:r>
              <a:rPr lang="fr-FR" kern="0" dirty="0"/>
              <a:t> on </a:t>
            </a:r>
            <a:r>
              <a:rPr lang="fr-FR" kern="0" dirty="0" err="1"/>
              <a:t>two</a:t>
            </a:r>
            <a:r>
              <a:rPr lang="fr-FR" kern="0" dirty="0"/>
              <a:t> 32-bit </a:t>
            </a:r>
            <a:r>
              <a:rPr lang="fr-FR" kern="0" dirty="0" err="1"/>
              <a:t>zero-extended</a:t>
            </a:r>
            <a:r>
              <a:rPr lang="fr-FR" kern="0" dirty="0"/>
              <a:t> source values. </a:t>
            </a:r>
          </a:p>
          <a:p>
            <a:pPr lvl="1">
              <a:lnSpc>
                <a:spcPct val="120000"/>
              </a:lnSpc>
            </a:pPr>
            <a:r>
              <a:rPr lang="fr-FR" kern="0" dirty="0"/>
              <a:t>Position the carry bit.</a:t>
            </a:r>
          </a:p>
          <a:p>
            <a:pPr>
              <a:lnSpc>
                <a:spcPct val="120000"/>
              </a:lnSpc>
            </a:pPr>
            <a:r>
              <a:rPr lang="fr-FR" b="1" kern="0" dirty="0"/>
              <a:t>Format:  </a:t>
            </a:r>
            <a:r>
              <a:rPr lang="fr-FR" kern="0" dirty="0"/>
              <a:t>&lt;</a:t>
            </a:r>
            <a:r>
              <a:rPr lang="fr-FR" kern="0" dirty="0" err="1"/>
              <a:t>operation</a:t>
            </a:r>
            <a:r>
              <a:rPr lang="fr-FR" kern="0" dirty="0"/>
              <a:t>&gt; Reg1, Reg2, OP(255)</a:t>
            </a:r>
          </a:p>
        </p:txBody>
      </p:sp>
    </p:spTree>
    <p:extLst>
      <p:ext uri="{BB962C8B-B14F-4D97-AF65-F5344CB8AC3E}">
        <p14:creationId xmlns:p14="http://schemas.microsoft.com/office/powerpoint/2010/main" val="2283582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ADD</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5559" y="703262"/>
            <a:ext cx="8324607"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t>ADD Reg1, Reg2, OP(255) </a:t>
            </a:r>
            <a:r>
              <a:rPr lang="fr-FR" sz="1600" kern="0" dirty="0">
                <a:sym typeface="Wingdings" panose="05000000000000000000" pitchFamily="2" charset="2"/>
              </a:rPr>
              <a:t> IM(256) </a:t>
            </a:r>
            <a:endParaRPr lang="fr-FR" sz="1600" kern="0" dirty="0"/>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 + OP(255) </a:t>
            </a:r>
            <a:r>
              <a:rPr lang="fr-FR" sz="1600" kern="0" dirty="0">
                <a:sym typeface="Wingdings" panose="05000000000000000000" pitchFamily="2" charset="2"/>
              </a:rPr>
              <a:t>Either register field 8/16/32-bit or value 0-255</a:t>
            </a:r>
            <a:endParaRPr lang="fr-FR" sz="1600" kern="0" dirty="0"/>
          </a:p>
          <a:p>
            <a:pPr marL="0" indent="0">
              <a:lnSpc>
                <a:spcPct val="120000"/>
              </a:lnSpc>
              <a:buNone/>
            </a:pPr>
            <a:r>
              <a:rPr lang="fr-FR" sz="1600" b="1" kern="0" dirty="0"/>
              <a:t>Example:</a:t>
            </a:r>
          </a:p>
          <a:p>
            <a:pPr marL="0" indent="0">
              <a:lnSpc>
                <a:spcPct val="120000"/>
              </a:lnSpc>
              <a:buNone/>
            </a:pPr>
            <a:r>
              <a:rPr lang="fr-FR" sz="1600" kern="0" dirty="0"/>
              <a:t>                 </a:t>
            </a:r>
          </a:p>
        </p:txBody>
      </p:sp>
      <p:sp>
        <p:nvSpPr>
          <p:cNvPr id="6" name="TextBox 5">
            <a:extLst>
              <a:ext uri="{FF2B5EF4-FFF2-40B4-BE49-F238E27FC236}">
                <a16:creationId xmlns:a16="http://schemas.microsoft.com/office/drawing/2014/main" id="{D7B11EC9-1C70-49C6-98D5-0BF8B94E0114}"/>
              </a:ext>
            </a:extLst>
          </p:cNvPr>
          <p:cNvSpPr txBox="1"/>
          <p:nvPr/>
        </p:nvSpPr>
        <p:spPr>
          <a:xfrm>
            <a:off x="1231336" y="2650406"/>
            <a:ext cx="1967205" cy="360612"/>
          </a:xfrm>
          <a:prstGeom prst="rect">
            <a:avLst/>
          </a:prstGeom>
          <a:noFill/>
        </p:spPr>
        <p:txBody>
          <a:bodyPr wrap="none" rtlCol="0">
            <a:spAutoFit/>
          </a:bodyPr>
          <a:lstStyle/>
          <a:p>
            <a:pPr marL="0" indent="0">
              <a:lnSpc>
                <a:spcPct val="120000"/>
              </a:lnSpc>
              <a:buNone/>
            </a:pPr>
            <a:r>
              <a:rPr lang="fr-FR" sz="1600" kern="0" dirty="0" err="1"/>
              <a:t>add</a:t>
            </a:r>
            <a:r>
              <a:rPr lang="fr-FR" sz="1600" kern="0" dirty="0"/>
              <a:t> r2, r0.b0, r1.w2</a:t>
            </a:r>
          </a:p>
        </p:txBody>
      </p:sp>
      <p:sp>
        <p:nvSpPr>
          <p:cNvPr id="11" name="TextBox 10">
            <a:extLst>
              <a:ext uri="{FF2B5EF4-FFF2-40B4-BE49-F238E27FC236}">
                <a16:creationId xmlns:a16="http://schemas.microsoft.com/office/drawing/2014/main" id="{16BA3C17-8F10-41DB-9E65-50C664698C21}"/>
              </a:ext>
            </a:extLst>
          </p:cNvPr>
          <p:cNvSpPr txBox="1"/>
          <p:nvPr/>
        </p:nvSpPr>
        <p:spPr>
          <a:xfrm>
            <a:off x="1231336" y="3113929"/>
            <a:ext cx="1923925" cy="360740"/>
          </a:xfrm>
          <a:prstGeom prst="rect">
            <a:avLst/>
          </a:prstGeom>
          <a:noFill/>
        </p:spPr>
        <p:txBody>
          <a:bodyPr wrap="none" rtlCol="0">
            <a:spAutoFit/>
          </a:bodyPr>
          <a:lstStyle/>
          <a:p>
            <a:pPr marL="0" indent="0">
              <a:lnSpc>
                <a:spcPct val="120000"/>
              </a:lnSpc>
              <a:buNone/>
            </a:pPr>
            <a:r>
              <a:rPr lang="fr-FR" sz="1600" kern="0" dirty="0">
                <a:sym typeface="Wingdings" panose="05000000000000000000" pitchFamily="2" charset="2"/>
              </a:rPr>
              <a:t> r2   =   01 00 FE</a:t>
            </a:r>
            <a:endParaRPr lang="fr-FR" sz="1600" kern="0" dirty="0"/>
          </a:p>
        </p:txBody>
      </p:sp>
      <p:sp>
        <p:nvSpPr>
          <p:cNvPr id="8" name="TextBox 7">
            <a:extLst>
              <a:ext uri="{FF2B5EF4-FFF2-40B4-BE49-F238E27FC236}">
                <a16:creationId xmlns:a16="http://schemas.microsoft.com/office/drawing/2014/main" id="{103025BD-6C47-41BA-A1BA-49DBA27F0DB2}"/>
              </a:ext>
            </a:extLst>
          </p:cNvPr>
          <p:cNvSpPr txBox="1"/>
          <p:nvPr/>
        </p:nvSpPr>
        <p:spPr>
          <a:xfrm>
            <a:off x="117826" y="4299061"/>
            <a:ext cx="5992218" cy="307777"/>
          </a:xfrm>
          <a:prstGeom prst="rect">
            <a:avLst/>
          </a:prstGeom>
          <a:noFill/>
        </p:spPr>
        <p:txBody>
          <a:bodyPr wrap="none" rtlCol="0">
            <a:spAutoFit/>
          </a:bodyPr>
          <a:lstStyle/>
          <a:p>
            <a:r>
              <a:rPr lang="de-DE" sz="1400" b="1" dirty="0"/>
              <a:t>Note: </a:t>
            </a:r>
            <a:r>
              <a:rPr lang="de-DE" sz="1400" dirty="0"/>
              <a:t>If OP value &gt; 255, it is NOT compiled and shows an error message</a:t>
            </a:r>
            <a:endParaRPr lang="en-US" sz="1400" dirty="0"/>
          </a:p>
        </p:txBody>
      </p:sp>
      <p:pic>
        <p:nvPicPr>
          <p:cNvPr id="4" name="Picture 3">
            <a:extLst>
              <a:ext uri="{FF2B5EF4-FFF2-40B4-BE49-F238E27FC236}">
                <a16:creationId xmlns:a16="http://schemas.microsoft.com/office/drawing/2014/main" id="{96551BF1-B359-424D-A375-E3BE8B37A277}"/>
              </a:ext>
            </a:extLst>
          </p:cNvPr>
          <p:cNvPicPr>
            <a:picLocks noChangeAspect="1"/>
          </p:cNvPicPr>
          <p:nvPr/>
        </p:nvPicPr>
        <p:blipFill>
          <a:blip r:embed="rId2"/>
          <a:stretch>
            <a:fillRect/>
          </a:stretch>
        </p:blipFill>
        <p:spPr>
          <a:xfrm>
            <a:off x="4700166" y="2828350"/>
            <a:ext cx="3960000" cy="1304110"/>
          </a:xfrm>
          <a:prstGeom prst="rect">
            <a:avLst/>
          </a:prstGeom>
        </p:spPr>
      </p:pic>
    </p:spTree>
    <p:extLst>
      <p:ext uri="{BB962C8B-B14F-4D97-AF65-F5344CB8AC3E}">
        <p14:creationId xmlns:p14="http://schemas.microsoft.com/office/powerpoint/2010/main" val="2264219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ADC = Add with carry</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t>ADC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 + OP(255) + carry</a:t>
            </a:r>
            <a:endParaRPr lang="fr-FR" sz="1600" kern="0" dirty="0">
              <a:solidFill>
                <a:srgbClr val="FF0000"/>
              </a:solidFill>
            </a:endParaRPr>
          </a:p>
          <a:p>
            <a:pPr marL="0" indent="0">
              <a:lnSpc>
                <a:spcPct val="120000"/>
              </a:lnSpc>
              <a:buNone/>
            </a:pPr>
            <a:r>
              <a:rPr lang="fr-FR" sz="1600" kern="0" dirty="0"/>
              <a:t>                   carry = ((Reg2 + OP(255) + carry) &gt;&gt; bitwidth(Reg1)) &amp; 1</a:t>
            </a:r>
          </a:p>
          <a:p>
            <a:pPr marL="0" indent="0">
              <a:lnSpc>
                <a:spcPct val="120000"/>
              </a:lnSpc>
              <a:buNone/>
            </a:pPr>
            <a:r>
              <a:rPr lang="fr-FR" sz="1600" b="1" kern="0" dirty="0"/>
              <a:t>Example:</a:t>
            </a:r>
          </a:p>
          <a:p>
            <a:pPr marL="0" indent="0">
              <a:lnSpc>
                <a:spcPct val="120000"/>
              </a:lnSpc>
              <a:buNone/>
            </a:pPr>
            <a:r>
              <a:rPr lang="fr-FR" sz="1600" kern="0" dirty="0"/>
              <a:t>                   </a:t>
            </a:r>
            <a:r>
              <a:rPr lang="fr-FR" sz="1600" kern="0" dirty="0" err="1"/>
              <a:t>adc</a:t>
            </a:r>
            <a:r>
              <a:rPr lang="fr-FR" sz="1600" kern="0" dirty="0"/>
              <a:t> r2, r0, r1  </a:t>
            </a:r>
            <a:r>
              <a:rPr lang="fr-FR" sz="1600" kern="0" dirty="0">
                <a:sym typeface="Wingdings" panose="05000000000000000000" pitchFamily="2" charset="2"/>
              </a:rPr>
              <a:t>  r2 = 000</a:t>
            </a:r>
            <a:r>
              <a:rPr lang="fr-FR" sz="1600" kern="0" dirty="0">
                <a:solidFill>
                  <a:srgbClr val="FF0000"/>
                </a:solidFill>
                <a:sym typeface="Wingdings" panose="05000000000000000000" pitchFamily="2" charset="2"/>
              </a:rPr>
              <a:t>1 </a:t>
            </a:r>
            <a:r>
              <a:rPr lang="fr-FR" sz="1600" kern="0" dirty="0">
                <a:sym typeface="Wingdings" panose="05000000000000000000" pitchFamily="2" charset="2"/>
              </a:rPr>
              <a:t>FFFF </a:t>
            </a:r>
            <a:r>
              <a:rPr lang="fr-FR" sz="1600" kern="0" dirty="0"/>
              <a:t>		</a:t>
            </a:r>
          </a:p>
          <a:p>
            <a:pPr marL="0" indent="0">
              <a:lnSpc>
                <a:spcPct val="120000"/>
              </a:lnSpc>
              <a:buNone/>
            </a:pPr>
            <a:r>
              <a:rPr lang="fr-FR" sz="1600" kern="0" dirty="0"/>
              <a:t>                   </a:t>
            </a:r>
          </a:p>
        </p:txBody>
      </p:sp>
      <p:cxnSp>
        <p:nvCxnSpPr>
          <p:cNvPr id="5" name="Straight Arrow Connector 4">
            <a:extLst>
              <a:ext uri="{FF2B5EF4-FFF2-40B4-BE49-F238E27FC236}">
                <a16:creationId xmlns:a16="http://schemas.microsoft.com/office/drawing/2014/main" id="{894B4FA0-ED74-4724-BF8B-1E1D873097C5}"/>
              </a:ext>
            </a:extLst>
          </p:cNvPr>
          <p:cNvCxnSpPr>
            <a:cxnSpLocks/>
          </p:cNvCxnSpPr>
          <p:nvPr/>
        </p:nvCxnSpPr>
        <p:spPr>
          <a:xfrm flipH="1">
            <a:off x="3486512" y="3289451"/>
            <a:ext cx="339928" cy="2743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A84336F-D2E5-4AC9-9660-9D75128F7127}"/>
              </a:ext>
            </a:extLst>
          </p:cNvPr>
          <p:cNvSpPr txBox="1"/>
          <p:nvPr/>
        </p:nvSpPr>
        <p:spPr>
          <a:xfrm>
            <a:off x="2265609" y="3496365"/>
            <a:ext cx="1249060" cy="360740"/>
          </a:xfrm>
          <a:prstGeom prst="rect">
            <a:avLst/>
          </a:prstGeom>
          <a:noFill/>
        </p:spPr>
        <p:txBody>
          <a:bodyPr wrap="none" rtlCol="0">
            <a:spAutoFit/>
          </a:bodyPr>
          <a:lstStyle/>
          <a:p>
            <a:pPr marL="0" indent="0">
              <a:lnSpc>
                <a:spcPct val="120000"/>
              </a:lnSpc>
              <a:buNone/>
            </a:pPr>
            <a:r>
              <a:rPr lang="fr-FR" sz="1600" kern="0" dirty="0">
                <a:sym typeface="Wingdings" panose="05000000000000000000" pitchFamily="2" charset="2"/>
              </a:rPr>
              <a:t> carry = 1</a:t>
            </a:r>
            <a:endParaRPr lang="fr-FR" sz="1600" kern="0" dirty="0"/>
          </a:p>
        </p:txBody>
      </p:sp>
      <p:sp>
        <p:nvSpPr>
          <p:cNvPr id="7" name="TextBox 6">
            <a:extLst>
              <a:ext uri="{FF2B5EF4-FFF2-40B4-BE49-F238E27FC236}">
                <a16:creationId xmlns:a16="http://schemas.microsoft.com/office/drawing/2014/main" id="{95C51512-35F2-4231-83D4-0D9FE260BC11}"/>
              </a:ext>
            </a:extLst>
          </p:cNvPr>
          <p:cNvSpPr txBox="1"/>
          <p:nvPr/>
        </p:nvSpPr>
        <p:spPr>
          <a:xfrm>
            <a:off x="117826" y="4299061"/>
            <a:ext cx="5992218" cy="307777"/>
          </a:xfrm>
          <a:prstGeom prst="rect">
            <a:avLst/>
          </a:prstGeom>
          <a:noFill/>
        </p:spPr>
        <p:txBody>
          <a:bodyPr wrap="none" rtlCol="0">
            <a:spAutoFit/>
          </a:bodyPr>
          <a:lstStyle/>
          <a:p>
            <a:r>
              <a:rPr lang="de-DE" sz="1400" b="1" dirty="0"/>
              <a:t>Note: </a:t>
            </a:r>
            <a:r>
              <a:rPr lang="de-DE" sz="1400" dirty="0"/>
              <a:t>If OP value &gt; 255, it is NOT compiled and shows an error message</a:t>
            </a:r>
            <a:endParaRPr lang="en-US" sz="1400" dirty="0"/>
          </a:p>
        </p:txBody>
      </p:sp>
      <p:pic>
        <p:nvPicPr>
          <p:cNvPr id="6" name="Picture 5">
            <a:extLst>
              <a:ext uri="{FF2B5EF4-FFF2-40B4-BE49-F238E27FC236}">
                <a16:creationId xmlns:a16="http://schemas.microsoft.com/office/drawing/2014/main" id="{88F1A5A2-AB65-47AA-8463-8FB66BB83CFD}"/>
              </a:ext>
            </a:extLst>
          </p:cNvPr>
          <p:cNvPicPr>
            <a:picLocks noChangeAspect="1"/>
          </p:cNvPicPr>
          <p:nvPr/>
        </p:nvPicPr>
        <p:blipFill>
          <a:blip r:embed="rId2"/>
          <a:stretch>
            <a:fillRect/>
          </a:stretch>
        </p:blipFill>
        <p:spPr>
          <a:xfrm>
            <a:off x="4834080" y="2811531"/>
            <a:ext cx="3960000" cy="1190625"/>
          </a:xfrm>
          <a:prstGeom prst="rect">
            <a:avLst/>
          </a:prstGeom>
        </p:spPr>
      </p:pic>
    </p:spTree>
    <p:extLst>
      <p:ext uri="{BB962C8B-B14F-4D97-AF65-F5344CB8AC3E}">
        <p14:creationId xmlns:p14="http://schemas.microsoft.com/office/powerpoint/2010/main" val="722394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SUB = Subtract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SUB</a:t>
            </a:r>
            <a:r>
              <a:rPr lang="fr-FR" sz="1600" kern="0" dirty="0"/>
              <a:t>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Reg2 - OP(255) </a:t>
            </a:r>
            <a:endParaRPr lang="fr-FR" sz="1600" kern="0" dirty="0">
              <a:solidFill>
                <a:srgbClr val="FF0000"/>
              </a:solidFill>
            </a:endParaRPr>
          </a:p>
          <a:p>
            <a:pPr marL="0" indent="0">
              <a:lnSpc>
                <a:spcPct val="120000"/>
              </a:lnSpc>
              <a:buNone/>
            </a:pPr>
            <a:r>
              <a:rPr lang="fr-FR" sz="1600" b="1" kern="0" dirty="0"/>
              <a:t>Example:</a:t>
            </a:r>
          </a:p>
          <a:p>
            <a:pPr marL="0" indent="0">
              <a:lnSpc>
                <a:spcPct val="120000"/>
              </a:lnSpc>
              <a:buNone/>
            </a:pPr>
            <a:r>
              <a:rPr lang="fr-FR" sz="1600" kern="0" dirty="0"/>
              <a:t>	   </a:t>
            </a:r>
            <a:r>
              <a:rPr lang="fr-FR" sz="1600" kern="0" dirty="0" err="1"/>
              <a:t>sub</a:t>
            </a:r>
            <a:r>
              <a:rPr lang="fr-FR" sz="1600" kern="0" dirty="0"/>
              <a:t> r2, r1.w2, r0.b0  </a:t>
            </a:r>
          </a:p>
          <a:p>
            <a:pPr marL="0" indent="0">
              <a:lnSpc>
                <a:spcPct val="120000"/>
              </a:lnSpc>
              <a:buNone/>
            </a:pPr>
            <a:r>
              <a:rPr lang="fr-FR" sz="1600" kern="0" dirty="0">
                <a:sym typeface="Wingdings" panose="05000000000000000000" pitchFamily="2" charset="2"/>
              </a:rPr>
              <a:t>		  r2 = 0000 FF00 </a:t>
            </a:r>
            <a:endParaRPr lang="fr-FR" sz="1600" kern="0" dirty="0"/>
          </a:p>
          <a:p>
            <a:pPr marL="0" indent="0">
              <a:lnSpc>
                <a:spcPct val="120000"/>
              </a:lnSpc>
              <a:buNone/>
            </a:pPr>
            <a:r>
              <a:rPr lang="fr-FR" sz="1600" kern="0" dirty="0"/>
              <a:t>                   </a:t>
            </a:r>
          </a:p>
        </p:txBody>
      </p:sp>
      <p:sp>
        <p:nvSpPr>
          <p:cNvPr id="6" name="TextBox 5">
            <a:extLst>
              <a:ext uri="{FF2B5EF4-FFF2-40B4-BE49-F238E27FC236}">
                <a16:creationId xmlns:a16="http://schemas.microsoft.com/office/drawing/2014/main" id="{11237279-8AEE-4C50-87F4-4B711B3B9C69}"/>
              </a:ext>
            </a:extLst>
          </p:cNvPr>
          <p:cNvSpPr txBox="1"/>
          <p:nvPr/>
        </p:nvSpPr>
        <p:spPr>
          <a:xfrm>
            <a:off x="117826" y="4299061"/>
            <a:ext cx="5992218" cy="307777"/>
          </a:xfrm>
          <a:prstGeom prst="rect">
            <a:avLst/>
          </a:prstGeom>
          <a:noFill/>
        </p:spPr>
        <p:txBody>
          <a:bodyPr wrap="none" rtlCol="0">
            <a:spAutoFit/>
          </a:bodyPr>
          <a:lstStyle/>
          <a:p>
            <a:r>
              <a:rPr lang="de-DE" sz="1400" b="1" dirty="0"/>
              <a:t>Note: </a:t>
            </a:r>
            <a:r>
              <a:rPr lang="de-DE" sz="1400" dirty="0"/>
              <a:t>If OP value &gt; 255, it is NOT compiled and shows an error message</a:t>
            </a:r>
            <a:endParaRPr lang="en-US" sz="1400" dirty="0"/>
          </a:p>
        </p:txBody>
      </p:sp>
      <p:pic>
        <p:nvPicPr>
          <p:cNvPr id="4" name="Picture 3">
            <a:extLst>
              <a:ext uri="{FF2B5EF4-FFF2-40B4-BE49-F238E27FC236}">
                <a16:creationId xmlns:a16="http://schemas.microsoft.com/office/drawing/2014/main" id="{7E7508F1-455A-4F46-883F-1D07A33CD91F}"/>
              </a:ext>
            </a:extLst>
          </p:cNvPr>
          <p:cNvPicPr>
            <a:picLocks noChangeAspect="1"/>
          </p:cNvPicPr>
          <p:nvPr/>
        </p:nvPicPr>
        <p:blipFill>
          <a:blip r:embed="rId2"/>
          <a:stretch>
            <a:fillRect/>
          </a:stretch>
        </p:blipFill>
        <p:spPr>
          <a:xfrm>
            <a:off x="4498200" y="2831755"/>
            <a:ext cx="3960000" cy="1300705"/>
          </a:xfrm>
          <a:prstGeom prst="rect">
            <a:avLst/>
          </a:prstGeom>
        </p:spPr>
      </p:pic>
    </p:spTree>
    <p:extLst>
      <p:ext uri="{BB962C8B-B14F-4D97-AF65-F5344CB8AC3E}">
        <p14:creationId xmlns:p14="http://schemas.microsoft.com/office/powerpoint/2010/main" val="394850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RSB = Reversed Integer Subtract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RSB</a:t>
            </a:r>
            <a:r>
              <a:rPr lang="fr-FR" sz="1600" kern="0" dirty="0"/>
              <a:t>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OP(255) - Reg2 </a:t>
            </a:r>
            <a:endParaRPr lang="fr-FR" sz="1600" kern="0" dirty="0">
              <a:solidFill>
                <a:srgbClr val="FF0000"/>
              </a:solidFill>
            </a:endParaRPr>
          </a:p>
          <a:p>
            <a:pPr marL="0" indent="0">
              <a:lnSpc>
                <a:spcPct val="120000"/>
              </a:lnSpc>
              <a:buNone/>
            </a:pPr>
            <a:r>
              <a:rPr lang="fr-FR" sz="1600" b="1" kern="0" dirty="0"/>
              <a:t>Example:</a:t>
            </a:r>
          </a:p>
          <a:p>
            <a:pPr marL="0" indent="0">
              <a:lnSpc>
                <a:spcPct val="120000"/>
              </a:lnSpc>
              <a:buNone/>
            </a:pPr>
            <a:r>
              <a:rPr lang="fr-FR" sz="1600" kern="0" dirty="0"/>
              <a:t>                   </a:t>
            </a:r>
            <a:r>
              <a:rPr lang="fr-FR" sz="1600" kern="0" dirty="0" err="1"/>
              <a:t>rsb</a:t>
            </a:r>
            <a:r>
              <a:rPr lang="fr-FR" sz="1600" kern="0" dirty="0"/>
              <a:t> r2, r1, r0</a:t>
            </a:r>
          </a:p>
          <a:p>
            <a:pPr marL="0" indent="0">
              <a:lnSpc>
                <a:spcPct val="120000"/>
              </a:lnSpc>
              <a:buNone/>
            </a:pPr>
            <a:r>
              <a:rPr lang="fr-FR" sz="1600" kern="0" dirty="0">
                <a:sym typeface="Wingdings" panose="05000000000000000000" pitchFamily="2" charset="2"/>
              </a:rPr>
              <a:t>		  r2 = 0000 FF00 </a:t>
            </a:r>
            <a:endParaRPr lang="fr-FR" sz="1600" kern="0" dirty="0"/>
          </a:p>
          <a:p>
            <a:pPr marL="0" indent="0">
              <a:lnSpc>
                <a:spcPct val="120000"/>
              </a:lnSpc>
              <a:buNone/>
            </a:pPr>
            <a:r>
              <a:rPr lang="fr-FR" sz="1600" kern="0" dirty="0"/>
              <a:t>                 </a:t>
            </a:r>
          </a:p>
        </p:txBody>
      </p:sp>
      <p:sp>
        <p:nvSpPr>
          <p:cNvPr id="5" name="TextBox 4">
            <a:extLst>
              <a:ext uri="{FF2B5EF4-FFF2-40B4-BE49-F238E27FC236}">
                <a16:creationId xmlns:a16="http://schemas.microsoft.com/office/drawing/2014/main" id="{F9FA2380-360B-4AA1-B735-173F0FF67A77}"/>
              </a:ext>
            </a:extLst>
          </p:cNvPr>
          <p:cNvSpPr txBox="1"/>
          <p:nvPr/>
        </p:nvSpPr>
        <p:spPr>
          <a:xfrm>
            <a:off x="117826" y="4299061"/>
            <a:ext cx="5992218" cy="307777"/>
          </a:xfrm>
          <a:prstGeom prst="rect">
            <a:avLst/>
          </a:prstGeom>
          <a:noFill/>
        </p:spPr>
        <p:txBody>
          <a:bodyPr wrap="none" rtlCol="0">
            <a:spAutoFit/>
          </a:bodyPr>
          <a:lstStyle/>
          <a:p>
            <a:r>
              <a:rPr lang="de-DE" sz="1400" b="1" dirty="0"/>
              <a:t>Note: </a:t>
            </a:r>
            <a:r>
              <a:rPr lang="de-DE" sz="1400" dirty="0"/>
              <a:t>If OP value &gt; 255, it is NOT compiled and shows an error message</a:t>
            </a:r>
            <a:endParaRPr lang="en-US" sz="1400" dirty="0"/>
          </a:p>
        </p:txBody>
      </p:sp>
      <p:pic>
        <p:nvPicPr>
          <p:cNvPr id="6" name="Picture 5">
            <a:extLst>
              <a:ext uri="{FF2B5EF4-FFF2-40B4-BE49-F238E27FC236}">
                <a16:creationId xmlns:a16="http://schemas.microsoft.com/office/drawing/2014/main" id="{5204CE52-5C79-4CC5-ACF4-01A8BA22E4D8}"/>
              </a:ext>
            </a:extLst>
          </p:cNvPr>
          <p:cNvPicPr>
            <a:picLocks noChangeAspect="1"/>
          </p:cNvPicPr>
          <p:nvPr/>
        </p:nvPicPr>
        <p:blipFill>
          <a:blip r:embed="rId2"/>
          <a:stretch>
            <a:fillRect/>
          </a:stretch>
        </p:blipFill>
        <p:spPr>
          <a:xfrm>
            <a:off x="4754307" y="2643381"/>
            <a:ext cx="4043820" cy="1655680"/>
          </a:xfrm>
          <a:prstGeom prst="rect">
            <a:avLst/>
          </a:prstGeom>
        </p:spPr>
      </p:pic>
    </p:spTree>
    <p:extLst>
      <p:ext uri="{BB962C8B-B14F-4D97-AF65-F5344CB8AC3E}">
        <p14:creationId xmlns:p14="http://schemas.microsoft.com/office/powerpoint/2010/main" val="460210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SUC = Subtract with Carry</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SUC</a:t>
            </a:r>
            <a:r>
              <a:rPr lang="fr-FR" sz="1600" kern="0" dirty="0"/>
              <a:t>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Reg2 - OP(255) - carry</a:t>
            </a:r>
            <a:endParaRPr lang="fr-FR" sz="1600" kern="0" dirty="0">
              <a:solidFill>
                <a:srgbClr val="FF0000"/>
              </a:solidFill>
            </a:endParaRPr>
          </a:p>
          <a:p>
            <a:pPr marL="0" indent="0">
              <a:lnSpc>
                <a:spcPct val="120000"/>
              </a:lnSpc>
              <a:buNone/>
            </a:pPr>
            <a:r>
              <a:rPr lang="fr-FR" sz="1600" kern="0" dirty="0"/>
              <a:t>                   carry = ((Reg2 - OP(255) - carry) &gt;&gt; bitwidth(Reg1)) &amp; 1</a:t>
            </a:r>
          </a:p>
          <a:p>
            <a:pPr marL="0" indent="0">
              <a:lnSpc>
                <a:spcPct val="120000"/>
              </a:lnSpc>
              <a:buNone/>
            </a:pPr>
            <a:r>
              <a:rPr lang="fr-FR" sz="1600" b="1" kern="0" dirty="0"/>
              <a:t>Example:</a:t>
            </a:r>
          </a:p>
          <a:p>
            <a:pPr marL="0" indent="0">
              <a:lnSpc>
                <a:spcPct val="120000"/>
              </a:lnSpc>
              <a:buNone/>
            </a:pPr>
            <a:r>
              <a:rPr lang="fr-FR" sz="1600" kern="0" dirty="0"/>
              <a:t>	   suc r3, r0.b0, r1.w2 </a:t>
            </a:r>
            <a:endParaRPr lang="fr-FR" sz="1600" kern="0" dirty="0">
              <a:sym typeface="Wingdings" panose="05000000000000000000" pitchFamily="2" charset="2"/>
            </a:endParaRPr>
          </a:p>
          <a:p>
            <a:pPr marL="0" indent="0">
              <a:lnSpc>
                <a:spcPct val="120000"/>
              </a:lnSpc>
              <a:buNone/>
            </a:pPr>
            <a:r>
              <a:rPr lang="fr-FR" sz="1600" kern="0" dirty="0">
                <a:sym typeface="Wingdings" panose="05000000000000000000" pitchFamily="2" charset="2"/>
              </a:rPr>
              <a:t>		 carry = FFFF FFFF</a:t>
            </a:r>
            <a:endParaRPr lang="fr-FR" sz="1600" kern="0" dirty="0"/>
          </a:p>
        </p:txBody>
      </p:sp>
      <p:sp>
        <p:nvSpPr>
          <p:cNvPr id="5" name="TextBox 4">
            <a:extLst>
              <a:ext uri="{FF2B5EF4-FFF2-40B4-BE49-F238E27FC236}">
                <a16:creationId xmlns:a16="http://schemas.microsoft.com/office/drawing/2014/main" id="{D3C2313C-A68F-49FD-817B-06DF7ABFF774}"/>
              </a:ext>
            </a:extLst>
          </p:cNvPr>
          <p:cNvSpPr txBox="1"/>
          <p:nvPr/>
        </p:nvSpPr>
        <p:spPr>
          <a:xfrm>
            <a:off x="117826" y="4299061"/>
            <a:ext cx="5992218" cy="307777"/>
          </a:xfrm>
          <a:prstGeom prst="rect">
            <a:avLst/>
          </a:prstGeom>
          <a:noFill/>
        </p:spPr>
        <p:txBody>
          <a:bodyPr wrap="none" rtlCol="0">
            <a:spAutoFit/>
          </a:bodyPr>
          <a:lstStyle/>
          <a:p>
            <a:r>
              <a:rPr lang="de-DE" sz="1400" b="1" dirty="0"/>
              <a:t>Note: </a:t>
            </a:r>
            <a:r>
              <a:rPr lang="de-DE" sz="1400" dirty="0"/>
              <a:t>If OP value &gt; 255, it is NOT compiled and shows an error message</a:t>
            </a:r>
            <a:endParaRPr lang="en-US" sz="1400" dirty="0"/>
          </a:p>
        </p:txBody>
      </p:sp>
      <p:pic>
        <p:nvPicPr>
          <p:cNvPr id="6" name="Picture 5">
            <a:extLst>
              <a:ext uri="{FF2B5EF4-FFF2-40B4-BE49-F238E27FC236}">
                <a16:creationId xmlns:a16="http://schemas.microsoft.com/office/drawing/2014/main" id="{C9EB3947-5F03-4397-94D3-0DCFF38DD5AC}"/>
              </a:ext>
            </a:extLst>
          </p:cNvPr>
          <p:cNvPicPr>
            <a:picLocks noChangeAspect="1"/>
          </p:cNvPicPr>
          <p:nvPr/>
        </p:nvPicPr>
        <p:blipFill>
          <a:blip r:embed="rId2"/>
          <a:stretch>
            <a:fillRect/>
          </a:stretch>
        </p:blipFill>
        <p:spPr>
          <a:xfrm>
            <a:off x="4498200" y="2834043"/>
            <a:ext cx="3960000" cy="1298417"/>
          </a:xfrm>
          <a:prstGeom prst="rect">
            <a:avLst/>
          </a:prstGeom>
        </p:spPr>
      </p:pic>
    </p:spTree>
    <p:extLst>
      <p:ext uri="{BB962C8B-B14F-4D97-AF65-F5344CB8AC3E}">
        <p14:creationId xmlns:p14="http://schemas.microsoft.com/office/powerpoint/2010/main" val="2833532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RSC = Reversed Integer Subtract with Carry</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6"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RSC</a:t>
            </a:r>
            <a:r>
              <a:rPr lang="fr-FR" sz="1600" kern="0" dirty="0"/>
              <a:t>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OP(255) - Reg2 - carry</a:t>
            </a:r>
            <a:endParaRPr lang="fr-FR" sz="1600" kern="0" dirty="0">
              <a:solidFill>
                <a:srgbClr val="FF0000"/>
              </a:solidFill>
            </a:endParaRPr>
          </a:p>
          <a:p>
            <a:pPr marL="0" indent="0">
              <a:lnSpc>
                <a:spcPct val="120000"/>
              </a:lnSpc>
              <a:buNone/>
            </a:pPr>
            <a:r>
              <a:rPr lang="fr-FR" sz="1600" kern="0" dirty="0"/>
              <a:t>                   carry = ((OP(255) - Reg2 - carry) &gt;&gt; bitwidth(Reg1)) &amp; 1</a:t>
            </a:r>
          </a:p>
          <a:p>
            <a:pPr marL="0" indent="0">
              <a:lnSpc>
                <a:spcPct val="120000"/>
              </a:lnSpc>
              <a:buNone/>
            </a:pPr>
            <a:r>
              <a:rPr lang="fr-FR" sz="1600" b="1" kern="0" dirty="0"/>
              <a:t>Example:</a:t>
            </a:r>
          </a:p>
          <a:p>
            <a:pPr marL="0" indent="0">
              <a:lnSpc>
                <a:spcPct val="120000"/>
              </a:lnSpc>
              <a:buNone/>
            </a:pPr>
            <a:r>
              <a:rPr lang="fr-FR" sz="1600" kern="0" dirty="0"/>
              <a:t>	   </a:t>
            </a:r>
            <a:r>
              <a:rPr lang="fr-FR" sz="1600" kern="0" dirty="0" err="1"/>
              <a:t>rsc</a:t>
            </a:r>
            <a:r>
              <a:rPr lang="fr-FR" sz="1600" kern="0" dirty="0"/>
              <a:t> r2, r0.w2, r1.b0</a:t>
            </a:r>
          </a:p>
        </p:txBody>
      </p:sp>
      <p:sp>
        <p:nvSpPr>
          <p:cNvPr id="5" name="TextBox 4">
            <a:extLst>
              <a:ext uri="{FF2B5EF4-FFF2-40B4-BE49-F238E27FC236}">
                <a16:creationId xmlns:a16="http://schemas.microsoft.com/office/drawing/2014/main" id="{29F6C13B-E1FC-48AA-8813-B969D68F52B3}"/>
              </a:ext>
            </a:extLst>
          </p:cNvPr>
          <p:cNvSpPr txBox="1"/>
          <p:nvPr/>
        </p:nvSpPr>
        <p:spPr>
          <a:xfrm>
            <a:off x="117826" y="4299061"/>
            <a:ext cx="5992218" cy="307777"/>
          </a:xfrm>
          <a:prstGeom prst="rect">
            <a:avLst/>
          </a:prstGeom>
          <a:noFill/>
        </p:spPr>
        <p:txBody>
          <a:bodyPr wrap="none" rtlCol="0">
            <a:spAutoFit/>
          </a:bodyPr>
          <a:lstStyle/>
          <a:p>
            <a:r>
              <a:rPr lang="de-DE" sz="1400" b="1" dirty="0"/>
              <a:t>Note: </a:t>
            </a:r>
            <a:r>
              <a:rPr lang="de-DE" sz="1400" dirty="0"/>
              <a:t>If OP value &gt; 255, it is NOT compiled and shows an error message</a:t>
            </a:r>
            <a:endParaRPr lang="en-US" sz="1400" dirty="0"/>
          </a:p>
        </p:txBody>
      </p:sp>
      <p:pic>
        <p:nvPicPr>
          <p:cNvPr id="4" name="Picture 3">
            <a:extLst>
              <a:ext uri="{FF2B5EF4-FFF2-40B4-BE49-F238E27FC236}">
                <a16:creationId xmlns:a16="http://schemas.microsoft.com/office/drawing/2014/main" id="{F8B02C2D-CCCE-4407-9D6F-01CB9FF98000}"/>
              </a:ext>
            </a:extLst>
          </p:cNvPr>
          <p:cNvPicPr>
            <a:picLocks noChangeAspect="1"/>
          </p:cNvPicPr>
          <p:nvPr/>
        </p:nvPicPr>
        <p:blipFill>
          <a:blip r:embed="rId2"/>
          <a:stretch>
            <a:fillRect/>
          </a:stretch>
        </p:blipFill>
        <p:spPr>
          <a:xfrm>
            <a:off x="4498200" y="2837387"/>
            <a:ext cx="3960000" cy="1295073"/>
          </a:xfrm>
          <a:prstGeom prst="rect">
            <a:avLst/>
          </a:prstGeom>
        </p:spPr>
      </p:pic>
    </p:spTree>
    <p:extLst>
      <p:ext uri="{BB962C8B-B14F-4D97-AF65-F5344CB8AC3E}">
        <p14:creationId xmlns:p14="http://schemas.microsoft.com/office/powerpoint/2010/main" val="149918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Logic Operations</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a:lnSpc>
                <a:spcPct val="120000"/>
              </a:lnSpc>
            </a:pPr>
            <a:r>
              <a:rPr lang="fr-FR" sz="1600" b="1" dirty="0"/>
              <a:t>Operation: </a:t>
            </a:r>
          </a:p>
          <a:p>
            <a:pPr lvl="1">
              <a:lnSpc>
                <a:spcPct val="120000"/>
              </a:lnSpc>
            </a:pPr>
            <a:r>
              <a:rPr lang="fr-FR" dirty="0" err="1"/>
              <a:t>Perform</a:t>
            </a:r>
            <a:r>
              <a:rPr lang="fr-FR" dirty="0"/>
              <a:t> 32-bit </a:t>
            </a:r>
            <a:r>
              <a:rPr lang="fr-FR" dirty="0" err="1"/>
              <a:t>logical</a:t>
            </a:r>
            <a:r>
              <a:rPr lang="fr-FR" dirty="0"/>
              <a:t> </a:t>
            </a:r>
            <a:r>
              <a:rPr lang="fr-FR" dirty="0" err="1"/>
              <a:t>operation</a:t>
            </a:r>
            <a:r>
              <a:rPr lang="fr-FR" dirty="0"/>
              <a:t> on </a:t>
            </a:r>
            <a:r>
              <a:rPr lang="fr-FR" dirty="0" err="1"/>
              <a:t>two</a:t>
            </a:r>
            <a:r>
              <a:rPr lang="fr-FR" dirty="0"/>
              <a:t> 32-bit </a:t>
            </a:r>
            <a:r>
              <a:rPr lang="fr-FR" dirty="0" err="1"/>
              <a:t>zero-extended</a:t>
            </a:r>
            <a:r>
              <a:rPr lang="fr-FR" dirty="0"/>
              <a:t> source values. </a:t>
            </a:r>
          </a:p>
          <a:p>
            <a:pPr>
              <a:lnSpc>
                <a:spcPct val="120000"/>
              </a:lnSpc>
            </a:pPr>
            <a:r>
              <a:rPr lang="fr-FR" sz="1600" b="1" dirty="0"/>
              <a:t>Format: </a:t>
            </a:r>
            <a:r>
              <a:rPr lang="fr-FR" sz="1600" dirty="0"/>
              <a:t>&lt;</a:t>
            </a:r>
            <a:r>
              <a:rPr lang="fr-FR" sz="1600" dirty="0" err="1"/>
              <a:t>operation</a:t>
            </a:r>
            <a:r>
              <a:rPr lang="fr-FR" sz="1600" dirty="0"/>
              <a:t>&gt; Reg1, Reg2, OP()</a:t>
            </a:r>
            <a:br>
              <a:rPr lang="fr-FR" sz="1600" dirty="0"/>
            </a:br>
            <a:r>
              <a:rPr lang="fr-FR" sz="1600" dirty="0"/>
              <a:t> </a:t>
            </a:r>
            <a:r>
              <a:rPr lang="fr-FR" sz="1600" dirty="0">
                <a:sym typeface="Wingdings" panose="05000000000000000000" pitchFamily="2" charset="2"/>
              </a:rPr>
              <a:t></a:t>
            </a:r>
            <a:r>
              <a:rPr lang="fr-FR" sz="1600" dirty="0"/>
              <a:t> OP() can be OP(255) or OP(31), </a:t>
            </a:r>
            <a:r>
              <a:rPr lang="fr-FR" sz="1600" dirty="0" err="1"/>
              <a:t>depending</a:t>
            </a:r>
            <a:r>
              <a:rPr lang="fr-FR" sz="1600" dirty="0"/>
              <a:t> on the instruction</a:t>
            </a:r>
            <a:endParaRPr lang="fr-FR" sz="1600" kern="0" dirty="0"/>
          </a:p>
        </p:txBody>
      </p:sp>
    </p:spTree>
    <p:extLst>
      <p:ext uri="{BB962C8B-B14F-4D97-AF65-F5344CB8AC3E}">
        <p14:creationId xmlns:p14="http://schemas.microsoft.com/office/powerpoint/2010/main" val="1110002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LSL = Logical Shift Left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417250" y="667258"/>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LSL</a:t>
            </a:r>
            <a:r>
              <a:rPr lang="fr-FR" sz="1600" kern="0" dirty="0"/>
              <a:t> Reg1, Reg2, OP(31)</a:t>
            </a:r>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err="1"/>
              <a:t>lsl</a:t>
            </a:r>
            <a:r>
              <a:rPr lang="fr-FR" sz="1600" kern="0" dirty="0"/>
              <a:t> r1.b0, r1, 2        </a:t>
            </a:r>
            <a:r>
              <a:rPr lang="fr-FR" sz="1600" kern="0" dirty="0">
                <a:sym typeface="Wingdings" panose="05000000000000000000" pitchFamily="2" charset="2"/>
              </a:rPr>
              <a:t> r1 &lt;&lt; 2 (bit)</a:t>
            </a:r>
            <a:r>
              <a:rPr lang="fr-FR" sz="1600" kern="0" dirty="0"/>
              <a:t>	</a:t>
            </a:r>
          </a:p>
          <a:p>
            <a:pPr marL="0" indent="0">
              <a:lnSpc>
                <a:spcPct val="120000"/>
              </a:lnSpc>
              <a:buNone/>
            </a:pPr>
            <a:r>
              <a:rPr lang="fr-FR" sz="1600" kern="0" dirty="0"/>
              <a:t>	lsl r2, r2.b0, r1.b1</a:t>
            </a:r>
          </a:p>
          <a:p>
            <a:pPr>
              <a:lnSpc>
                <a:spcPct val="120000"/>
              </a:lnSpc>
            </a:pPr>
            <a:endParaRPr lang="fr-FR" sz="1600" kern="0" dirty="0"/>
          </a:p>
        </p:txBody>
      </p:sp>
      <p:sp>
        <p:nvSpPr>
          <p:cNvPr id="6" name="TextBox 5">
            <a:extLst>
              <a:ext uri="{FF2B5EF4-FFF2-40B4-BE49-F238E27FC236}">
                <a16:creationId xmlns:a16="http://schemas.microsoft.com/office/drawing/2014/main" id="{D905B73B-9DF3-47DB-9103-380FFEF5C811}"/>
              </a:ext>
            </a:extLst>
          </p:cNvPr>
          <p:cNvSpPr txBox="1"/>
          <p:nvPr/>
        </p:nvSpPr>
        <p:spPr>
          <a:xfrm>
            <a:off x="117826" y="4299061"/>
            <a:ext cx="3132589" cy="523220"/>
          </a:xfrm>
          <a:prstGeom prst="rect">
            <a:avLst/>
          </a:prstGeom>
          <a:noFill/>
        </p:spPr>
        <p:txBody>
          <a:bodyPr wrap="none" rtlCol="0">
            <a:spAutoFit/>
          </a:bodyPr>
          <a:lstStyle/>
          <a:p>
            <a:r>
              <a:rPr lang="de-DE" sz="1400" b="1" dirty="0"/>
              <a:t>Note: </a:t>
            </a:r>
            <a:r>
              <a:rPr lang="de-DE" sz="1400" dirty="0"/>
              <a:t>If OP&gt;31 wraps around to zero</a:t>
            </a:r>
            <a:endParaRPr lang="en-US" sz="1400" dirty="0"/>
          </a:p>
          <a:p>
            <a:endParaRPr lang="en-US" sz="1400" dirty="0"/>
          </a:p>
        </p:txBody>
      </p:sp>
      <p:pic>
        <p:nvPicPr>
          <p:cNvPr id="3" name="Picture 2">
            <a:extLst>
              <a:ext uri="{FF2B5EF4-FFF2-40B4-BE49-F238E27FC236}">
                <a16:creationId xmlns:a16="http://schemas.microsoft.com/office/drawing/2014/main" id="{995CC969-04A2-4861-8081-6249434C8370}"/>
              </a:ext>
            </a:extLst>
          </p:cNvPr>
          <p:cNvPicPr>
            <a:picLocks noChangeAspect="1"/>
          </p:cNvPicPr>
          <p:nvPr/>
        </p:nvPicPr>
        <p:blipFill>
          <a:blip r:embed="rId2"/>
          <a:stretch>
            <a:fillRect/>
          </a:stretch>
        </p:blipFill>
        <p:spPr>
          <a:xfrm>
            <a:off x="4572000" y="3002937"/>
            <a:ext cx="3960000" cy="1296124"/>
          </a:xfrm>
          <a:prstGeom prst="rect">
            <a:avLst/>
          </a:prstGeom>
        </p:spPr>
      </p:pic>
    </p:spTree>
    <p:extLst>
      <p:ext uri="{BB962C8B-B14F-4D97-AF65-F5344CB8AC3E}">
        <p14:creationId xmlns:p14="http://schemas.microsoft.com/office/powerpoint/2010/main" val="1538510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LSR = Logical Shift Right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LSR</a:t>
            </a:r>
            <a:r>
              <a:rPr lang="fr-FR" sz="1600" kern="0" dirty="0"/>
              <a:t> Reg1, Reg2, OP(31)</a:t>
            </a:r>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err="1"/>
              <a:t>lsr</a:t>
            </a:r>
            <a:r>
              <a:rPr lang="fr-FR" sz="1600" kern="0" dirty="0"/>
              <a:t> r1, r1, 2            </a:t>
            </a:r>
            <a:r>
              <a:rPr lang="fr-FR" sz="1600" kern="0" dirty="0">
                <a:sym typeface="Wingdings" panose="05000000000000000000" pitchFamily="2" charset="2"/>
              </a:rPr>
              <a:t> r1 &gt;&gt; 2</a:t>
            </a:r>
            <a:endParaRPr lang="fr-FR" sz="1600" kern="0" dirty="0"/>
          </a:p>
          <a:p>
            <a:pPr marL="0" indent="0">
              <a:lnSpc>
                <a:spcPct val="120000"/>
              </a:lnSpc>
              <a:buNone/>
            </a:pPr>
            <a:r>
              <a:rPr lang="fr-FR" sz="1600" kern="0" dirty="0"/>
              <a:t>	lsr r2, r2.b0, r1.b1</a:t>
            </a:r>
          </a:p>
        </p:txBody>
      </p:sp>
      <p:sp>
        <p:nvSpPr>
          <p:cNvPr id="5" name="TextBox 4">
            <a:extLst>
              <a:ext uri="{FF2B5EF4-FFF2-40B4-BE49-F238E27FC236}">
                <a16:creationId xmlns:a16="http://schemas.microsoft.com/office/drawing/2014/main" id="{B74D71C4-7887-4BAD-B008-1A91141AEF19}"/>
              </a:ext>
            </a:extLst>
          </p:cNvPr>
          <p:cNvSpPr txBox="1"/>
          <p:nvPr/>
        </p:nvSpPr>
        <p:spPr>
          <a:xfrm>
            <a:off x="117826" y="4299061"/>
            <a:ext cx="3441968" cy="523220"/>
          </a:xfrm>
          <a:prstGeom prst="rect">
            <a:avLst/>
          </a:prstGeom>
          <a:noFill/>
        </p:spPr>
        <p:txBody>
          <a:bodyPr wrap="none" rtlCol="0">
            <a:spAutoFit/>
          </a:bodyPr>
          <a:lstStyle/>
          <a:p>
            <a:r>
              <a:rPr lang="de-DE" sz="1400" b="1" dirty="0"/>
              <a:t>Note: </a:t>
            </a:r>
            <a:r>
              <a:rPr lang="de-DE" sz="1400" dirty="0"/>
              <a:t>If OP&gt;31 it just starts back from 0 </a:t>
            </a:r>
            <a:endParaRPr lang="en-US" sz="1400" dirty="0"/>
          </a:p>
          <a:p>
            <a:endParaRPr lang="en-US" sz="1400" dirty="0"/>
          </a:p>
        </p:txBody>
      </p:sp>
      <p:pic>
        <p:nvPicPr>
          <p:cNvPr id="4" name="Picture 3">
            <a:extLst>
              <a:ext uri="{FF2B5EF4-FFF2-40B4-BE49-F238E27FC236}">
                <a16:creationId xmlns:a16="http://schemas.microsoft.com/office/drawing/2014/main" id="{E5CC6BE5-2EF4-43B5-9C8F-3610F27EF1B8}"/>
              </a:ext>
            </a:extLst>
          </p:cNvPr>
          <p:cNvPicPr>
            <a:picLocks noChangeAspect="1"/>
          </p:cNvPicPr>
          <p:nvPr/>
        </p:nvPicPr>
        <p:blipFill>
          <a:blip r:embed="rId2"/>
          <a:stretch>
            <a:fillRect/>
          </a:stretch>
        </p:blipFill>
        <p:spPr>
          <a:xfrm>
            <a:off x="4498200" y="3002937"/>
            <a:ext cx="3960000" cy="1296124"/>
          </a:xfrm>
          <a:prstGeom prst="rect">
            <a:avLst/>
          </a:prstGeom>
        </p:spPr>
      </p:pic>
    </p:spTree>
    <p:extLst>
      <p:ext uri="{BB962C8B-B14F-4D97-AF65-F5344CB8AC3E}">
        <p14:creationId xmlns:p14="http://schemas.microsoft.com/office/powerpoint/2010/main" val="1767981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AND</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AND </a:t>
            </a:r>
            <a:r>
              <a:rPr lang="fr-FR" sz="1600" kern="0" dirty="0"/>
              <a:t>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 &amp; OP(255)</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and r2, r0.b2, r1.w2</a:t>
            </a:r>
          </a:p>
          <a:p>
            <a:pPr marL="0" indent="0">
              <a:spcBef>
                <a:spcPts val="600"/>
              </a:spcBef>
              <a:buNone/>
            </a:pPr>
            <a:r>
              <a:rPr lang="fr-FR" sz="1600" kern="0" dirty="0">
                <a:sym typeface="Wingdings" panose="05000000000000000000" pitchFamily="2" charset="2"/>
              </a:rPr>
              <a:t>	and r2, r0.b2, 3</a:t>
            </a:r>
            <a:endParaRPr lang="fr-FR" sz="1600" kern="0" dirty="0"/>
          </a:p>
        </p:txBody>
      </p:sp>
      <p:sp>
        <p:nvSpPr>
          <p:cNvPr id="8" name="TextBox 7">
            <a:extLst>
              <a:ext uri="{FF2B5EF4-FFF2-40B4-BE49-F238E27FC236}">
                <a16:creationId xmlns:a16="http://schemas.microsoft.com/office/drawing/2014/main" id="{1500A103-09A5-47F7-BE75-8A7F1E4C4F0F}"/>
              </a:ext>
            </a:extLst>
          </p:cNvPr>
          <p:cNvSpPr txBox="1"/>
          <p:nvPr/>
        </p:nvSpPr>
        <p:spPr>
          <a:xfrm>
            <a:off x="117826" y="4299061"/>
            <a:ext cx="3491661" cy="523220"/>
          </a:xfrm>
          <a:prstGeom prst="rect">
            <a:avLst/>
          </a:prstGeom>
          <a:noFill/>
        </p:spPr>
        <p:txBody>
          <a:bodyPr wrap="none" rtlCol="0">
            <a:spAutoFit/>
          </a:bodyPr>
          <a:lstStyle/>
          <a:p>
            <a:r>
              <a:rPr lang="de-DE" sz="1400" b="1" dirty="0"/>
              <a:t>Note: </a:t>
            </a:r>
            <a:r>
              <a:rPr lang="de-DE" sz="1400" dirty="0"/>
              <a:t>If OP&gt;255 it just starts back from 0 </a:t>
            </a:r>
            <a:endParaRPr lang="en-US" sz="1400" dirty="0"/>
          </a:p>
          <a:p>
            <a:endParaRPr lang="en-US" sz="1400" dirty="0"/>
          </a:p>
        </p:txBody>
      </p:sp>
      <p:pic>
        <p:nvPicPr>
          <p:cNvPr id="3" name="Picture 2">
            <a:extLst>
              <a:ext uri="{FF2B5EF4-FFF2-40B4-BE49-F238E27FC236}">
                <a16:creationId xmlns:a16="http://schemas.microsoft.com/office/drawing/2014/main" id="{94B8ABA1-F95E-4136-B3E5-E7BD4575C3F3}"/>
              </a:ext>
            </a:extLst>
          </p:cNvPr>
          <p:cNvPicPr>
            <a:picLocks noChangeAspect="1"/>
          </p:cNvPicPr>
          <p:nvPr/>
        </p:nvPicPr>
        <p:blipFill>
          <a:blip r:embed="rId2"/>
          <a:stretch>
            <a:fillRect/>
          </a:stretch>
        </p:blipFill>
        <p:spPr>
          <a:xfrm>
            <a:off x="4498200" y="3001820"/>
            <a:ext cx="3960000" cy="1297241"/>
          </a:xfrm>
          <a:prstGeom prst="rect">
            <a:avLst/>
          </a:prstGeom>
        </p:spPr>
      </p:pic>
    </p:spTree>
    <p:extLst>
      <p:ext uri="{BB962C8B-B14F-4D97-AF65-F5344CB8AC3E}">
        <p14:creationId xmlns:p14="http://schemas.microsoft.com/office/powerpoint/2010/main" val="1097262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OR</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OR</a:t>
            </a:r>
            <a:r>
              <a:rPr lang="fr-FR" sz="1600" kern="0" dirty="0"/>
              <a:t>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 | OP(255)</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or r2, r1.b1, r0.w2</a:t>
            </a:r>
          </a:p>
          <a:p>
            <a:pPr marL="0" indent="0">
              <a:lnSpc>
                <a:spcPct val="120000"/>
              </a:lnSpc>
              <a:buNone/>
            </a:pPr>
            <a:r>
              <a:rPr lang="fr-FR" sz="1600" kern="0" dirty="0"/>
              <a:t>	or r2, r1.b1, 3</a:t>
            </a:r>
          </a:p>
          <a:p>
            <a:pPr marL="0" indent="0">
              <a:lnSpc>
                <a:spcPct val="120000"/>
              </a:lnSpc>
              <a:buNone/>
            </a:pPr>
            <a:endParaRPr lang="fr-FR" sz="1600" kern="0" dirty="0"/>
          </a:p>
          <a:p>
            <a:pPr marL="0" indent="0">
              <a:lnSpc>
                <a:spcPct val="120000"/>
              </a:lnSpc>
              <a:buNone/>
            </a:pPr>
            <a:endParaRPr lang="fr-FR" sz="1600" kern="0" dirty="0"/>
          </a:p>
        </p:txBody>
      </p:sp>
      <p:sp>
        <p:nvSpPr>
          <p:cNvPr id="8" name="TextBox 7">
            <a:extLst>
              <a:ext uri="{FF2B5EF4-FFF2-40B4-BE49-F238E27FC236}">
                <a16:creationId xmlns:a16="http://schemas.microsoft.com/office/drawing/2014/main" id="{D7E18E9A-0F7A-4444-859D-E5477A7605F5}"/>
              </a:ext>
            </a:extLst>
          </p:cNvPr>
          <p:cNvSpPr txBox="1"/>
          <p:nvPr/>
        </p:nvSpPr>
        <p:spPr>
          <a:xfrm>
            <a:off x="117826" y="4299061"/>
            <a:ext cx="3491661" cy="523220"/>
          </a:xfrm>
          <a:prstGeom prst="rect">
            <a:avLst/>
          </a:prstGeom>
          <a:noFill/>
        </p:spPr>
        <p:txBody>
          <a:bodyPr wrap="none" rtlCol="0">
            <a:spAutoFit/>
          </a:bodyPr>
          <a:lstStyle/>
          <a:p>
            <a:r>
              <a:rPr lang="de-DE" sz="1400" b="1" dirty="0"/>
              <a:t>Note: </a:t>
            </a:r>
            <a:r>
              <a:rPr lang="de-DE" sz="1400" dirty="0"/>
              <a:t>If OP&gt;255 it just starts back from 0 </a:t>
            </a:r>
            <a:endParaRPr lang="en-US" sz="1400" dirty="0"/>
          </a:p>
          <a:p>
            <a:endParaRPr lang="en-US" sz="1400" dirty="0"/>
          </a:p>
        </p:txBody>
      </p:sp>
      <p:pic>
        <p:nvPicPr>
          <p:cNvPr id="4" name="Picture 3">
            <a:extLst>
              <a:ext uri="{FF2B5EF4-FFF2-40B4-BE49-F238E27FC236}">
                <a16:creationId xmlns:a16="http://schemas.microsoft.com/office/drawing/2014/main" id="{FD6D8B30-F9F6-49B6-B2E8-36DDF589E694}"/>
              </a:ext>
            </a:extLst>
          </p:cNvPr>
          <p:cNvPicPr>
            <a:picLocks noChangeAspect="1"/>
          </p:cNvPicPr>
          <p:nvPr/>
        </p:nvPicPr>
        <p:blipFill>
          <a:blip r:embed="rId2"/>
          <a:stretch>
            <a:fillRect/>
          </a:stretch>
        </p:blipFill>
        <p:spPr>
          <a:xfrm>
            <a:off x="4498200" y="3000644"/>
            <a:ext cx="3960000" cy="1298417"/>
          </a:xfrm>
          <a:prstGeom prst="rect">
            <a:avLst/>
          </a:prstGeom>
        </p:spPr>
      </p:pic>
    </p:spTree>
    <p:extLst>
      <p:ext uri="{BB962C8B-B14F-4D97-AF65-F5344CB8AC3E}">
        <p14:creationId xmlns:p14="http://schemas.microsoft.com/office/powerpoint/2010/main" val="2937410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XOR</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XOR</a:t>
            </a:r>
            <a:r>
              <a:rPr lang="fr-FR" sz="1600" kern="0" dirty="0"/>
              <a:t>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 ^ OP(255)</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xor r2, r1.b0, r0.b2</a:t>
            </a:r>
          </a:p>
          <a:p>
            <a:pPr marL="0" indent="0">
              <a:spcBef>
                <a:spcPts val="600"/>
              </a:spcBef>
              <a:buNone/>
            </a:pPr>
            <a:r>
              <a:rPr lang="fr-FR" sz="1600" kern="0" dirty="0">
                <a:sym typeface="Wingdings" panose="05000000000000000000" pitchFamily="2" charset="2"/>
              </a:rPr>
              <a:t>	xor r2, r1.b0, 3</a:t>
            </a:r>
            <a:endParaRPr lang="fr-FR" sz="1600" kern="0" dirty="0"/>
          </a:p>
          <a:p>
            <a:pPr marL="0" indent="0">
              <a:lnSpc>
                <a:spcPct val="120000"/>
              </a:lnSpc>
              <a:buNone/>
            </a:pPr>
            <a:endParaRPr lang="fr-FR" sz="1600" kern="0" dirty="0"/>
          </a:p>
        </p:txBody>
      </p:sp>
      <p:sp>
        <p:nvSpPr>
          <p:cNvPr id="8" name="TextBox 7">
            <a:extLst>
              <a:ext uri="{FF2B5EF4-FFF2-40B4-BE49-F238E27FC236}">
                <a16:creationId xmlns:a16="http://schemas.microsoft.com/office/drawing/2014/main" id="{B5B8504B-182B-4501-96B7-AD93CFF333A3}"/>
              </a:ext>
            </a:extLst>
          </p:cNvPr>
          <p:cNvSpPr txBox="1"/>
          <p:nvPr/>
        </p:nvSpPr>
        <p:spPr>
          <a:xfrm>
            <a:off x="117826" y="4299061"/>
            <a:ext cx="3491661" cy="523220"/>
          </a:xfrm>
          <a:prstGeom prst="rect">
            <a:avLst/>
          </a:prstGeom>
          <a:noFill/>
        </p:spPr>
        <p:txBody>
          <a:bodyPr wrap="none" rtlCol="0">
            <a:spAutoFit/>
          </a:bodyPr>
          <a:lstStyle/>
          <a:p>
            <a:r>
              <a:rPr lang="de-DE" sz="1400" b="1" dirty="0"/>
              <a:t>Note: </a:t>
            </a:r>
            <a:r>
              <a:rPr lang="de-DE" sz="1400" dirty="0"/>
              <a:t>If OP&gt;255 it just starts back from 0 </a:t>
            </a:r>
            <a:endParaRPr lang="en-US" sz="1400" dirty="0"/>
          </a:p>
          <a:p>
            <a:endParaRPr lang="en-US" sz="1400" dirty="0"/>
          </a:p>
        </p:txBody>
      </p:sp>
      <p:pic>
        <p:nvPicPr>
          <p:cNvPr id="3" name="Picture 2">
            <a:extLst>
              <a:ext uri="{FF2B5EF4-FFF2-40B4-BE49-F238E27FC236}">
                <a16:creationId xmlns:a16="http://schemas.microsoft.com/office/drawing/2014/main" id="{A0487863-8B76-4EA3-A975-48E05AB37D18}"/>
              </a:ext>
            </a:extLst>
          </p:cNvPr>
          <p:cNvPicPr>
            <a:picLocks noChangeAspect="1"/>
          </p:cNvPicPr>
          <p:nvPr/>
        </p:nvPicPr>
        <p:blipFill>
          <a:blip r:embed="rId2"/>
          <a:stretch>
            <a:fillRect/>
          </a:stretch>
        </p:blipFill>
        <p:spPr>
          <a:xfrm>
            <a:off x="4498200" y="3000644"/>
            <a:ext cx="3960000" cy="1298417"/>
          </a:xfrm>
          <a:prstGeom prst="rect">
            <a:avLst/>
          </a:prstGeom>
        </p:spPr>
      </p:pic>
    </p:spTree>
    <p:extLst>
      <p:ext uri="{BB962C8B-B14F-4D97-AF65-F5344CB8AC3E}">
        <p14:creationId xmlns:p14="http://schemas.microsoft.com/office/powerpoint/2010/main" val="1538256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NOT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NOT</a:t>
            </a:r>
            <a:r>
              <a:rPr lang="fr-FR" sz="1600" kern="0" dirty="0"/>
              <a:t> Reg1, Reg2</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 Reg2</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not r2, r1</a:t>
            </a:r>
          </a:p>
          <a:p>
            <a:pPr marL="0" indent="0">
              <a:lnSpc>
                <a:spcPct val="120000"/>
              </a:lnSpc>
              <a:buNone/>
            </a:pPr>
            <a:endParaRPr lang="fr-FR" sz="1600" kern="0" dirty="0"/>
          </a:p>
        </p:txBody>
      </p:sp>
      <p:sp>
        <p:nvSpPr>
          <p:cNvPr id="6" name="TextBox 5">
            <a:extLst>
              <a:ext uri="{FF2B5EF4-FFF2-40B4-BE49-F238E27FC236}">
                <a16:creationId xmlns:a16="http://schemas.microsoft.com/office/drawing/2014/main" id="{A63FDA6C-EE23-4649-A041-A9A5812FF699}"/>
              </a:ext>
            </a:extLst>
          </p:cNvPr>
          <p:cNvSpPr txBox="1"/>
          <p:nvPr/>
        </p:nvSpPr>
        <p:spPr>
          <a:xfrm>
            <a:off x="117826" y="4299061"/>
            <a:ext cx="5886548" cy="523220"/>
          </a:xfrm>
          <a:prstGeom prst="rect">
            <a:avLst/>
          </a:prstGeom>
          <a:noFill/>
        </p:spPr>
        <p:txBody>
          <a:bodyPr wrap="none" rtlCol="0">
            <a:spAutoFit/>
          </a:bodyPr>
          <a:lstStyle/>
          <a:p>
            <a:r>
              <a:rPr lang="de-DE" sz="1400" b="1" dirty="0"/>
              <a:t>Note: </a:t>
            </a:r>
            <a:r>
              <a:rPr lang="de-DE" sz="1400" dirty="0"/>
              <a:t>If R2 &gt; 65535 an error message occurs, same for negative values</a:t>
            </a:r>
            <a:endParaRPr lang="en-US" sz="1400" dirty="0"/>
          </a:p>
          <a:p>
            <a:endParaRPr lang="en-US" sz="1400" dirty="0"/>
          </a:p>
        </p:txBody>
      </p:sp>
      <p:pic>
        <p:nvPicPr>
          <p:cNvPr id="4" name="Picture 3">
            <a:extLst>
              <a:ext uri="{FF2B5EF4-FFF2-40B4-BE49-F238E27FC236}">
                <a16:creationId xmlns:a16="http://schemas.microsoft.com/office/drawing/2014/main" id="{C19F681F-4AB8-4C3E-806B-72AD01A54D28}"/>
              </a:ext>
            </a:extLst>
          </p:cNvPr>
          <p:cNvPicPr>
            <a:picLocks noChangeAspect="1"/>
          </p:cNvPicPr>
          <p:nvPr/>
        </p:nvPicPr>
        <p:blipFill>
          <a:blip r:embed="rId2"/>
          <a:stretch>
            <a:fillRect/>
          </a:stretch>
        </p:blipFill>
        <p:spPr>
          <a:xfrm>
            <a:off x="4498200" y="2992704"/>
            <a:ext cx="3960000" cy="1306357"/>
          </a:xfrm>
          <a:prstGeom prst="rect">
            <a:avLst/>
          </a:prstGeom>
        </p:spPr>
      </p:pic>
    </p:spTree>
    <p:extLst>
      <p:ext uri="{BB962C8B-B14F-4D97-AF65-F5344CB8AC3E}">
        <p14:creationId xmlns:p14="http://schemas.microsoft.com/office/powerpoint/2010/main" val="1703947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MIN</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MIN</a:t>
            </a:r>
            <a:r>
              <a:rPr lang="fr-FR" sz="1600" kern="0" dirty="0"/>
              <a:t> Reg1, Reg2, OP(255)</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if (OP(255) &gt; Reg2)</a:t>
            </a:r>
          </a:p>
          <a:p>
            <a:pPr marL="0" indent="0">
              <a:lnSpc>
                <a:spcPct val="120000"/>
              </a:lnSpc>
              <a:buNone/>
            </a:pPr>
            <a:r>
              <a:rPr lang="fr-FR" sz="1600" kern="0" dirty="0"/>
              <a:t>		Reg1 = Reg2;</a:t>
            </a:r>
          </a:p>
          <a:p>
            <a:pPr marL="0" indent="0">
              <a:lnSpc>
                <a:spcPct val="120000"/>
              </a:lnSpc>
              <a:buNone/>
            </a:pPr>
            <a:r>
              <a:rPr lang="fr-FR" sz="1600" kern="0" dirty="0"/>
              <a:t>                   else</a:t>
            </a:r>
          </a:p>
          <a:p>
            <a:pPr marL="0" indent="0">
              <a:lnSpc>
                <a:spcPct val="120000"/>
              </a:lnSpc>
              <a:buNone/>
            </a:pPr>
            <a:r>
              <a:rPr lang="fr-FR" sz="1600" kern="0" dirty="0"/>
              <a:t>		Reg1 = OP(255);</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min r2, r1, r0</a:t>
            </a:r>
          </a:p>
          <a:p>
            <a:pPr>
              <a:lnSpc>
                <a:spcPct val="120000"/>
              </a:lnSpc>
            </a:pPr>
            <a:endParaRPr lang="fr-FR" sz="1600" kern="0" dirty="0"/>
          </a:p>
        </p:txBody>
      </p:sp>
      <p:sp>
        <p:nvSpPr>
          <p:cNvPr id="6" name="TextBox 5">
            <a:extLst>
              <a:ext uri="{FF2B5EF4-FFF2-40B4-BE49-F238E27FC236}">
                <a16:creationId xmlns:a16="http://schemas.microsoft.com/office/drawing/2014/main" id="{D509CB57-1863-4DCB-910F-62C8C20EBB85}"/>
              </a:ext>
            </a:extLst>
          </p:cNvPr>
          <p:cNvSpPr txBox="1"/>
          <p:nvPr/>
        </p:nvSpPr>
        <p:spPr>
          <a:xfrm>
            <a:off x="117826" y="4299061"/>
            <a:ext cx="4354077" cy="523220"/>
          </a:xfrm>
          <a:prstGeom prst="rect">
            <a:avLst/>
          </a:prstGeom>
          <a:noFill/>
        </p:spPr>
        <p:txBody>
          <a:bodyPr wrap="none" rtlCol="0">
            <a:spAutoFit/>
          </a:bodyPr>
          <a:lstStyle/>
          <a:p>
            <a:r>
              <a:rPr lang="de-DE" sz="1400" b="1" dirty="0"/>
              <a:t>Note: </a:t>
            </a:r>
            <a:r>
              <a:rPr lang="de-DE" sz="1400" dirty="0"/>
              <a:t>If OP&gt;255 it is not compiling </a:t>
            </a:r>
            <a:r>
              <a:rPr lang="de-DE" sz="1400" dirty="0">
                <a:sym typeface="Wingdings" panose="05000000000000000000" pitchFamily="2" charset="2"/>
              </a:rPr>
              <a:t> error message</a:t>
            </a:r>
            <a:endParaRPr lang="en-US" sz="1400" dirty="0"/>
          </a:p>
          <a:p>
            <a:endParaRPr lang="en-US" sz="1400" dirty="0"/>
          </a:p>
        </p:txBody>
      </p:sp>
      <p:pic>
        <p:nvPicPr>
          <p:cNvPr id="3" name="Picture 2">
            <a:extLst>
              <a:ext uri="{FF2B5EF4-FFF2-40B4-BE49-F238E27FC236}">
                <a16:creationId xmlns:a16="http://schemas.microsoft.com/office/drawing/2014/main" id="{56BD9287-BD84-4989-9AE9-55F6FC7B1FE0}"/>
              </a:ext>
            </a:extLst>
          </p:cNvPr>
          <p:cNvPicPr>
            <a:picLocks noChangeAspect="1"/>
          </p:cNvPicPr>
          <p:nvPr/>
        </p:nvPicPr>
        <p:blipFill>
          <a:blip r:embed="rId2"/>
          <a:stretch>
            <a:fillRect/>
          </a:stretch>
        </p:blipFill>
        <p:spPr>
          <a:xfrm>
            <a:off x="4498200" y="2993829"/>
            <a:ext cx="3960000" cy="1305232"/>
          </a:xfrm>
          <a:prstGeom prst="rect">
            <a:avLst/>
          </a:prstGeom>
        </p:spPr>
      </p:pic>
    </p:spTree>
    <p:extLst>
      <p:ext uri="{BB962C8B-B14F-4D97-AF65-F5344CB8AC3E}">
        <p14:creationId xmlns:p14="http://schemas.microsoft.com/office/powerpoint/2010/main" val="432629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MAX</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MAX</a:t>
            </a:r>
            <a:r>
              <a:rPr lang="fr-FR" sz="1600" kern="0" dirty="0"/>
              <a:t> Reg1, Reg2, OP(31)</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if (OP(255) &gt; Reg2)</a:t>
            </a:r>
          </a:p>
          <a:p>
            <a:pPr marL="0" indent="0">
              <a:lnSpc>
                <a:spcPct val="120000"/>
              </a:lnSpc>
              <a:buNone/>
            </a:pPr>
            <a:r>
              <a:rPr lang="fr-FR" sz="1600" kern="0" dirty="0"/>
              <a:t>		Reg1 = OP(255);</a:t>
            </a:r>
          </a:p>
          <a:p>
            <a:pPr marL="0" indent="0">
              <a:lnSpc>
                <a:spcPct val="120000"/>
              </a:lnSpc>
              <a:buNone/>
            </a:pPr>
            <a:r>
              <a:rPr lang="fr-FR" sz="1600" kern="0" dirty="0"/>
              <a:t>                   else</a:t>
            </a:r>
          </a:p>
          <a:p>
            <a:pPr marL="0" indent="0">
              <a:lnSpc>
                <a:spcPct val="120000"/>
              </a:lnSpc>
              <a:buNone/>
            </a:pPr>
            <a:r>
              <a:rPr lang="fr-FR" sz="1600" kern="0" dirty="0"/>
              <a:t>		Reg1 = Reg2;</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max r2, r1, r0</a:t>
            </a:r>
          </a:p>
          <a:p>
            <a:pPr>
              <a:lnSpc>
                <a:spcPct val="120000"/>
              </a:lnSpc>
            </a:pPr>
            <a:endParaRPr lang="fr-FR" sz="1600" kern="0" dirty="0"/>
          </a:p>
        </p:txBody>
      </p:sp>
      <p:sp>
        <p:nvSpPr>
          <p:cNvPr id="5" name="TextBox 4">
            <a:extLst>
              <a:ext uri="{FF2B5EF4-FFF2-40B4-BE49-F238E27FC236}">
                <a16:creationId xmlns:a16="http://schemas.microsoft.com/office/drawing/2014/main" id="{405ED86B-5445-43D6-A517-D088A41C602B}"/>
              </a:ext>
            </a:extLst>
          </p:cNvPr>
          <p:cNvSpPr txBox="1"/>
          <p:nvPr/>
        </p:nvSpPr>
        <p:spPr>
          <a:xfrm>
            <a:off x="117826" y="4299061"/>
            <a:ext cx="4354077" cy="523220"/>
          </a:xfrm>
          <a:prstGeom prst="rect">
            <a:avLst/>
          </a:prstGeom>
          <a:noFill/>
        </p:spPr>
        <p:txBody>
          <a:bodyPr wrap="none" rtlCol="0">
            <a:spAutoFit/>
          </a:bodyPr>
          <a:lstStyle/>
          <a:p>
            <a:r>
              <a:rPr lang="de-DE" sz="1400" b="1" dirty="0"/>
              <a:t>Note: </a:t>
            </a:r>
            <a:r>
              <a:rPr lang="de-DE" sz="1400" dirty="0"/>
              <a:t>If OP&gt;255 it is not compiling </a:t>
            </a:r>
            <a:r>
              <a:rPr lang="de-DE" sz="1400" dirty="0">
                <a:sym typeface="Wingdings" panose="05000000000000000000" pitchFamily="2" charset="2"/>
              </a:rPr>
              <a:t> error message</a:t>
            </a:r>
            <a:endParaRPr lang="en-US" sz="1400" dirty="0"/>
          </a:p>
          <a:p>
            <a:endParaRPr lang="en-US" sz="1400" dirty="0"/>
          </a:p>
        </p:txBody>
      </p:sp>
      <p:pic>
        <p:nvPicPr>
          <p:cNvPr id="3" name="Picture 2">
            <a:extLst>
              <a:ext uri="{FF2B5EF4-FFF2-40B4-BE49-F238E27FC236}">
                <a16:creationId xmlns:a16="http://schemas.microsoft.com/office/drawing/2014/main" id="{07100321-884D-4F79-B9AE-A72ADE1CAD92}"/>
              </a:ext>
            </a:extLst>
          </p:cNvPr>
          <p:cNvPicPr>
            <a:picLocks noChangeAspect="1"/>
          </p:cNvPicPr>
          <p:nvPr/>
        </p:nvPicPr>
        <p:blipFill>
          <a:blip r:embed="rId2"/>
          <a:stretch>
            <a:fillRect/>
          </a:stretch>
        </p:blipFill>
        <p:spPr>
          <a:xfrm>
            <a:off x="4498200" y="2997237"/>
            <a:ext cx="3960000" cy="1301824"/>
          </a:xfrm>
          <a:prstGeom prst="rect">
            <a:avLst/>
          </a:prstGeom>
        </p:spPr>
      </p:pic>
    </p:spTree>
    <p:extLst>
      <p:ext uri="{BB962C8B-B14F-4D97-AF65-F5344CB8AC3E}">
        <p14:creationId xmlns:p14="http://schemas.microsoft.com/office/powerpoint/2010/main" val="3095344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CLR – </a:t>
            </a:r>
            <a:r>
              <a:rPr lang="en-US" sz="2800" dirty="0"/>
              <a:t>Clear Bit</a:t>
            </a:r>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927706"/>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CLR</a:t>
            </a:r>
            <a:r>
              <a:rPr lang="fr-FR" sz="1600" kern="0" dirty="0"/>
              <a:t> Reg1, Reg2, OP(31)                   </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clr r2, r1, r0 (=6)</a:t>
            </a:r>
          </a:p>
          <a:p>
            <a:pPr marL="0" indent="0">
              <a:lnSpc>
                <a:spcPct val="120000"/>
              </a:lnSpc>
              <a:buNone/>
            </a:pPr>
            <a:r>
              <a:rPr lang="fr-FR" sz="1600" kern="0" dirty="0"/>
              <a:t>	</a:t>
            </a:r>
            <a:r>
              <a:rPr lang="pt-BR" sz="1600" dirty="0"/>
              <a:t>clr r2, r1.b0, r1.b1</a:t>
            </a:r>
          </a:p>
          <a:p>
            <a:pPr marL="0" indent="0">
              <a:lnSpc>
                <a:spcPct val="120000"/>
              </a:lnSpc>
              <a:buNone/>
            </a:pPr>
            <a:r>
              <a:rPr lang="pt-BR" sz="1600" kern="0" dirty="0"/>
              <a:t>	clr r2, r1, 6</a:t>
            </a:r>
            <a:endParaRPr lang="fr-FR" sz="1600" kern="0" dirty="0"/>
          </a:p>
          <a:p>
            <a:pPr marL="0" indent="0">
              <a:lnSpc>
                <a:spcPct val="120000"/>
              </a:lnSpc>
              <a:buNone/>
            </a:pPr>
            <a:endParaRPr lang="fr-FR" sz="1600" kern="0" dirty="0"/>
          </a:p>
        </p:txBody>
      </p:sp>
      <p:sp>
        <p:nvSpPr>
          <p:cNvPr id="5" name="TextBox 4">
            <a:extLst>
              <a:ext uri="{FF2B5EF4-FFF2-40B4-BE49-F238E27FC236}">
                <a16:creationId xmlns:a16="http://schemas.microsoft.com/office/drawing/2014/main" id="{47AA6AC6-0AD6-4121-B1D8-5C0C576AAC2A}"/>
              </a:ext>
            </a:extLst>
          </p:cNvPr>
          <p:cNvSpPr txBox="1"/>
          <p:nvPr/>
        </p:nvSpPr>
        <p:spPr>
          <a:xfrm>
            <a:off x="117826" y="4299061"/>
            <a:ext cx="3073277" cy="523220"/>
          </a:xfrm>
          <a:prstGeom prst="rect">
            <a:avLst/>
          </a:prstGeom>
          <a:noFill/>
        </p:spPr>
        <p:txBody>
          <a:bodyPr wrap="none" rtlCol="0">
            <a:spAutoFit/>
          </a:bodyPr>
          <a:lstStyle/>
          <a:p>
            <a:r>
              <a:rPr lang="de-DE" sz="1400" b="1" dirty="0"/>
              <a:t>Note: </a:t>
            </a:r>
            <a:r>
              <a:rPr lang="de-DE" sz="1400" dirty="0"/>
              <a:t>If OP&gt;31 it starts from 0 again</a:t>
            </a:r>
            <a:endParaRPr lang="en-US" sz="1400" dirty="0"/>
          </a:p>
          <a:p>
            <a:endParaRPr lang="en-US" sz="1400" dirty="0"/>
          </a:p>
        </p:txBody>
      </p:sp>
      <p:pic>
        <p:nvPicPr>
          <p:cNvPr id="3" name="Picture 2">
            <a:extLst>
              <a:ext uri="{FF2B5EF4-FFF2-40B4-BE49-F238E27FC236}">
                <a16:creationId xmlns:a16="http://schemas.microsoft.com/office/drawing/2014/main" id="{847A9DD6-D84D-4416-8027-5D897B371897}"/>
              </a:ext>
            </a:extLst>
          </p:cNvPr>
          <p:cNvPicPr>
            <a:picLocks noChangeAspect="1"/>
          </p:cNvPicPr>
          <p:nvPr/>
        </p:nvPicPr>
        <p:blipFill>
          <a:blip r:embed="rId2"/>
          <a:stretch>
            <a:fillRect/>
          </a:stretch>
        </p:blipFill>
        <p:spPr>
          <a:xfrm>
            <a:off x="4498200" y="2998356"/>
            <a:ext cx="3960000" cy="1300705"/>
          </a:xfrm>
          <a:prstGeom prst="rect">
            <a:avLst/>
          </a:prstGeom>
        </p:spPr>
      </p:pic>
    </p:spTree>
    <p:extLst>
      <p:ext uri="{BB962C8B-B14F-4D97-AF65-F5344CB8AC3E}">
        <p14:creationId xmlns:p14="http://schemas.microsoft.com/office/powerpoint/2010/main" val="604127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SET – Set Bit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SET</a:t>
            </a:r>
            <a:r>
              <a:rPr lang="fr-FR" sz="1600" kern="0" dirty="0"/>
              <a:t> Reg1, Reg2, OP(31)</a:t>
            </a:r>
            <a:endParaRPr lang="fr-FR" sz="1600" b="1" kern="0" dirty="0"/>
          </a:p>
          <a:p>
            <a:pPr marL="0" indent="0">
              <a:lnSpc>
                <a:spcPct val="120000"/>
              </a:lnSpc>
              <a:buNone/>
            </a:pPr>
            <a:r>
              <a:rPr lang="fr-FR" sz="1600" b="1" kern="0" dirty="0"/>
              <a:t>Example:</a:t>
            </a:r>
          </a:p>
          <a:p>
            <a:pPr marL="0" indent="0">
              <a:lnSpc>
                <a:spcPct val="120000"/>
              </a:lnSpc>
              <a:buNone/>
            </a:pPr>
            <a:r>
              <a:rPr lang="fr-FR" sz="1600" kern="0" dirty="0"/>
              <a:t>	set r2, r1, r0 (=3)</a:t>
            </a:r>
          </a:p>
          <a:p>
            <a:pPr marL="0" indent="0">
              <a:lnSpc>
                <a:spcPct val="120000"/>
              </a:lnSpc>
              <a:buNone/>
            </a:pPr>
            <a:r>
              <a:rPr lang="fr-FR" sz="1600" kern="0" dirty="0"/>
              <a:t>	set r2, r1, 3</a:t>
            </a:r>
          </a:p>
          <a:p>
            <a:pPr marL="0" indent="0">
              <a:lnSpc>
                <a:spcPct val="120000"/>
              </a:lnSpc>
              <a:buNone/>
            </a:pPr>
            <a:r>
              <a:rPr lang="pt-BR" sz="1600" kern="0" dirty="0"/>
              <a:t>	set</a:t>
            </a:r>
            <a:r>
              <a:rPr lang="pt-BR" sz="1600" dirty="0"/>
              <a:t> r2, r1.b0, r1.b1</a:t>
            </a:r>
            <a:endParaRPr lang="fr-FR" sz="1600" kern="0" dirty="0"/>
          </a:p>
        </p:txBody>
      </p:sp>
      <p:sp>
        <p:nvSpPr>
          <p:cNvPr id="5" name="TextBox 4">
            <a:extLst>
              <a:ext uri="{FF2B5EF4-FFF2-40B4-BE49-F238E27FC236}">
                <a16:creationId xmlns:a16="http://schemas.microsoft.com/office/drawing/2014/main" id="{7095F937-8830-47EF-BE4B-9251B81C683A}"/>
              </a:ext>
            </a:extLst>
          </p:cNvPr>
          <p:cNvSpPr txBox="1"/>
          <p:nvPr/>
        </p:nvSpPr>
        <p:spPr>
          <a:xfrm>
            <a:off x="117826" y="4299061"/>
            <a:ext cx="3073277" cy="523220"/>
          </a:xfrm>
          <a:prstGeom prst="rect">
            <a:avLst/>
          </a:prstGeom>
          <a:noFill/>
        </p:spPr>
        <p:txBody>
          <a:bodyPr wrap="none" rtlCol="0">
            <a:spAutoFit/>
          </a:bodyPr>
          <a:lstStyle/>
          <a:p>
            <a:r>
              <a:rPr lang="de-DE" sz="1400" b="1" dirty="0"/>
              <a:t>Note: </a:t>
            </a:r>
            <a:r>
              <a:rPr lang="de-DE" sz="1400" dirty="0"/>
              <a:t>If OP&gt;31 it starts from 0 again</a:t>
            </a:r>
            <a:endParaRPr lang="en-US" sz="1400" dirty="0"/>
          </a:p>
          <a:p>
            <a:endParaRPr lang="en-US" sz="1400" dirty="0"/>
          </a:p>
        </p:txBody>
      </p:sp>
      <p:pic>
        <p:nvPicPr>
          <p:cNvPr id="4" name="Picture 3">
            <a:extLst>
              <a:ext uri="{FF2B5EF4-FFF2-40B4-BE49-F238E27FC236}">
                <a16:creationId xmlns:a16="http://schemas.microsoft.com/office/drawing/2014/main" id="{1915C8C3-5140-4A45-8C97-A22790DFDD9B}"/>
              </a:ext>
            </a:extLst>
          </p:cNvPr>
          <p:cNvPicPr>
            <a:picLocks noChangeAspect="1"/>
          </p:cNvPicPr>
          <p:nvPr/>
        </p:nvPicPr>
        <p:blipFill>
          <a:blip r:embed="rId2"/>
          <a:stretch>
            <a:fillRect/>
          </a:stretch>
        </p:blipFill>
        <p:spPr>
          <a:xfrm>
            <a:off x="4498200" y="2987013"/>
            <a:ext cx="3960000" cy="1312048"/>
          </a:xfrm>
          <a:prstGeom prst="rect">
            <a:avLst/>
          </a:prstGeom>
        </p:spPr>
      </p:pic>
    </p:spTree>
    <p:extLst>
      <p:ext uri="{BB962C8B-B14F-4D97-AF65-F5344CB8AC3E}">
        <p14:creationId xmlns:p14="http://schemas.microsoft.com/office/powerpoint/2010/main" val="2770922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LMBD – Left Most Bit Detect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699366"/>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b="1" kern="0" dirty="0"/>
              <a:t>Format: </a:t>
            </a:r>
          </a:p>
          <a:p>
            <a:pPr marL="0" indent="0">
              <a:lnSpc>
                <a:spcPct val="120000"/>
              </a:lnSpc>
              <a:buNone/>
            </a:pPr>
            <a:r>
              <a:rPr lang="fr-FR" b="1" kern="0" dirty="0">
                <a:sym typeface="Wingdings" panose="05000000000000000000" pitchFamily="2" charset="2"/>
              </a:rPr>
              <a:t>              </a:t>
            </a:r>
            <a:r>
              <a:rPr lang="fr-FR" kern="0" dirty="0">
                <a:sym typeface="Wingdings" panose="05000000000000000000" pitchFamily="2" charset="2"/>
              </a:rPr>
              <a:t>LMBD</a:t>
            </a:r>
            <a:r>
              <a:rPr lang="fr-FR" kern="0" dirty="0"/>
              <a:t> Reg1, Reg2, OP(255)</a:t>
            </a:r>
          </a:p>
          <a:p>
            <a:pPr marL="0" indent="0">
              <a:lnSpc>
                <a:spcPct val="120000"/>
              </a:lnSpc>
              <a:buNone/>
            </a:pPr>
            <a:r>
              <a:rPr lang="fr-FR" b="1" kern="0" dirty="0"/>
              <a:t>Operation</a:t>
            </a:r>
            <a:r>
              <a:rPr lang="fr-FR" kern="0" dirty="0"/>
              <a:t>: </a:t>
            </a:r>
          </a:p>
          <a:p>
            <a:pPr marL="0" indent="0">
              <a:lnSpc>
                <a:spcPct val="120000"/>
              </a:lnSpc>
              <a:buNone/>
            </a:pPr>
            <a:r>
              <a:rPr lang="fr-FR" kern="0" dirty="0"/>
              <a:t>	Searches Bit position in Reg2 of OP(255)</a:t>
            </a:r>
          </a:p>
          <a:p>
            <a:pPr marL="0" indent="0">
              <a:lnSpc>
                <a:spcPct val="120000"/>
              </a:lnSpc>
              <a:buNone/>
            </a:pPr>
            <a:r>
              <a:rPr lang="fr-FR" b="1" kern="0" dirty="0"/>
              <a:t>Example:</a:t>
            </a:r>
          </a:p>
          <a:p>
            <a:pPr marL="0" indent="0">
              <a:lnSpc>
                <a:spcPct val="120000"/>
              </a:lnSpc>
              <a:buNone/>
            </a:pPr>
            <a:r>
              <a:rPr lang="fr-FR" b="1" kern="0" dirty="0"/>
              <a:t>	</a:t>
            </a:r>
            <a:r>
              <a:rPr lang="fr-FR" kern="0" dirty="0"/>
              <a:t>lmbd r3, r1, 0/1</a:t>
            </a:r>
          </a:p>
          <a:p>
            <a:pPr marL="0" indent="0">
              <a:lnSpc>
                <a:spcPct val="120000"/>
              </a:lnSpc>
              <a:buNone/>
            </a:pPr>
            <a:r>
              <a:rPr lang="fr-FR" kern="0" dirty="0"/>
              <a:t>	lmbd r3, r1, r2 (=0/1)</a:t>
            </a:r>
          </a:p>
          <a:p>
            <a:pPr>
              <a:lnSpc>
                <a:spcPct val="120000"/>
              </a:lnSpc>
            </a:pPr>
            <a:endParaRPr lang="fr-FR" kern="0" dirty="0"/>
          </a:p>
        </p:txBody>
      </p:sp>
      <p:sp>
        <p:nvSpPr>
          <p:cNvPr id="6" name="TextBox 5">
            <a:extLst>
              <a:ext uri="{FF2B5EF4-FFF2-40B4-BE49-F238E27FC236}">
                <a16:creationId xmlns:a16="http://schemas.microsoft.com/office/drawing/2014/main" id="{75ADDA94-07F6-4DCB-971C-6758D3298F4D}"/>
              </a:ext>
            </a:extLst>
          </p:cNvPr>
          <p:cNvSpPr txBox="1"/>
          <p:nvPr/>
        </p:nvSpPr>
        <p:spPr>
          <a:xfrm>
            <a:off x="1715722" y="3620733"/>
            <a:ext cx="6215163" cy="584775"/>
          </a:xfrm>
          <a:prstGeom prst="rect">
            <a:avLst/>
          </a:prstGeom>
          <a:noFill/>
        </p:spPr>
        <p:txBody>
          <a:bodyPr wrap="none" rtlCol="0">
            <a:spAutoFit/>
          </a:bodyPr>
          <a:lstStyle/>
          <a:p>
            <a:r>
              <a:rPr lang="de-DE" sz="1600" dirty="0"/>
              <a:t>For OP(255) = {0, 2, 4, 6 .... 254} it always looks for the most left 0</a:t>
            </a:r>
          </a:p>
          <a:p>
            <a:r>
              <a:rPr lang="de-DE" sz="1600" dirty="0"/>
              <a:t>For OP(255) = {1, 3, 5, 7 .... 255} it always looks for the most left 1</a:t>
            </a:r>
            <a:endParaRPr lang="en-US" sz="1600" dirty="0"/>
          </a:p>
        </p:txBody>
      </p:sp>
      <p:sp>
        <p:nvSpPr>
          <p:cNvPr id="11" name="TextBox 10">
            <a:extLst>
              <a:ext uri="{FF2B5EF4-FFF2-40B4-BE49-F238E27FC236}">
                <a16:creationId xmlns:a16="http://schemas.microsoft.com/office/drawing/2014/main" id="{208FD18F-0E03-4F52-B9FC-7328ECD1A4DF}"/>
              </a:ext>
            </a:extLst>
          </p:cNvPr>
          <p:cNvSpPr txBox="1"/>
          <p:nvPr/>
        </p:nvSpPr>
        <p:spPr>
          <a:xfrm>
            <a:off x="117826" y="4299061"/>
            <a:ext cx="4354077" cy="523220"/>
          </a:xfrm>
          <a:prstGeom prst="rect">
            <a:avLst/>
          </a:prstGeom>
          <a:noFill/>
        </p:spPr>
        <p:txBody>
          <a:bodyPr wrap="none" rtlCol="0">
            <a:spAutoFit/>
          </a:bodyPr>
          <a:lstStyle/>
          <a:p>
            <a:r>
              <a:rPr lang="de-DE" sz="1400" b="1" dirty="0"/>
              <a:t>Note: </a:t>
            </a:r>
            <a:r>
              <a:rPr lang="de-DE" sz="1400" dirty="0"/>
              <a:t>If OP&gt;255 it is not compiling </a:t>
            </a:r>
            <a:r>
              <a:rPr lang="de-DE" sz="1400" dirty="0">
                <a:sym typeface="Wingdings" panose="05000000000000000000" pitchFamily="2" charset="2"/>
              </a:rPr>
              <a:t> error message</a:t>
            </a:r>
            <a:endParaRPr lang="en-US" sz="1400" dirty="0"/>
          </a:p>
          <a:p>
            <a:endParaRPr lang="en-US" sz="1400" dirty="0"/>
          </a:p>
        </p:txBody>
      </p:sp>
    </p:spTree>
    <p:extLst>
      <p:ext uri="{BB962C8B-B14F-4D97-AF65-F5344CB8AC3E}">
        <p14:creationId xmlns:p14="http://schemas.microsoft.com/office/powerpoint/2010/main" val="2305591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0"/>
            <a:ext cx="8458200" cy="593809"/>
          </a:xfrm>
        </p:spPr>
        <p:txBody>
          <a:bodyPr/>
          <a:lstStyle/>
          <a:p>
            <a:r>
              <a:rPr lang="de-DE" sz="2800" dirty="0"/>
              <a:t>LDI = Load Immediate</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r>
              <a:rPr lang="en-US" sz="1600" dirty="0"/>
              <a:t>The LDI instruction moves the value from IM(65535), zero extends it, and stores it into REG1</a:t>
            </a:r>
            <a:endParaRPr lang="fr-FR" sz="1600" b="1" kern="0" dirty="0"/>
          </a:p>
          <a:p>
            <a:pPr marL="0" indent="0">
              <a:lnSpc>
                <a:spcPct val="120000"/>
              </a:lnSpc>
              <a:buNone/>
            </a:pPr>
            <a:r>
              <a:rPr lang="fr-FR" sz="1600" b="1" kern="0" dirty="0">
                <a:sym typeface="Wingdings" panose="05000000000000000000" pitchFamily="2" charset="2"/>
              </a:rPr>
              <a:t>                  </a:t>
            </a:r>
            <a:r>
              <a:rPr lang="fr-FR" sz="1600" kern="0" dirty="0">
                <a:sym typeface="Wingdings" panose="05000000000000000000" pitchFamily="2" charset="2"/>
              </a:rPr>
              <a:t>LDI Reg1, IM(65535) </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IM(65535)</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en-US" sz="1600" dirty="0"/>
              <a:t>ldi32 r1, 0xaabbccdd </a:t>
            </a:r>
          </a:p>
          <a:p>
            <a:pPr marL="0" indent="0">
              <a:lnSpc>
                <a:spcPct val="120000"/>
              </a:lnSpc>
              <a:buNone/>
            </a:pPr>
            <a:r>
              <a:rPr lang="en-US" sz="1600" dirty="0"/>
              <a:t>	ldi r30.b0, &amp;r2</a:t>
            </a:r>
            <a:endParaRPr lang="fr-FR" sz="1600" kern="0" dirty="0"/>
          </a:p>
        </p:txBody>
      </p:sp>
      <p:sp>
        <p:nvSpPr>
          <p:cNvPr id="4" name="TextBox 3">
            <a:extLst>
              <a:ext uri="{FF2B5EF4-FFF2-40B4-BE49-F238E27FC236}">
                <a16:creationId xmlns:a16="http://schemas.microsoft.com/office/drawing/2014/main" id="{1695DC98-7AD7-44C8-AE48-8D3417B91058}"/>
              </a:ext>
            </a:extLst>
          </p:cNvPr>
          <p:cNvSpPr txBox="1"/>
          <p:nvPr/>
        </p:nvSpPr>
        <p:spPr>
          <a:xfrm>
            <a:off x="117826" y="4299061"/>
            <a:ext cx="3539752" cy="523220"/>
          </a:xfrm>
          <a:prstGeom prst="rect">
            <a:avLst/>
          </a:prstGeom>
          <a:noFill/>
        </p:spPr>
        <p:txBody>
          <a:bodyPr wrap="none" rtlCol="0">
            <a:spAutoFit/>
          </a:bodyPr>
          <a:lstStyle/>
          <a:p>
            <a:r>
              <a:rPr lang="de-DE" sz="1400" b="1" dirty="0"/>
              <a:t>Note: </a:t>
            </a:r>
            <a:r>
              <a:rPr lang="de-DE" sz="1400" dirty="0"/>
              <a:t>If IM&gt;65535 it shows error message</a:t>
            </a:r>
            <a:endParaRPr lang="en-US" sz="1400" dirty="0"/>
          </a:p>
          <a:p>
            <a:endParaRPr lang="en-US" sz="1400" dirty="0"/>
          </a:p>
        </p:txBody>
      </p:sp>
      <p:pic>
        <p:nvPicPr>
          <p:cNvPr id="3" name="Picture 2">
            <a:extLst>
              <a:ext uri="{FF2B5EF4-FFF2-40B4-BE49-F238E27FC236}">
                <a16:creationId xmlns:a16="http://schemas.microsoft.com/office/drawing/2014/main" id="{0B6B531C-3B4F-4C2B-B41F-BBA8AE0F7DAB}"/>
              </a:ext>
            </a:extLst>
          </p:cNvPr>
          <p:cNvPicPr>
            <a:picLocks noChangeAspect="1"/>
          </p:cNvPicPr>
          <p:nvPr/>
        </p:nvPicPr>
        <p:blipFill>
          <a:blip r:embed="rId2"/>
          <a:stretch>
            <a:fillRect/>
          </a:stretch>
        </p:blipFill>
        <p:spPr>
          <a:xfrm>
            <a:off x="4498200" y="1638253"/>
            <a:ext cx="3960000" cy="1300655"/>
          </a:xfrm>
          <a:prstGeom prst="rect">
            <a:avLst/>
          </a:prstGeom>
        </p:spPr>
      </p:pic>
      <p:pic>
        <p:nvPicPr>
          <p:cNvPr id="5" name="Picture 4">
            <a:extLst>
              <a:ext uri="{FF2B5EF4-FFF2-40B4-BE49-F238E27FC236}">
                <a16:creationId xmlns:a16="http://schemas.microsoft.com/office/drawing/2014/main" id="{F0B8A791-589D-465A-84BC-1CB2899D65F7}"/>
              </a:ext>
            </a:extLst>
          </p:cNvPr>
          <p:cNvPicPr>
            <a:picLocks noChangeAspect="1"/>
          </p:cNvPicPr>
          <p:nvPr/>
        </p:nvPicPr>
        <p:blipFill>
          <a:blip r:embed="rId3"/>
          <a:stretch>
            <a:fillRect/>
          </a:stretch>
        </p:blipFill>
        <p:spPr>
          <a:xfrm>
            <a:off x="4498200" y="3133286"/>
            <a:ext cx="3960000" cy="1300655"/>
          </a:xfrm>
          <a:prstGeom prst="rect">
            <a:avLst/>
          </a:prstGeom>
        </p:spPr>
      </p:pic>
      <p:sp>
        <p:nvSpPr>
          <p:cNvPr id="11" name="TextBox 10">
            <a:extLst>
              <a:ext uri="{FF2B5EF4-FFF2-40B4-BE49-F238E27FC236}">
                <a16:creationId xmlns:a16="http://schemas.microsoft.com/office/drawing/2014/main" id="{4E0B5D20-4847-490A-A3AF-E5C377E11FA4}"/>
              </a:ext>
            </a:extLst>
          </p:cNvPr>
          <p:cNvSpPr txBox="1"/>
          <p:nvPr/>
        </p:nvSpPr>
        <p:spPr>
          <a:xfrm>
            <a:off x="3893912" y="2155806"/>
            <a:ext cx="670376" cy="276999"/>
          </a:xfrm>
          <a:prstGeom prst="rect">
            <a:avLst/>
          </a:prstGeom>
          <a:noFill/>
        </p:spPr>
        <p:txBody>
          <a:bodyPr wrap="none" rtlCol="0">
            <a:spAutoFit/>
          </a:bodyPr>
          <a:lstStyle/>
          <a:p>
            <a:r>
              <a:rPr lang="de-DE" sz="1200" b="1" dirty="0"/>
              <a:t>Before</a:t>
            </a:r>
            <a:endParaRPr lang="en-US" sz="1200" b="1" dirty="0"/>
          </a:p>
        </p:txBody>
      </p:sp>
      <p:sp>
        <p:nvSpPr>
          <p:cNvPr id="12" name="TextBox 11">
            <a:extLst>
              <a:ext uri="{FF2B5EF4-FFF2-40B4-BE49-F238E27FC236}">
                <a16:creationId xmlns:a16="http://schemas.microsoft.com/office/drawing/2014/main" id="{14F743FD-EA2A-4ADB-9CFA-E7BF474117C8}"/>
              </a:ext>
            </a:extLst>
          </p:cNvPr>
          <p:cNvSpPr txBox="1"/>
          <p:nvPr/>
        </p:nvSpPr>
        <p:spPr>
          <a:xfrm>
            <a:off x="3893912" y="3343911"/>
            <a:ext cx="542136" cy="276999"/>
          </a:xfrm>
          <a:prstGeom prst="rect">
            <a:avLst/>
          </a:prstGeom>
          <a:noFill/>
        </p:spPr>
        <p:txBody>
          <a:bodyPr wrap="none" rtlCol="0">
            <a:spAutoFit/>
          </a:bodyPr>
          <a:lstStyle/>
          <a:p>
            <a:r>
              <a:rPr lang="de-DE" sz="1200" b="1" dirty="0"/>
              <a:t>After</a:t>
            </a:r>
            <a:endParaRPr lang="en-US" sz="1200" b="1" dirty="0"/>
          </a:p>
        </p:txBody>
      </p:sp>
    </p:spTree>
    <p:extLst>
      <p:ext uri="{BB962C8B-B14F-4D97-AF65-F5344CB8AC3E}">
        <p14:creationId xmlns:p14="http://schemas.microsoft.com/office/powerpoint/2010/main" val="4091428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0"/>
            <a:ext cx="8458200" cy="593809"/>
          </a:xfrm>
        </p:spPr>
        <p:txBody>
          <a:bodyPr/>
          <a:lstStyle/>
          <a:p>
            <a:r>
              <a:rPr lang="de-DE" sz="2800" dirty="0"/>
              <a:t>MOV = </a:t>
            </a:r>
            <a:r>
              <a:rPr lang="en-US" sz="2800" dirty="0"/>
              <a:t>Copy Value</a:t>
            </a:r>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r>
              <a:rPr lang="en-US" sz="1600" dirty="0"/>
              <a:t>The MOV instruction moves the value from REG2 and stores it into REG1</a:t>
            </a:r>
          </a:p>
          <a:p>
            <a:pPr marL="0" indent="0">
              <a:lnSpc>
                <a:spcPct val="120000"/>
              </a:lnSpc>
              <a:buNone/>
            </a:pPr>
            <a:r>
              <a:rPr lang="en-US" sz="1600" kern="0" dirty="0">
                <a:sym typeface="Wingdings" panose="05000000000000000000" pitchFamily="2" charset="2"/>
              </a:rPr>
              <a:t>	</a:t>
            </a:r>
            <a:r>
              <a:rPr lang="fr-FR" sz="1600" kern="0" dirty="0">
                <a:sym typeface="Wingdings" panose="05000000000000000000" pitchFamily="2" charset="2"/>
              </a:rPr>
              <a:t>MOV</a:t>
            </a:r>
            <a:r>
              <a:rPr lang="fr-FR" sz="1600" kern="0" dirty="0"/>
              <a:t> Reg1, Reg2</a:t>
            </a:r>
          </a:p>
          <a:p>
            <a:pPr marL="0" indent="0">
              <a:lnSpc>
                <a:spcPct val="120000"/>
              </a:lnSpc>
              <a:buNone/>
            </a:pPr>
            <a:r>
              <a:rPr lang="fr-FR" sz="1600" b="1" kern="0" dirty="0"/>
              <a:t>Operation</a:t>
            </a:r>
            <a:r>
              <a:rPr lang="fr-FR" sz="1600" kern="0" dirty="0"/>
              <a:t>: </a:t>
            </a:r>
          </a:p>
          <a:p>
            <a:pPr marL="0" indent="0">
              <a:lnSpc>
                <a:spcPct val="120000"/>
              </a:lnSpc>
              <a:buNone/>
            </a:pPr>
            <a:r>
              <a:rPr lang="fr-FR" sz="1600" kern="0" dirty="0"/>
              <a:t>                Reg1 = Reg2</a:t>
            </a:r>
            <a:endParaRPr lang="fr-FR" sz="1600" b="1" kern="0" dirty="0"/>
          </a:p>
          <a:p>
            <a:pPr marL="0" indent="0">
              <a:lnSpc>
                <a:spcPct val="120000"/>
              </a:lnSpc>
              <a:buNone/>
            </a:pPr>
            <a:r>
              <a:rPr lang="fr-FR" sz="1600" b="1" kern="0" dirty="0"/>
              <a:t>Example:</a:t>
            </a:r>
          </a:p>
          <a:p>
            <a:pPr marL="0" indent="0">
              <a:lnSpc>
                <a:spcPct val="120000"/>
              </a:lnSpc>
              <a:buNone/>
            </a:pPr>
            <a:r>
              <a:rPr lang="fr-FR" sz="1600" b="1" kern="0" dirty="0"/>
              <a:t>	</a:t>
            </a:r>
            <a:r>
              <a:rPr lang="fr-FR" sz="1600" kern="0" dirty="0"/>
              <a:t>mov r1, r2</a:t>
            </a:r>
          </a:p>
          <a:p>
            <a:pPr marL="0" indent="0">
              <a:lnSpc>
                <a:spcPct val="120000"/>
              </a:lnSpc>
              <a:buNone/>
            </a:pPr>
            <a:r>
              <a:rPr lang="fr-FR" sz="1600" kern="0" dirty="0"/>
              <a:t>	mov r1.b1, r1.b3</a:t>
            </a:r>
          </a:p>
          <a:p>
            <a:pPr marL="0" indent="0">
              <a:lnSpc>
                <a:spcPct val="120000"/>
              </a:lnSpc>
              <a:buNone/>
            </a:pPr>
            <a:r>
              <a:rPr lang="fr-FR" sz="1600" kern="0" dirty="0"/>
              <a:t>	mov r1.b1, r1.w2</a:t>
            </a:r>
          </a:p>
        </p:txBody>
      </p:sp>
      <p:pic>
        <p:nvPicPr>
          <p:cNvPr id="3" name="Picture 2">
            <a:extLst>
              <a:ext uri="{FF2B5EF4-FFF2-40B4-BE49-F238E27FC236}">
                <a16:creationId xmlns:a16="http://schemas.microsoft.com/office/drawing/2014/main" id="{242FFA1B-4A7C-45EB-B1AC-341E1DF3D086}"/>
              </a:ext>
            </a:extLst>
          </p:cNvPr>
          <p:cNvPicPr>
            <a:picLocks noChangeAspect="1"/>
          </p:cNvPicPr>
          <p:nvPr/>
        </p:nvPicPr>
        <p:blipFill>
          <a:blip r:embed="rId2"/>
          <a:stretch>
            <a:fillRect/>
          </a:stretch>
        </p:blipFill>
        <p:spPr>
          <a:xfrm>
            <a:off x="4498200" y="1641126"/>
            <a:ext cx="3960000" cy="1306357"/>
          </a:xfrm>
          <a:prstGeom prst="rect">
            <a:avLst/>
          </a:prstGeom>
        </p:spPr>
      </p:pic>
      <p:sp>
        <p:nvSpPr>
          <p:cNvPr id="5" name="TextBox 4">
            <a:extLst>
              <a:ext uri="{FF2B5EF4-FFF2-40B4-BE49-F238E27FC236}">
                <a16:creationId xmlns:a16="http://schemas.microsoft.com/office/drawing/2014/main" id="{9646FB60-9E85-47A3-9560-F628A0D7D53E}"/>
              </a:ext>
            </a:extLst>
          </p:cNvPr>
          <p:cNvSpPr txBox="1"/>
          <p:nvPr/>
        </p:nvSpPr>
        <p:spPr>
          <a:xfrm>
            <a:off x="3893912" y="2155806"/>
            <a:ext cx="670376" cy="276999"/>
          </a:xfrm>
          <a:prstGeom prst="rect">
            <a:avLst/>
          </a:prstGeom>
          <a:noFill/>
        </p:spPr>
        <p:txBody>
          <a:bodyPr wrap="none" rtlCol="0">
            <a:spAutoFit/>
          </a:bodyPr>
          <a:lstStyle/>
          <a:p>
            <a:r>
              <a:rPr lang="de-DE" sz="1200" b="1" dirty="0"/>
              <a:t>Before</a:t>
            </a:r>
            <a:endParaRPr lang="en-US" sz="1200" b="1" dirty="0"/>
          </a:p>
        </p:txBody>
      </p:sp>
      <p:sp>
        <p:nvSpPr>
          <p:cNvPr id="6" name="TextBox 5">
            <a:extLst>
              <a:ext uri="{FF2B5EF4-FFF2-40B4-BE49-F238E27FC236}">
                <a16:creationId xmlns:a16="http://schemas.microsoft.com/office/drawing/2014/main" id="{7B50BFC7-3B45-4521-9111-A4C1F8D70AA7}"/>
              </a:ext>
            </a:extLst>
          </p:cNvPr>
          <p:cNvSpPr txBox="1"/>
          <p:nvPr/>
        </p:nvSpPr>
        <p:spPr>
          <a:xfrm>
            <a:off x="3893912" y="3342409"/>
            <a:ext cx="542136" cy="276999"/>
          </a:xfrm>
          <a:prstGeom prst="rect">
            <a:avLst/>
          </a:prstGeom>
          <a:noFill/>
        </p:spPr>
        <p:txBody>
          <a:bodyPr wrap="none" rtlCol="0">
            <a:spAutoFit/>
          </a:bodyPr>
          <a:lstStyle/>
          <a:p>
            <a:r>
              <a:rPr lang="de-DE" sz="1200" b="1" dirty="0"/>
              <a:t>After</a:t>
            </a:r>
            <a:endParaRPr lang="en-US" sz="1200" b="1" dirty="0"/>
          </a:p>
        </p:txBody>
      </p:sp>
      <p:pic>
        <p:nvPicPr>
          <p:cNvPr id="4" name="Picture 3">
            <a:extLst>
              <a:ext uri="{FF2B5EF4-FFF2-40B4-BE49-F238E27FC236}">
                <a16:creationId xmlns:a16="http://schemas.microsoft.com/office/drawing/2014/main" id="{95D283F6-60A3-4EF1-B095-EE4A9BE8060C}"/>
              </a:ext>
            </a:extLst>
          </p:cNvPr>
          <p:cNvPicPr>
            <a:picLocks noChangeAspect="1"/>
          </p:cNvPicPr>
          <p:nvPr/>
        </p:nvPicPr>
        <p:blipFill>
          <a:blip r:embed="rId3"/>
          <a:stretch>
            <a:fillRect/>
          </a:stretch>
        </p:blipFill>
        <p:spPr>
          <a:xfrm>
            <a:off x="4498200" y="3135005"/>
            <a:ext cx="3960000" cy="1305232"/>
          </a:xfrm>
          <a:prstGeom prst="rect">
            <a:avLst/>
          </a:prstGeom>
        </p:spPr>
      </p:pic>
    </p:spTree>
    <p:extLst>
      <p:ext uri="{BB962C8B-B14F-4D97-AF65-F5344CB8AC3E}">
        <p14:creationId xmlns:p14="http://schemas.microsoft.com/office/powerpoint/2010/main" val="1857360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0"/>
            <a:ext cx="8458200" cy="593809"/>
          </a:xfrm>
        </p:spPr>
        <p:txBody>
          <a:bodyPr/>
          <a:lstStyle/>
          <a:p>
            <a:r>
              <a:rPr lang="de-DE" sz="2800" dirty="0"/>
              <a:t>MVIx = Move Register File Indirect</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Format: </a:t>
            </a:r>
            <a:r>
              <a:rPr lang="fr-FR" sz="1600" dirty="0"/>
              <a:t>MVIB/W/D moves an 8- (B) /16- (W) or 32-bit (D) value from Source to Destination</a:t>
            </a:r>
            <a:r>
              <a:rPr lang="fr-FR" sz="1600" b="1" kern="0" dirty="0">
                <a:sym typeface="Wingdings" panose="05000000000000000000" pitchFamily="2" charset="2"/>
              </a:rPr>
              <a:t>         </a:t>
            </a:r>
          </a:p>
          <a:p>
            <a:pPr marL="0" indent="0">
              <a:lnSpc>
                <a:spcPct val="120000"/>
              </a:lnSpc>
              <a:buNone/>
            </a:pPr>
            <a:r>
              <a:rPr lang="fr-FR" sz="1600" b="1" kern="0" dirty="0">
                <a:sym typeface="Wingdings" panose="05000000000000000000" pitchFamily="2" charset="2"/>
              </a:rPr>
              <a:t>	</a:t>
            </a:r>
            <a:r>
              <a:rPr lang="en-US" sz="1600" dirty="0"/>
              <a:t>MVIx [*][&amp;][--]REG1[++], [*][&amp;][--]REG2[++] [, bn]</a:t>
            </a:r>
          </a:p>
          <a:p>
            <a:pPr marL="0" indent="0">
              <a:lnSpc>
                <a:spcPct val="120000"/>
              </a:lnSpc>
              <a:spcBef>
                <a:spcPts val="1200"/>
              </a:spcBef>
              <a:buNone/>
            </a:pPr>
            <a:r>
              <a:rPr lang="fr-FR" sz="1600" b="1" kern="0" dirty="0"/>
              <a:t>Example 1:</a:t>
            </a:r>
            <a:br>
              <a:rPr lang="fr-FR" sz="1600" dirty="0"/>
            </a:br>
            <a:r>
              <a:rPr lang="fr-FR" sz="1600" dirty="0"/>
              <a:t>  	MVIW R2.</a:t>
            </a:r>
            <a:r>
              <a:rPr lang="fr-FR" sz="1600" dirty="0">
                <a:solidFill>
                  <a:srgbClr val="FF0000"/>
                </a:solidFill>
              </a:rPr>
              <a:t>W0 (2 byte)</a:t>
            </a:r>
            <a:r>
              <a:rPr lang="fr-FR" sz="1600" dirty="0"/>
              <a:t>, *R1.B3</a:t>
            </a:r>
          </a:p>
          <a:p>
            <a:pPr marL="0" indent="0">
              <a:lnSpc>
                <a:spcPct val="120000"/>
              </a:lnSpc>
              <a:buNone/>
            </a:pPr>
            <a:endParaRPr lang="fr-FR" sz="1600" dirty="0"/>
          </a:p>
          <a:p>
            <a:pPr marL="0" indent="0">
              <a:lnSpc>
                <a:spcPct val="120000"/>
              </a:lnSpc>
              <a:buNone/>
            </a:pPr>
            <a:endParaRPr lang="fr-FR" sz="1600" kern="0" dirty="0"/>
          </a:p>
        </p:txBody>
      </p:sp>
      <p:graphicFrame>
        <p:nvGraphicFramePr>
          <p:cNvPr id="4" name="Table 3">
            <a:extLst>
              <a:ext uri="{FF2B5EF4-FFF2-40B4-BE49-F238E27FC236}">
                <a16:creationId xmlns:a16="http://schemas.microsoft.com/office/drawing/2014/main" id="{96FEA5C7-A9B6-40F8-A96C-D6862986227B}"/>
              </a:ext>
            </a:extLst>
          </p:cNvPr>
          <p:cNvGraphicFramePr>
            <a:graphicFrameLocks noGrp="1"/>
          </p:cNvGraphicFramePr>
          <p:nvPr>
            <p:extLst>
              <p:ext uri="{D42A27DB-BD31-4B8C-83A1-F6EECF244321}">
                <p14:modId xmlns:p14="http://schemas.microsoft.com/office/powerpoint/2010/main" val="2284220786"/>
              </p:ext>
            </p:extLst>
          </p:nvPr>
        </p:nvGraphicFramePr>
        <p:xfrm>
          <a:off x="2433274" y="3084285"/>
          <a:ext cx="1615440" cy="617220"/>
        </p:xfrm>
        <a:graphic>
          <a:graphicData uri="http://schemas.openxmlformats.org/drawingml/2006/table">
            <a:tbl>
              <a:tblPr>
                <a:tableStyleId>{616DA210-FB5B-4158-B5E0-FEB733F419BA}</a:tableStyleId>
              </a:tblPr>
              <a:tblGrid>
                <a:gridCol w="403860">
                  <a:extLst>
                    <a:ext uri="{9D8B030D-6E8A-4147-A177-3AD203B41FA5}">
                      <a16:colId xmlns:a16="http://schemas.microsoft.com/office/drawing/2014/main" val="20000"/>
                    </a:ext>
                  </a:extLst>
                </a:gridCol>
                <a:gridCol w="403860">
                  <a:extLst>
                    <a:ext uri="{9D8B030D-6E8A-4147-A177-3AD203B41FA5}">
                      <a16:colId xmlns:a16="http://schemas.microsoft.com/office/drawing/2014/main" val="20001"/>
                    </a:ext>
                  </a:extLst>
                </a:gridCol>
                <a:gridCol w="403860">
                  <a:extLst>
                    <a:ext uri="{9D8B030D-6E8A-4147-A177-3AD203B41FA5}">
                      <a16:colId xmlns:a16="http://schemas.microsoft.com/office/drawing/2014/main" val="20002"/>
                    </a:ext>
                  </a:extLst>
                </a:gridCol>
                <a:gridCol w="403860">
                  <a:extLst>
                    <a:ext uri="{9D8B030D-6E8A-4147-A177-3AD203B41FA5}">
                      <a16:colId xmlns:a16="http://schemas.microsoft.com/office/drawing/2014/main" val="20003"/>
                    </a:ext>
                  </a:extLst>
                </a:gridCol>
              </a:tblGrid>
              <a:tr h="205740">
                <a:tc>
                  <a:txBody>
                    <a:bodyPr/>
                    <a:lstStyle/>
                    <a:p>
                      <a:pPr algn="ctr"/>
                      <a:r>
                        <a:rPr lang="fr-FR" sz="900" baseline="0" dirty="0"/>
                        <a:t>55</a:t>
                      </a:r>
                      <a:endParaRPr lang="en-US" sz="900" baseline="0" dirty="0"/>
                    </a:p>
                  </a:txBody>
                  <a:tcPr marT="34290" marB="34290" anchor="ctr">
                    <a:solidFill>
                      <a:srgbClr val="99FF99"/>
                    </a:solidFill>
                  </a:tcPr>
                </a:tc>
                <a:tc>
                  <a:txBody>
                    <a:bodyPr/>
                    <a:lstStyle/>
                    <a:p>
                      <a:pPr algn="ctr"/>
                      <a:r>
                        <a:rPr lang="fr-FR" sz="900" baseline="0" dirty="0"/>
                        <a:t>AA</a:t>
                      </a:r>
                      <a:endParaRPr lang="en-US" sz="900" baseline="0" dirty="0"/>
                    </a:p>
                  </a:txBody>
                  <a:tcPr marT="34290" marB="34290" anchor="ctr"/>
                </a:tc>
                <a:tc>
                  <a:txBody>
                    <a:bodyPr/>
                    <a:lstStyle/>
                    <a:p>
                      <a:pPr algn="ctr"/>
                      <a:r>
                        <a:rPr lang="fr-FR" sz="900" baseline="0" dirty="0"/>
                        <a:t>55</a:t>
                      </a:r>
                      <a:endParaRPr lang="en-US" sz="900" baseline="0" dirty="0"/>
                    </a:p>
                  </a:txBody>
                  <a:tcPr marT="34290" marB="34290" anchor="ctr"/>
                </a:tc>
                <a:tc>
                  <a:txBody>
                    <a:bodyPr/>
                    <a:lstStyle/>
                    <a:p>
                      <a:pPr algn="ctr"/>
                      <a:r>
                        <a:rPr lang="fr-FR" sz="900" baseline="0" dirty="0"/>
                        <a:t>AA</a:t>
                      </a:r>
                      <a:endParaRPr lang="en-US" sz="900" baseline="0" dirty="0"/>
                    </a:p>
                  </a:txBody>
                  <a:tcPr marT="34290" marB="34290" anchor="ctr"/>
                </a:tc>
                <a:extLst>
                  <a:ext uri="{0D108BD9-81ED-4DB2-BD59-A6C34878D82A}">
                    <a16:rowId xmlns:a16="http://schemas.microsoft.com/office/drawing/2014/main" val="10000"/>
                  </a:ext>
                </a:extLst>
              </a:tr>
              <a:tr h="205740">
                <a:tc>
                  <a:txBody>
                    <a:bodyPr/>
                    <a:lstStyle/>
                    <a:p>
                      <a:pPr algn="ctr"/>
                      <a:r>
                        <a:rPr lang="fr-FR" sz="900" baseline="0" dirty="0"/>
                        <a:t>03</a:t>
                      </a:r>
                      <a:endParaRPr lang="en-US" sz="900" baseline="0" dirty="0"/>
                    </a:p>
                  </a:txBody>
                  <a:tcPr marT="34290" marB="34290" anchor="ctr">
                    <a:noFill/>
                  </a:tcPr>
                </a:tc>
                <a:tc>
                  <a:txBody>
                    <a:bodyPr/>
                    <a:lstStyle/>
                    <a:p>
                      <a:pPr algn="ctr"/>
                      <a:r>
                        <a:rPr lang="fr-FR" sz="900" baseline="0" dirty="0"/>
                        <a:t>02</a:t>
                      </a:r>
                      <a:endParaRPr lang="en-US" sz="900" baseline="0" dirty="0"/>
                    </a:p>
                  </a:txBody>
                  <a:tcPr marT="34290" marB="34290" anchor="ctr">
                    <a:noFill/>
                  </a:tcPr>
                </a:tc>
                <a:tc>
                  <a:txBody>
                    <a:bodyPr/>
                    <a:lstStyle/>
                    <a:p>
                      <a:pPr algn="ctr"/>
                      <a:r>
                        <a:rPr lang="fr-FR" sz="900" baseline="0" dirty="0"/>
                        <a:t>01</a:t>
                      </a:r>
                      <a:endParaRPr lang="en-US" sz="900" baseline="0" dirty="0"/>
                    </a:p>
                  </a:txBody>
                  <a:tcPr marT="34290" marB="34290" anchor="ctr">
                    <a:noFill/>
                  </a:tcPr>
                </a:tc>
                <a:tc>
                  <a:txBody>
                    <a:bodyPr/>
                    <a:lstStyle/>
                    <a:p>
                      <a:pPr algn="ctr"/>
                      <a:r>
                        <a:rPr lang="fr-FR" sz="900" baseline="0" dirty="0"/>
                        <a:t>00</a:t>
                      </a:r>
                      <a:endParaRPr lang="en-US" sz="900" baseline="0" dirty="0"/>
                    </a:p>
                  </a:txBody>
                  <a:tcPr marT="34290" marB="34290" anchor="ctr">
                    <a:solidFill>
                      <a:srgbClr val="99FF99"/>
                    </a:solidFill>
                  </a:tcPr>
                </a:tc>
                <a:extLst>
                  <a:ext uri="{0D108BD9-81ED-4DB2-BD59-A6C34878D82A}">
                    <a16:rowId xmlns:a16="http://schemas.microsoft.com/office/drawing/2014/main" val="10001"/>
                  </a:ext>
                </a:extLst>
              </a:tr>
              <a:tr h="205740">
                <a:tc>
                  <a:txBody>
                    <a:bodyPr/>
                    <a:lstStyle/>
                    <a:p>
                      <a:pPr algn="ctr"/>
                      <a:r>
                        <a:rPr lang="fr-FR" sz="900" baseline="0" dirty="0"/>
                        <a:t>FF</a:t>
                      </a:r>
                      <a:endParaRPr lang="en-US" sz="900" baseline="0" dirty="0"/>
                    </a:p>
                  </a:txBody>
                  <a:tcPr marT="34290" marB="34290" anchor="ctr">
                    <a:noFill/>
                  </a:tcPr>
                </a:tc>
                <a:tc>
                  <a:txBody>
                    <a:bodyPr/>
                    <a:lstStyle/>
                    <a:p>
                      <a:pPr algn="ctr"/>
                      <a:r>
                        <a:rPr lang="fr-FR" sz="900" baseline="0" dirty="0"/>
                        <a:t>FF</a:t>
                      </a:r>
                      <a:endParaRPr lang="en-US" sz="900" baseline="0" dirty="0"/>
                    </a:p>
                  </a:txBody>
                  <a:tcPr marT="34290" marB="34290" anchor="ctr">
                    <a:noFill/>
                  </a:tcPr>
                </a:tc>
                <a:tc>
                  <a:txBody>
                    <a:bodyPr/>
                    <a:lstStyle/>
                    <a:p>
                      <a:pPr algn="ctr"/>
                      <a:r>
                        <a:rPr lang="fr-FR" sz="900" baseline="0" dirty="0"/>
                        <a:t>FF</a:t>
                      </a:r>
                      <a:endParaRPr lang="en-US" sz="900" baseline="0" dirty="0"/>
                    </a:p>
                  </a:txBody>
                  <a:tcPr marT="34290" marB="34290" anchor="ctr">
                    <a:noFill/>
                  </a:tcPr>
                </a:tc>
                <a:tc>
                  <a:txBody>
                    <a:bodyPr/>
                    <a:lstStyle/>
                    <a:p>
                      <a:pPr algn="ctr"/>
                      <a:r>
                        <a:rPr lang="fr-FR" sz="900" baseline="0" dirty="0"/>
                        <a:t>FF</a:t>
                      </a:r>
                      <a:endParaRPr lang="en-US" sz="900" baseline="0" dirty="0"/>
                    </a:p>
                  </a:txBody>
                  <a:tcPr marT="34290" marB="34290" anchor="ctr">
                    <a:noFill/>
                  </a:tcPr>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B5A8C2F9-4583-4D4C-BFBC-B2F337F366BD}"/>
              </a:ext>
            </a:extLst>
          </p:cNvPr>
          <p:cNvSpPr txBox="1"/>
          <p:nvPr/>
        </p:nvSpPr>
        <p:spPr>
          <a:xfrm>
            <a:off x="2083535" y="3080476"/>
            <a:ext cx="380232" cy="646331"/>
          </a:xfrm>
          <a:prstGeom prst="rect">
            <a:avLst/>
          </a:prstGeom>
          <a:noFill/>
        </p:spPr>
        <p:txBody>
          <a:bodyPr wrap="none" rtlCol="0">
            <a:spAutoFit/>
          </a:bodyPr>
          <a:lstStyle/>
          <a:p>
            <a:pPr>
              <a:spcBef>
                <a:spcPts val="0"/>
              </a:spcBef>
            </a:pPr>
            <a:r>
              <a:rPr lang="fr-FR" sz="1200" dirty="0"/>
              <a:t>R0</a:t>
            </a:r>
          </a:p>
          <a:p>
            <a:pPr>
              <a:spcBef>
                <a:spcPts val="0"/>
              </a:spcBef>
            </a:pPr>
            <a:r>
              <a:rPr lang="fr-FR" sz="1200" dirty="0"/>
              <a:t>R1</a:t>
            </a:r>
          </a:p>
          <a:p>
            <a:pPr>
              <a:spcBef>
                <a:spcPts val="0"/>
              </a:spcBef>
            </a:pPr>
            <a:r>
              <a:rPr lang="fr-FR" sz="1200" dirty="0"/>
              <a:t>R2</a:t>
            </a:r>
          </a:p>
        </p:txBody>
      </p:sp>
      <p:sp>
        <p:nvSpPr>
          <p:cNvPr id="6" name="TextBox 5">
            <a:extLst>
              <a:ext uri="{FF2B5EF4-FFF2-40B4-BE49-F238E27FC236}">
                <a16:creationId xmlns:a16="http://schemas.microsoft.com/office/drawing/2014/main" id="{6C7AA05F-EDD8-41E3-9ED4-14D61E7E4532}"/>
              </a:ext>
            </a:extLst>
          </p:cNvPr>
          <p:cNvSpPr txBox="1"/>
          <p:nvPr/>
        </p:nvSpPr>
        <p:spPr>
          <a:xfrm>
            <a:off x="3678594" y="2607829"/>
            <a:ext cx="2290543" cy="307777"/>
          </a:xfrm>
          <a:prstGeom prst="rect">
            <a:avLst/>
          </a:prstGeom>
          <a:noFill/>
        </p:spPr>
        <p:txBody>
          <a:bodyPr wrap="square" rtlCol="0">
            <a:spAutoFit/>
          </a:bodyPr>
          <a:lstStyle/>
          <a:p>
            <a:pPr>
              <a:spcBef>
                <a:spcPts val="700"/>
              </a:spcBef>
            </a:pPr>
            <a:r>
              <a:rPr lang="fr-FR" sz="1400" b="1" dirty="0"/>
              <a:t>PRU registers file (hex)</a:t>
            </a:r>
            <a:endParaRPr lang="en-US" sz="1400" b="1" dirty="0"/>
          </a:p>
        </p:txBody>
      </p:sp>
      <p:graphicFrame>
        <p:nvGraphicFramePr>
          <p:cNvPr id="7" name="Table 6">
            <a:extLst>
              <a:ext uri="{FF2B5EF4-FFF2-40B4-BE49-F238E27FC236}">
                <a16:creationId xmlns:a16="http://schemas.microsoft.com/office/drawing/2014/main" id="{C729C468-C32D-4358-BC18-5A70AB7E5596}"/>
              </a:ext>
            </a:extLst>
          </p:cNvPr>
          <p:cNvGraphicFramePr>
            <a:graphicFrameLocks noGrp="1"/>
          </p:cNvGraphicFramePr>
          <p:nvPr>
            <p:extLst>
              <p:ext uri="{D42A27DB-BD31-4B8C-83A1-F6EECF244321}">
                <p14:modId xmlns:p14="http://schemas.microsoft.com/office/powerpoint/2010/main" val="2744493243"/>
              </p:ext>
            </p:extLst>
          </p:nvPr>
        </p:nvGraphicFramePr>
        <p:xfrm>
          <a:off x="5521914" y="3094710"/>
          <a:ext cx="1615440" cy="617220"/>
        </p:xfrm>
        <a:graphic>
          <a:graphicData uri="http://schemas.openxmlformats.org/drawingml/2006/table">
            <a:tbl>
              <a:tblPr>
                <a:tableStyleId>{616DA210-FB5B-4158-B5E0-FEB733F419BA}</a:tableStyleId>
              </a:tblPr>
              <a:tblGrid>
                <a:gridCol w="403860">
                  <a:extLst>
                    <a:ext uri="{9D8B030D-6E8A-4147-A177-3AD203B41FA5}">
                      <a16:colId xmlns:a16="http://schemas.microsoft.com/office/drawing/2014/main" val="20000"/>
                    </a:ext>
                  </a:extLst>
                </a:gridCol>
                <a:gridCol w="403860">
                  <a:extLst>
                    <a:ext uri="{9D8B030D-6E8A-4147-A177-3AD203B41FA5}">
                      <a16:colId xmlns:a16="http://schemas.microsoft.com/office/drawing/2014/main" val="20001"/>
                    </a:ext>
                  </a:extLst>
                </a:gridCol>
                <a:gridCol w="403860">
                  <a:extLst>
                    <a:ext uri="{9D8B030D-6E8A-4147-A177-3AD203B41FA5}">
                      <a16:colId xmlns:a16="http://schemas.microsoft.com/office/drawing/2014/main" val="20002"/>
                    </a:ext>
                  </a:extLst>
                </a:gridCol>
                <a:gridCol w="403860">
                  <a:extLst>
                    <a:ext uri="{9D8B030D-6E8A-4147-A177-3AD203B41FA5}">
                      <a16:colId xmlns:a16="http://schemas.microsoft.com/office/drawing/2014/main" val="20003"/>
                    </a:ext>
                  </a:extLst>
                </a:gridCol>
              </a:tblGrid>
              <a:tr h="205740">
                <a:tc>
                  <a:txBody>
                    <a:bodyPr/>
                    <a:lstStyle/>
                    <a:p>
                      <a:pPr algn="ctr"/>
                      <a:r>
                        <a:rPr lang="fr-FR" sz="900" baseline="0" dirty="0"/>
                        <a:t>55</a:t>
                      </a:r>
                      <a:endParaRPr lang="en-US" sz="900" baseline="0" dirty="0"/>
                    </a:p>
                  </a:txBody>
                  <a:tcPr marT="34290" marB="34290" anchor="ctr"/>
                </a:tc>
                <a:tc>
                  <a:txBody>
                    <a:bodyPr/>
                    <a:lstStyle/>
                    <a:p>
                      <a:pPr algn="ctr"/>
                      <a:r>
                        <a:rPr lang="fr-FR" sz="900" baseline="0" dirty="0"/>
                        <a:t>AA</a:t>
                      </a:r>
                      <a:endParaRPr lang="en-US" sz="900" baseline="0" dirty="0"/>
                    </a:p>
                  </a:txBody>
                  <a:tcPr marT="34290" marB="34290" anchor="ctr"/>
                </a:tc>
                <a:tc>
                  <a:txBody>
                    <a:bodyPr/>
                    <a:lstStyle/>
                    <a:p>
                      <a:pPr algn="ctr"/>
                      <a:r>
                        <a:rPr lang="fr-FR" sz="900" baseline="0" dirty="0"/>
                        <a:t>55</a:t>
                      </a:r>
                      <a:endParaRPr lang="en-US" sz="900" baseline="0" dirty="0"/>
                    </a:p>
                  </a:txBody>
                  <a:tcPr marT="34290" marB="34290" anchor="ctr"/>
                </a:tc>
                <a:tc>
                  <a:txBody>
                    <a:bodyPr/>
                    <a:lstStyle/>
                    <a:p>
                      <a:pPr algn="ctr"/>
                      <a:r>
                        <a:rPr lang="fr-FR" sz="900" baseline="0" dirty="0"/>
                        <a:t>AA</a:t>
                      </a:r>
                      <a:endParaRPr lang="en-US" sz="900" baseline="0" dirty="0"/>
                    </a:p>
                  </a:txBody>
                  <a:tcPr marT="34290" marB="34290" anchor="ctr"/>
                </a:tc>
                <a:extLst>
                  <a:ext uri="{0D108BD9-81ED-4DB2-BD59-A6C34878D82A}">
                    <a16:rowId xmlns:a16="http://schemas.microsoft.com/office/drawing/2014/main" val="10000"/>
                  </a:ext>
                </a:extLst>
              </a:tr>
              <a:tr h="205740">
                <a:tc>
                  <a:txBody>
                    <a:bodyPr/>
                    <a:lstStyle/>
                    <a:p>
                      <a:pPr algn="ctr"/>
                      <a:r>
                        <a:rPr lang="fr-FR" sz="900" baseline="0" dirty="0"/>
                        <a:t>03</a:t>
                      </a:r>
                      <a:endParaRPr lang="en-US" sz="900" baseline="0" dirty="0"/>
                    </a:p>
                  </a:txBody>
                  <a:tcPr marT="34290" marB="34290" anchor="ctr">
                    <a:noFill/>
                  </a:tcPr>
                </a:tc>
                <a:tc>
                  <a:txBody>
                    <a:bodyPr/>
                    <a:lstStyle/>
                    <a:p>
                      <a:pPr algn="ctr"/>
                      <a:r>
                        <a:rPr lang="fr-FR" sz="900" baseline="0" dirty="0"/>
                        <a:t>02</a:t>
                      </a:r>
                      <a:endParaRPr lang="en-US" sz="900" baseline="0" dirty="0"/>
                    </a:p>
                  </a:txBody>
                  <a:tcPr marT="34290" marB="34290" anchor="ctr">
                    <a:noFill/>
                  </a:tcPr>
                </a:tc>
                <a:tc>
                  <a:txBody>
                    <a:bodyPr/>
                    <a:lstStyle/>
                    <a:p>
                      <a:pPr algn="ctr"/>
                      <a:r>
                        <a:rPr lang="fr-FR" sz="900" baseline="0" dirty="0"/>
                        <a:t>01</a:t>
                      </a:r>
                      <a:endParaRPr lang="en-US" sz="900" baseline="0" dirty="0"/>
                    </a:p>
                  </a:txBody>
                  <a:tcPr marT="34290" marB="34290" anchor="ctr">
                    <a:noFill/>
                  </a:tcPr>
                </a:tc>
                <a:tc>
                  <a:txBody>
                    <a:bodyPr/>
                    <a:lstStyle/>
                    <a:p>
                      <a:pPr algn="ctr"/>
                      <a:r>
                        <a:rPr lang="fr-FR" sz="900" baseline="0" dirty="0"/>
                        <a:t>00</a:t>
                      </a:r>
                      <a:endParaRPr lang="en-US" sz="900" baseline="0" dirty="0"/>
                    </a:p>
                  </a:txBody>
                  <a:tcPr marT="34290" marB="34290" anchor="ctr"/>
                </a:tc>
                <a:extLst>
                  <a:ext uri="{0D108BD9-81ED-4DB2-BD59-A6C34878D82A}">
                    <a16:rowId xmlns:a16="http://schemas.microsoft.com/office/drawing/2014/main" val="10001"/>
                  </a:ext>
                </a:extLst>
              </a:tr>
              <a:tr h="205740">
                <a:tc>
                  <a:txBody>
                    <a:bodyPr/>
                    <a:lstStyle/>
                    <a:p>
                      <a:pPr algn="ctr"/>
                      <a:r>
                        <a:rPr lang="fr-FR" sz="900" baseline="0" dirty="0"/>
                        <a:t>FF</a:t>
                      </a:r>
                      <a:endParaRPr lang="en-US" sz="900" baseline="0" dirty="0"/>
                    </a:p>
                  </a:txBody>
                  <a:tcPr marT="34290" marB="34290" anchor="ctr">
                    <a:noFill/>
                  </a:tcPr>
                </a:tc>
                <a:tc>
                  <a:txBody>
                    <a:bodyPr/>
                    <a:lstStyle/>
                    <a:p>
                      <a:pPr algn="ctr"/>
                      <a:r>
                        <a:rPr lang="fr-FR" sz="900" baseline="0" dirty="0"/>
                        <a:t>FF</a:t>
                      </a:r>
                      <a:endParaRPr lang="en-US" sz="900" baseline="0" dirty="0"/>
                    </a:p>
                  </a:txBody>
                  <a:tcPr marT="34290" marB="34290" anchor="ctr">
                    <a:noFill/>
                  </a:tcPr>
                </a:tc>
                <a:tc>
                  <a:txBody>
                    <a:bodyPr/>
                    <a:lstStyle/>
                    <a:p>
                      <a:pPr algn="ctr"/>
                      <a:r>
                        <a:rPr lang="fr-FR" sz="900" baseline="0" dirty="0"/>
                        <a:t>00</a:t>
                      </a:r>
                      <a:endParaRPr lang="en-US" sz="900" baseline="0" dirty="0"/>
                    </a:p>
                  </a:txBody>
                  <a:tcPr marT="34290" marB="34290" anchor="ctr">
                    <a:solidFill>
                      <a:srgbClr val="99FF99"/>
                    </a:solidFill>
                  </a:tcPr>
                </a:tc>
                <a:tc>
                  <a:txBody>
                    <a:bodyPr/>
                    <a:lstStyle/>
                    <a:p>
                      <a:pPr algn="ctr"/>
                      <a:r>
                        <a:rPr lang="fr-FR" sz="900" baseline="0" dirty="0"/>
                        <a:t>55</a:t>
                      </a:r>
                      <a:endParaRPr lang="en-US" sz="900" baseline="0" dirty="0"/>
                    </a:p>
                  </a:txBody>
                  <a:tcPr marT="34290" marB="34290" anchor="ctr">
                    <a:solidFill>
                      <a:srgbClr val="99FF99"/>
                    </a:solidFill>
                  </a:tcPr>
                </a:tc>
                <a:extLst>
                  <a:ext uri="{0D108BD9-81ED-4DB2-BD59-A6C34878D82A}">
                    <a16:rowId xmlns:a16="http://schemas.microsoft.com/office/drawing/2014/main" val="10002"/>
                  </a:ext>
                </a:extLst>
              </a:tr>
            </a:tbl>
          </a:graphicData>
        </a:graphic>
      </p:graphicFrame>
      <p:sp>
        <p:nvSpPr>
          <p:cNvPr id="9" name="TextBox 8">
            <a:extLst>
              <a:ext uri="{FF2B5EF4-FFF2-40B4-BE49-F238E27FC236}">
                <a16:creationId xmlns:a16="http://schemas.microsoft.com/office/drawing/2014/main" id="{9AE70EE6-66AD-4FB3-8113-13728D086E75}"/>
              </a:ext>
            </a:extLst>
          </p:cNvPr>
          <p:cNvSpPr txBox="1"/>
          <p:nvPr/>
        </p:nvSpPr>
        <p:spPr>
          <a:xfrm>
            <a:off x="5189708" y="3080476"/>
            <a:ext cx="380232" cy="646331"/>
          </a:xfrm>
          <a:prstGeom prst="rect">
            <a:avLst/>
          </a:prstGeom>
          <a:noFill/>
        </p:spPr>
        <p:txBody>
          <a:bodyPr wrap="none" rtlCol="0">
            <a:spAutoFit/>
          </a:bodyPr>
          <a:lstStyle/>
          <a:p>
            <a:pPr>
              <a:spcBef>
                <a:spcPts val="0"/>
              </a:spcBef>
            </a:pPr>
            <a:r>
              <a:rPr lang="fr-FR" sz="1200" dirty="0"/>
              <a:t>R0</a:t>
            </a:r>
          </a:p>
          <a:p>
            <a:pPr>
              <a:spcBef>
                <a:spcPts val="0"/>
              </a:spcBef>
            </a:pPr>
            <a:r>
              <a:rPr lang="fr-FR" sz="1200" dirty="0"/>
              <a:t>R1</a:t>
            </a:r>
          </a:p>
          <a:p>
            <a:pPr>
              <a:spcBef>
                <a:spcPts val="0"/>
              </a:spcBef>
            </a:pPr>
            <a:r>
              <a:rPr lang="fr-FR" sz="1200" dirty="0"/>
              <a:t>R2</a:t>
            </a:r>
          </a:p>
        </p:txBody>
      </p:sp>
      <p:sp>
        <p:nvSpPr>
          <p:cNvPr id="11" name="TextBox 10">
            <a:extLst>
              <a:ext uri="{FF2B5EF4-FFF2-40B4-BE49-F238E27FC236}">
                <a16:creationId xmlns:a16="http://schemas.microsoft.com/office/drawing/2014/main" id="{6AEFE965-7E9F-418E-AE53-26EEECEEC457}"/>
              </a:ext>
            </a:extLst>
          </p:cNvPr>
          <p:cNvSpPr txBox="1"/>
          <p:nvPr/>
        </p:nvSpPr>
        <p:spPr>
          <a:xfrm>
            <a:off x="1390245" y="2940821"/>
            <a:ext cx="811441" cy="307777"/>
          </a:xfrm>
          <a:prstGeom prst="rect">
            <a:avLst/>
          </a:prstGeom>
          <a:noFill/>
        </p:spPr>
        <p:txBody>
          <a:bodyPr wrap="none" rtlCol="0">
            <a:spAutoFit/>
          </a:bodyPr>
          <a:lstStyle/>
          <a:p>
            <a:r>
              <a:rPr lang="fr-FR" sz="1400" b="1" dirty="0"/>
              <a:t>Before:</a:t>
            </a:r>
            <a:endParaRPr lang="en-US" sz="1400" b="1" dirty="0"/>
          </a:p>
        </p:txBody>
      </p:sp>
      <p:sp>
        <p:nvSpPr>
          <p:cNvPr id="12" name="TextBox 11">
            <a:extLst>
              <a:ext uri="{FF2B5EF4-FFF2-40B4-BE49-F238E27FC236}">
                <a16:creationId xmlns:a16="http://schemas.microsoft.com/office/drawing/2014/main" id="{0F655F39-AA04-4EE9-AA11-7FA0F535CABC}"/>
              </a:ext>
            </a:extLst>
          </p:cNvPr>
          <p:cNvSpPr txBox="1"/>
          <p:nvPr/>
        </p:nvSpPr>
        <p:spPr>
          <a:xfrm>
            <a:off x="4575372" y="2940821"/>
            <a:ext cx="662361" cy="307777"/>
          </a:xfrm>
          <a:prstGeom prst="rect">
            <a:avLst/>
          </a:prstGeom>
          <a:noFill/>
        </p:spPr>
        <p:txBody>
          <a:bodyPr wrap="none" rtlCol="0">
            <a:spAutoFit/>
          </a:bodyPr>
          <a:lstStyle/>
          <a:p>
            <a:r>
              <a:rPr lang="fr-FR" sz="1400" b="1" dirty="0"/>
              <a:t>After:</a:t>
            </a:r>
            <a:endParaRPr lang="en-US" sz="1400" b="1" dirty="0"/>
          </a:p>
        </p:txBody>
      </p:sp>
      <p:sp>
        <p:nvSpPr>
          <p:cNvPr id="13" name="TextBox 12">
            <a:extLst>
              <a:ext uri="{FF2B5EF4-FFF2-40B4-BE49-F238E27FC236}">
                <a16:creationId xmlns:a16="http://schemas.microsoft.com/office/drawing/2014/main" id="{980E0E6D-3F37-4640-947D-0632F92A1E77}"/>
              </a:ext>
            </a:extLst>
          </p:cNvPr>
          <p:cNvSpPr txBox="1"/>
          <p:nvPr/>
        </p:nvSpPr>
        <p:spPr>
          <a:xfrm>
            <a:off x="996647" y="3799275"/>
            <a:ext cx="1908607" cy="461665"/>
          </a:xfrm>
          <a:prstGeom prst="rect">
            <a:avLst/>
          </a:prstGeom>
          <a:noFill/>
        </p:spPr>
        <p:txBody>
          <a:bodyPr wrap="square" rtlCol="0">
            <a:spAutoFit/>
          </a:bodyPr>
          <a:lstStyle/>
          <a:p>
            <a:r>
              <a:rPr lang="fr-FR" sz="1200" dirty="0"/>
              <a:t>Indicates an offset of </a:t>
            </a:r>
            <a:r>
              <a:rPr lang="fr-FR" sz="1200" dirty="0">
                <a:solidFill>
                  <a:srgbClr val="FF0000"/>
                </a:solidFill>
              </a:rPr>
              <a:t>3 bytes</a:t>
            </a:r>
            <a:endParaRPr lang="en-US" sz="1200" dirty="0"/>
          </a:p>
        </p:txBody>
      </p:sp>
      <p:cxnSp>
        <p:nvCxnSpPr>
          <p:cNvPr id="14" name="Straight Arrow Connector 13">
            <a:extLst>
              <a:ext uri="{FF2B5EF4-FFF2-40B4-BE49-F238E27FC236}">
                <a16:creationId xmlns:a16="http://schemas.microsoft.com/office/drawing/2014/main" id="{3180A3DC-1516-4344-A450-7F55C4A3828E}"/>
              </a:ext>
            </a:extLst>
          </p:cNvPr>
          <p:cNvCxnSpPr>
            <a:cxnSpLocks/>
          </p:cNvCxnSpPr>
          <p:nvPr/>
        </p:nvCxnSpPr>
        <p:spPr>
          <a:xfrm flipV="1">
            <a:off x="2201686" y="3464114"/>
            <a:ext cx="298409" cy="420854"/>
          </a:xfrm>
          <a:prstGeom prst="straightConnector1">
            <a:avLst/>
          </a:prstGeom>
          <a:ln w="19050">
            <a:solidFill>
              <a:schemeClr val="tx2"/>
            </a:solidFill>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3" name="Arc 2">
            <a:extLst>
              <a:ext uri="{FF2B5EF4-FFF2-40B4-BE49-F238E27FC236}">
                <a16:creationId xmlns:a16="http://schemas.microsoft.com/office/drawing/2014/main" id="{4B9426AF-5476-4ECB-9AD9-DB42510549A5}"/>
              </a:ext>
            </a:extLst>
          </p:cNvPr>
          <p:cNvSpPr/>
          <p:nvPr/>
        </p:nvSpPr>
        <p:spPr>
          <a:xfrm rot="16200000">
            <a:off x="3533844" y="2873022"/>
            <a:ext cx="307776" cy="377531"/>
          </a:xfrm>
          <a:prstGeom prst="arc">
            <a:avLst>
              <a:gd name="adj1" fmla="val 16200000"/>
              <a:gd name="adj2" fmla="val 5224506"/>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307E74B7-4CBD-49BB-B8A7-E8B4D57E64AB}"/>
              </a:ext>
            </a:extLst>
          </p:cNvPr>
          <p:cNvSpPr/>
          <p:nvPr/>
        </p:nvSpPr>
        <p:spPr>
          <a:xfrm rot="16200000">
            <a:off x="3090625" y="2874420"/>
            <a:ext cx="307776" cy="377531"/>
          </a:xfrm>
          <a:prstGeom prst="arc">
            <a:avLst>
              <a:gd name="adj1" fmla="val 16200000"/>
              <a:gd name="adj2" fmla="val 5224506"/>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Arc 15">
            <a:extLst>
              <a:ext uri="{FF2B5EF4-FFF2-40B4-BE49-F238E27FC236}">
                <a16:creationId xmlns:a16="http://schemas.microsoft.com/office/drawing/2014/main" id="{71347F69-B8A5-4B31-BDA6-14A323BFCD4C}"/>
              </a:ext>
            </a:extLst>
          </p:cNvPr>
          <p:cNvSpPr/>
          <p:nvPr/>
        </p:nvSpPr>
        <p:spPr>
          <a:xfrm rot="16420668">
            <a:off x="2640958" y="2877737"/>
            <a:ext cx="307776" cy="377531"/>
          </a:xfrm>
          <a:prstGeom prst="arc">
            <a:avLst>
              <a:gd name="adj1" fmla="val 16200000"/>
              <a:gd name="adj2" fmla="val 5224506"/>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TextBox 16">
            <a:extLst>
              <a:ext uri="{FF2B5EF4-FFF2-40B4-BE49-F238E27FC236}">
                <a16:creationId xmlns:a16="http://schemas.microsoft.com/office/drawing/2014/main" id="{D40136CE-260F-4F76-981A-DCE5BB9139AB}"/>
              </a:ext>
            </a:extLst>
          </p:cNvPr>
          <p:cNvSpPr txBox="1"/>
          <p:nvPr/>
        </p:nvSpPr>
        <p:spPr>
          <a:xfrm>
            <a:off x="117826" y="4299061"/>
            <a:ext cx="4732129" cy="307777"/>
          </a:xfrm>
          <a:prstGeom prst="rect">
            <a:avLst/>
          </a:prstGeom>
          <a:noFill/>
        </p:spPr>
        <p:txBody>
          <a:bodyPr wrap="none" rtlCol="0">
            <a:spAutoFit/>
          </a:bodyPr>
          <a:lstStyle/>
          <a:p>
            <a:r>
              <a:rPr lang="de-DE" sz="1400" b="1" dirty="0"/>
              <a:t>Note: </a:t>
            </a:r>
            <a:r>
              <a:rPr lang="de-DE" sz="1400" dirty="0"/>
              <a:t>If value &gt; 128 for pointer, then it starts from 0 again</a:t>
            </a:r>
            <a:endParaRPr lang="en-US" sz="1400" dirty="0"/>
          </a:p>
        </p:txBody>
      </p:sp>
    </p:spTree>
    <p:extLst>
      <p:ext uri="{BB962C8B-B14F-4D97-AF65-F5344CB8AC3E}">
        <p14:creationId xmlns:p14="http://schemas.microsoft.com/office/powerpoint/2010/main" val="1321745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69A864-A59E-4BB3-8356-2543147A689F}"/>
              </a:ext>
            </a:extLst>
          </p:cNvPr>
          <p:cNvSpPr>
            <a:spLocks noGrp="1"/>
          </p:cNvSpPr>
          <p:nvPr>
            <p:ph type="sldNum" sz="quarter" idx="10"/>
          </p:nvPr>
        </p:nvSpPr>
        <p:spPr/>
        <p:txBody>
          <a:bodyPr/>
          <a:lstStyle/>
          <a:p>
            <a:pPr>
              <a:defRPr/>
            </a:pPr>
            <a:fld id="{03BA23CF-AA30-4A18-B744-605C3E9DBF07}" type="slidenum">
              <a:rPr lang="en-US" smtClean="0"/>
              <a:pPr>
                <a:defRPr/>
              </a:pPr>
              <a:t>26</a:t>
            </a:fld>
            <a:endParaRPr lang="en-US"/>
          </a:p>
        </p:txBody>
      </p:sp>
      <p:sp>
        <p:nvSpPr>
          <p:cNvPr id="5" name="Title 1">
            <a:extLst>
              <a:ext uri="{FF2B5EF4-FFF2-40B4-BE49-F238E27FC236}">
                <a16:creationId xmlns:a16="http://schemas.microsoft.com/office/drawing/2014/main" id="{9F386600-3AB4-47DF-97F3-5F07F81DA41B}"/>
              </a:ext>
            </a:extLst>
          </p:cNvPr>
          <p:cNvSpPr txBox="1">
            <a:spLocks/>
          </p:cNvSpPr>
          <p:nvPr/>
        </p:nvSpPr>
        <p:spPr bwMode="auto">
          <a:xfrm>
            <a:off x="0" y="0"/>
            <a:ext cx="8458200" cy="593809"/>
          </a:xfrm>
          <a:prstGeom prst="rect">
            <a:avLst/>
          </a:prstGeom>
          <a:noFill/>
          <a:ln w="9525">
            <a:noFill/>
            <a:miter lim="800000"/>
            <a:headEnd/>
            <a:tailEnd/>
          </a:ln>
        </p:spPr>
        <p:txBody>
          <a:bodyPr vert="horz" wrap="square" lIns="76179" tIns="38088" rIns="76179" bIns="38088" numCol="1" anchor="ctr" anchorCtr="0" compatLnSpc="1">
            <a:prstTxWarp prst="textNoShape">
              <a:avLst/>
            </a:prstTxWarp>
          </a:bodyPr>
          <a:lstStyle>
            <a:lvl1pPr algn="l" rtl="0" eaLnBrk="1" fontAlgn="base" hangingPunct="1">
              <a:lnSpc>
                <a:spcPct val="85000"/>
              </a:lnSpc>
              <a:spcBef>
                <a:spcPct val="0"/>
              </a:spcBef>
              <a:spcAft>
                <a:spcPct val="0"/>
              </a:spcAft>
              <a:defRPr sz="3300" b="1">
                <a:solidFill>
                  <a:schemeClr val="tx2"/>
                </a:solidFill>
                <a:latin typeface="+mj-lt"/>
                <a:ea typeface="+mj-ea"/>
                <a:cs typeface="+mj-cs"/>
              </a:defRPr>
            </a:lvl1pPr>
            <a:lvl2pPr algn="l" rtl="0" eaLnBrk="1" fontAlgn="base" hangingPunct="1">
              <a:lnSpc>
                <a:spcPct val="85000"/>
              </a:lnSpc>
              <a:spcBef>
                <a:spcPct val="0"/>
              </a:spcBef>
              <a:spcAft>
                <a:spcPct val="0"/>
              </a:spcAft>
              <a:defRPr sz="2700" b="1">
                <a:solidFill>
                  <a:schemeClr val="tx2"/>
                </a:solidFill>
                <a:latin typeface="Arial" charset="0"/>
              </a:defRPr>
            </a:lvl2pPr>
            <a:lvl3pPr algn="l" rtl="0" eaLnBrk="1" fontAlgn="base" hangingPunct="1">
              <a:lnSpc>
                <a:spcPct val="85000"/>
              </a:lnSpc>
              <a:spcBef>
                <a:spcPct val="0"/>
              </a:spcBef>
              <a:spcAft>
                <a:spcPct val="0"/>
              </a:spcAft>
              <a:defRPr sz="2700" b="1">
                <a:solidFill>
                  <a:schemeClr val="tx2"/>
                </a:solidFill>
                <a:latin typeface="Arial" charset="0"/>
              </a:defRPr>
            </a:lvl3pPr>
            <a:lvl4pPr algn="l" rtl="0" eaLnBrk="1" fontAlgn="base" hangingPunct="1">
              <a:lnSpc>
                <a:spcPct val="85000"/>
              </a:lnSpc>
              <a:spcBef>
                <a:spcPct val="0"/>
              </a:spcBef>
              <a:spcAft>
                <a:spcPct val="0"/>
              </a:spcAft>
              <a:defRPr sz="2700" b="1">
                <a:solidFill>
                  <a:schemeClr val="tx2"/>
                </a:solidFill>
                <a:latin typeface="Arial" charset="0"/>
              </a:defRPr>
            </a:lvl4pPr>
            <a:lvl5pPr algn="l" rtl="0" eaLnBrk="1" fontAlgn="base" hangingPunct="1">
              <a:lnSpc>
                <a:spcPct val="85000"/>
              </a:lnSpc>
              <a:spcBef>
                <a:spcPct val="0"/>
              </a:spcBef>
              <a:spcAft>
                <a:spcPct val="0"/>
              </a:spcAft>
              <a:defRPr sz="2700" b="1">
                <a:solidFill>
                  <a:schemeClr val="tx2"/>
                </a:solidFill>
                <a:latin typeface="Arial" charset="0"/>
              </a:defRPr>
            </a:lvl5pPr>
            <a:lvl6pPr marL="380895" algn="l" rtl="0" eaLnBrk="1" fontAlgn="base" hangingPunct="1">
              <a:lnSpc>
                <a:spcPct val="85000"/>
              </a:lnSpc>
              <a:spcBef>
                <a:spcPct val="0"/>
              </a:spcBef>
              <a:spcAft>
                <a:spcPct val="0"/>
              </a:spcAft>
              <a:defRPr sz="2700" b="1">
                <a:solidFill>
                  <a:srgbClr val="FF0000"/>
                </a:solidFill>
                <a:latin typeface="Arial" charset="0"/>
              </a:defRPr>
            </a:lvl6pPr>
            <a:lvl7pPr marL="761790" algn="l" rtl="0" eaLnBrk="1" fontAlgn="base" hangingPunct="1">
              <a:lnSpc>
                <a:spcPct val="85000"/>
              </a:lnSpc>
              <a:spcBef>
                <a:spcPct val="0"/>
              </a:spcBef>
              <a:spcAft>
                <a:spcPct val="0"/>
              </a:spcAft>
              <a:defRPr sz="2700" b="1">
                <a:solidFill>
                  <a:srgbClr val="FF0000"/>
                </a:solidFill>
                <a:latin typeface="Arial" charset="0"/>
              </a:defRPr>
            </a:lvl7pPr>
            <a:lvl8pPr marL="1142683" algn="l" rtl="0" eaLnBrk="1" fontAlgn="base" hangingPunct="1">
              <a:lnSpc>
                <a:spcPct val="85000"/>
              </a:lnSpc>
              <a:spcBef>
                <a:spcPct val="0"/>
              </a:spcBef>
              <a:spcAft>
                <a:spcPct val="0"/>
              </a:spcAft>
              <a:defRPr sz="2700" b="1">
                <a:solidFill>
                  <a:srgbClr val="FF0000"/>
                </a:solidFill>
                <a:latin typeface="Arial" charset="0"/>
              </a:defRPr>
            </a:lvl8pPr>
            <a:lvl9pPr marL="1523573" algn="l" rtl="0" eaLnBrk="1" fontAlgn="base" hangingPunct="1">
              <a:lnSpc>
                <a:spcPct val="85000"/>
              </a:lnSpc>
              <a:spcBef>
                <a:spcPct val="0"/>
              </a:spcBef>
              <a:spcAft>
                <a:spcPct val="0"/>
              </a:spcAft>
              <a:defRPr sz="2700" b="1">
                <a:solidFill>
                  <a:srgbClr val="FF0000"/>
                </a:solidFill>
                <a:latin typeface="Arial" charset="0"/>
              </a:defRPr>
            </a:lvl9pPr>
          </a:lstStyle>
          <a:p>
            <a:r>
              <a:rPr lang="de-DE" sz="2800" kern="0"/>
              <a:t>MVIx = Move Register File Indirect</a:t>
            </a:r>
            <a:endParaRPr lang="en-US" sz="2800" kern="0" dirty="0"/>
          </a:p>
        </p:txBody>
      </p:sp>
      <p:sp>
        <p:nvSpPr>
          <p:cNvPr id="6" name="Rectangle 3">
            <a:extLst>
              <a:ext uri="{FF2B5EF4-FFF2-40B4-BE49-F238E27FC236}">
                <a16:creationId xmlns:a16="http://schemas.microsoft.com/office/drawing/2014/main" id="{3531EBD4-CDEF-495C-82DC-2839C08D4097}"/>
              </a:ext>
            </a:extLst>
          </p:cNvPr>
          <p:cNvSpPr txBox="1">
            <a:spLocks noChangeArrowheads="1"/>
          </p:cNvSpPr>
          <p:nvPr/>
        </p:nvSpPr>
        <p:spPr bwMode="auto">
          <a:xfrm>
            <a:off x="339927" y="703262"/>
            <a:ext cx="8118273"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lnSpcReduction="10000"/>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spcBef>
                <a:spcPts val="1200"/>
              </a:spcBef>
              <a:buNone/>
            </a:pPr>
            <a:r>
              <a:rPr lang="fr-FR" sz="1600" b="1" kern="0" dirty="0"/>
              <a:t>Example 2:</a:t>
            </a:r>
            <a:br>
              <a:rPr lang="fr-FR" sz="1600" dirty="0"/>
            </a:br>
            <a:r>
              <a:rPr lang="fr-FR" sz="1600" dirty="0"/>
              <a:t>  	MVID R2, *R1.B0++</a:t>
            </a:r>
          </a:p>
          <a:p>
            <a:pPr marL="0" indent="0">
              <a:lnSpc>
                <a:spcPct val="120000"/>
              </a:lnSpc>
              <a:spcBef>
                <a:spcPts val="1200"/>
              </a:spcBef>
              <a:buNone/>
            </a:pPr>
            <a:r>
              <a:rPr lang="fr-FR" sz="1600" dirty="0" err="1"/>
              <a:t>After</a:t>
            </a:r>
            <a:r>
              <a:rPr lang="fr-FR" sz="1600" dirty="0"/>
              <a:t> the </a:t>
            </a:r>
            <a:r>
              <a:rPr lang="fr-FR" sz="1600" dirty="0" err="1"/>
              <a:t>execution</a:t>
            </a:r>
            <a:r>
              <a:rPr lang="fr-FR" sz="1600" dirty="0"/>
              <a:t>, R1.B0 changes </a:t>
            </a:r>
            <a:r>
              <a:rPr lang="fr-FR" sz="1600" dirty="0" err="1"/>
              <a:t>from</a:t>
            </a:r>
            <a:r>
              <a:rPr lang="fr-FR" sz="1600" dirty="0"/>
              <a:t> 00 to 04</a:t>
            </a:r>
          </a:p>
          <a:p>
            <a:pPr marL="0" indent="0">
              <a:lnSpc>
                <a:spcPct val="120000"/>
              </a:lnSpc>
              <a:buNone/>
            </a:pPr>
            <a:endParaRPr lang="fr-FR" sz="1600" dirty="0"/>
          </a:p>
          <a:p>
            <a:pPr marL="0" indent="0">
              <a:lnSpc>
                <a:spcPct val="120000"/>
              </a:lnSpc>
              <a:buNone/>
            </a:pPr>
            <a:r>
              <a:rPr lang="fr-FR" sz="1600" b="1" kern="0" dirty="0"/>
              <a:t>Example 3:</a:t>
            </a:r>
          </a:p>
          <a:p>
            <a:pPr marL="0" indent="0">
              <a:lnSpc>
                <a:spcPct val="120000"/>
              </a:lnSpc>
              <a:buNone/>
            </a:pPr>
            <a:r>
              <a:rPr lang="fr-FR" sz="1600" b="1" kern="0" dirty="0"/>
              <a:t>	</a:t>
            </a:r>
            <a:r>
              <a:rPr lang="fr-FR" sz="1600" kern="0" dirty="0"/>
              <a:t>MVID *--R1.B0</a:t>
            </a:r>
            <a:r>
              <a:rPr lang="fr-FR" sz="1600" kern="0"/>
              <a:t>, R14</a:t>
            </a:r>
            <a:endParaRPr lang="fr-FR" sz="1600" kern="0" dirty="0"/>
          </a:p>
          <a:p>
            <a:pPr marL="0" indent="0">
              <a:lnSpc>
                <a:spcPct val="120000"/>
              </a:lnSpc>
              <a:buNone/>
            </a:pPr>
            <a:r>
              <a:rPr lang="fr-FR" sz="1600" kern="0" dirty="0" err="1"/>
              <a:t>After</a:t>
            </a:r>
            <a:r>
              <a:rPr lang="fr-FR" sz="1600" kern="0" dirty="0"/>
              <a:t> the </a:t>
            </a:r>
            <a:r>
              <a:rPr lang="fr-FR" sz="1600" kern="0" dirty="0" err="1"/>
              <a:t>execution</a:t>
            </a:r>
            <a:r>
              <a:rPr lang="fr-FR" sz="1600" kern="0" dirty="0"/>
              <a:t> R1.B0 </a:t>
            </a:r>
            <a:r>
              <a:rPr lang="fr-FR" sz="1600" kern="0" dirty="0" err="1"/>
              <a:t>decrements</a:t>
            </a:r>
            <a:r>
              <a:rPr lang="fr-FR" sz="1600" kern="0" dirty="0"/>
              <a:t> </a:t>
            </a:r>
            <a:r>
              <a:rPr lang="fr-FR" sz="1600" kern="0" dirty="0" err="1"/>
              <a:t>from</a:t>
            </a:r>
            <a:r>
              <a:rPr lang="fr-FR" sz="1600" kern="0" dirty="0"/>
              <a:t> 28h to 24h</a:t>
            </a:r>
          </a:p>
          <a:p>
            <a:pPr marL="0" indent="0">
              <a:lnSpc>
                <a:spcPct val="120000"/>
              </a:lnSpc>
              <a:buNone/>
            </a:pPr>
            <a:endParaRPr lang="fr-FR" sz="1600" kern="0" dirty="0"/>
          </a:p>
          <a:p>
            <a:pPr marL="0" indent="0">
              <a:lnSpc>
                <a:spcPct val="120000"/>
              </a:lnSpc>
              <a:buNone/>
            </a:pPr>
            <a:r>
              <a:rPr lang="fr-FR" sz="1600" b="1" kern="0" dirty="0"/>
              <a:t>Example 4: </a:t>
            </a:r>
            <a:r>
              <a:rPr lang="fr-FR" sz="1600" kern="0" dirty="0" err="1"/>
              <a:t>Invalid</a:t>
            </a:r>
            <a:r>
              <a:rPr lang="fr-FR" sz="1600" kern="0" dirty="0"/>
              <a:t> instruction</a:t>
            </a:r>
          </a:p>
          <a:p>
            <a:pPr marL="0" indent="0">
              <a:lnSpc>
                <a:spcPct val="120000"/>
              </a:lnSpc>
              <a:buNone/>
            </a:pPr>
            <a:r>
              <a:rPr lang="fr-FR" sz="1600" b="1" kern="0" dirty="0"/>
              <a:t>	</a:t>
            </a:r>
            <a:r>
              <a:rPr lang="fr-FR" sz="1600" kern="0" dirty="0"/>
              <a:t> MVID *--R1.B0, *R14</a:t>
            </a:r>
            <a:endParaRPr lang="fr-FR" sz="1600" b="1" kern="0" dirty="0"/>
          </a:p>
          <a:p>
            <a:pPr marL="0" indent="0">
              <a:lnSpc>
                <a:spcPct val="120000"/>
              </a:lnSpc>
              <a:buNone/>
            </a:pPr>
            <a:endParaRPr lang="fr-FR" sz="1600" kern="0" dirty="0"/>
          </a:p>
        </p:txBody>
      </p:sp>
      <p:pic>
        <p:nvPicPr>
          <p:cNvPr id="7" name="Picture 6">
            <a:extLst>
              <a:ext uri="{FF2B5EF4-FFF2-40B4-BE49-F238E27FC236}">
                <a16:creationId xmlns:a16="http://schemas.microsoft.com/office/drawing/2014/main" id="{82EAFEE2-6DC6-4FC5-8D53-E62FAEB5D0CC}"/>
              </a:ext>
            </a:extLst>
          </p:cNvPr>
          <p:cNvPicPr>
            <a:picLocks noChangeAspect="1"/>
          </p:cNvPicPr>
          <p:nvPr/>
        </p:nvPicPr>
        <p:blipFill>
          <a:blip r:embed="rId2"/>
          <a:stretch>
            <a:fillRect/>
          </a:stretch>
        </p:blipFill>
        <p:spPr>
          <a:xfrm>
            <a:off x="5323840" y="548790"/>
            <a:ext cx="3484880" cy="1577018"/>
          </a:xfrm>
          <a:prstGeom prst="rect">
            <a:avLst/>
          </a:prstGeom>
        </p:spPr>
      </p:pic>
      <p:pic>
        <p:nvPicPr>
          <p:cNvPr id="8" name="Picture 7">
            <a:extLst>
              <a:ext uri="{FF2B5EF4-FFF2-40B4-BE49-F238E27FC236}">
                <a16:creationId xmlns:a16="http://schemas.microsoft.com/office/drawing/2014/main" id="{FECBFE21-5F4A-4C83-B988-8488571DE785}"/>
              </a:ext>
            </a:extLst>
          </p:cNvPr>
          <p:cNvPicPr>
            <a:picLocks noChangeAspect="1"/>
          </p:cNvPicPr>
          <p:nvPr/>
        </p:nvPicPr>
        <p:blipFill>
          <a:blip r:embed="rId3"/>
          <a:stretch>
            <a:fillRect/>
          </a:stretch>
        </p:blipFill>
        <p:spPr>
          <a:xfrm>
            <a:off x="5417820" y="2132076"/>
            <a:ext cx="3329940" cy="1514941"/>
          </a:xfrm>
          <a:prstGeom prst="rect">
            <a:avLst/>
          </a:prstGeom>
        </p:spPr>
      </p:pic>
    </p:spTree>
    <p:extLst>
      <p:ext uri="{BB962C8B-B14F-4D97-AF65-F5344CB8AC3E}">
        <p14:creationId xmlns:p14="http://schemas.microsoft.com/office/powerpoint/2010/main" val="3901305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3459"/>
            <a:ext cx="8458200" cy="593809"/>
          </a:xfrm>
        </p:spPr>
        <p:txBody>
          <a:bodyPr/>
          <a:lstStyle/>
          <a:p>
            <a:r>
              <a:rPr lang="de-DE" sz="2800" dirty="0"/>
              <a:t>SBBO/LBBO = Store/Load Byte Burst</a:t>
            </a:r>
            <a:endParaRPr lang="en-US" sz="2800" dirty="0"/>
          </a:p>
        </p:txBody>
      </p:sp>
      <p:sp>
        <p:nvSpPr>
          <p:cNvPr id="4" name="Slide Number Placeholder 3">
            <a:extLst>
              <a:ext uri="{FF2B5EF4-FFF2-40B4-BE49-F238E27FC236}">
                <a16:creationId xmlns:a16="http://schemas.microsoft.com/office/drawing/2014/main" id="{7B96427D-FFB0-408A-A70F-BADB533EC08F}"/>
              </a:ext>
            </a:extLst>
          </p:cNvPr>
          <p:cNvSpPr>
            <a:spLocks noGrp="1"/>
          </p:cNvSpPr>
          <p:nvPr>
            <p:ph type="sldNum" sz="quarter" idx="10"/>
          </p:nvPr>
        </p:nvSpPr>
        <p:spPr>
          <a:xfrm>
            <a:off x="6835046" y="4641011"/>
            <a:ext cx="2133600" cy="154782"/>
          </a:xfrm>
          <a:prstGeom prst="rect">
            <a:avLst/>
          </a:prstGeom>
        </p:spPr>
        <p:txBody>
          <a:bodyPr/>
          <a:lstStyle/>
          <a:p>
            <a:pPr>
              <a:defRPr/>
            </a:pPr>
            <a:fld id="{2DEB9752-BA0C-43D6-88D7-63128AD99001}" type="slidenum">
              <a:rPr lang="en-US" smtClean="0"/>
              <a:pPr>
                <a:defRPr/>
              </a:pPr>
              <a:t>27</a:t>
            </a:fld>
            <a:endParaRPr lang="en-US"/>
          </a:p>
        </p:txBody>
      </p:sp>
      <p:graphicFrame>
        <p:nvGraphicFramePr>
          <p:cNvPr id="5" name="Table 4">
            <a:extLst>
              <a:ext uri="{FF2B5EF4-FFF2-40B4-BE49-F238E27FC236}">
                <a16:creationId xmlns:a16="http://schemas.microsoft.com/office/drawing/2014/main" id="{B44E6D93-AA3C-4E0C-A4C6-E80DB910B914}"/>
              </a:ext>
            </a:extLst>
          </p:cNvPr>
          <p:cNvGraphicFramePr>
            <a:graphicFrameLocks noGrp="1"/>
          </p:cNvGraphicFramePr>
          <p:nvPr>
            <p:extLst>
              <p:ext uri="{D42A27DB-BD31-4B8C-83A1-F6EECF244321}">
                <p14:modId xmlns:p14="http://schemas.microsoft.com/office/powerpoint/2010/main" val="2565642051"/>
              </p:ext>
            </p:extLst>
          </p:nvPr>
        </p:nvGraphicFramePr>
        <p:xfrm>
          <a:off x="1285781" y="2644809"/>
          <a:ext cx="1615440" cy="1028700"/>
        </p:xfrm>
        <a:graphic>
          <a:graphicData uri="http://schemas.openxmlformats.org/drawingml/2006/table">
            <a:tbl>
              <a:tblPr>
                <a:tableStyleId>{616DA210-FB5B-4158-B5E0-FEB733F419BA}</a:tableStyleId>
              </a:tblPr>
              <a:tblGrid>
                <a:gridCol w="403860">
                  <a:extLst>
                    <a:ext uri="{9D8B030D-6E8A-4147-A177-3AD203B41FA5}">
                      <a16:colId xmlns:a16="http://schemas.microsoft.com/office/drawing/2014/main" val="20000"/>
                    </a:ext>
                  </a:extLst>
                </a:gridCol>
                <a:gridCol w="403860">
                  <a:extLst>
                    <a:ext uri="{9D8B030D-6E8A-4147-A177-3AD203B41FA5}">
                      <a16:colId xmlns:a16="http://schemas.microsoft.com/office/drawing/2014/main" val="20001"/>
                    </a:ext>
                  </a:extLst>
                </a:gridCol>
                <a:gridCol w="403860">
                  <a:extLst>
                    <a:ext uri="{9D8B030D-6E8A-4147-A177-3AD203B41FA5}">
                      <a16:colId xmlns:a16="http://schemas.microsoft.com/office/drawing/2014/main" val="20002"/>
                    </a:ext>
                  </a:extLst>
                </a:gridCol>
                <a:gridCol w="403860">
                  <a:extLst>
                    <a:ext uri="{9D8B030D-6E8A-4147-A177-3AD203B41FA5}">
                      <a16:colId xmlns:a16="http://schemas.microsoft.com/office/drawing/2014/main" val="20003"/>
                    </a:ext>
                  </a:extLst>
                </a:gridCol>
              </a:tblGrid>
              <a:tr h="205740">
                <a:tc>
                  <a:txBody>
                    <a:bodyPr/>
                    <a:lstStyle/>
                    <a:p>
                      <a:pPr algn="ctr"/>
                      <a:endParaRPr lang="en-US" sz="900" baseline="0" dirty="0"/>
                    </a:p>
                  </a:txBody>
                  <a:tcPr marT="34290" marB="34290" anchor="ctr"/>
                </a:tc>
                <a:tc>
                  <a:txBody>
                    <a:bodyPr/>
                    <a:lstStyle/>
                    <a:p>
                      <a:pPr algn="ctr"/>
                      <a:endParaRPr lang="en-US" sz="900" baseline="0"/>
                    </a:p>
                  </a:txBody>
                  <a:tcPr marT="34290" marB="34290" anchor="ctr"/>
                </a:tc>
                <a:tc>
                  <a:txBody>
                    <a:bodyPr/>
                    <a:lstStyle/>
                    <a:p>
                      <a:pPr algn="ctr"/>
                      <a:endParaRPr lang="en-US" sz="900" baseline="0"/>
                    </a:p>
                  </a:txBody>
                  <a:tcPr marT="34290" marB="34290" anchor="ctr"/>
                </a:tc>
                <a:tc>
                  <a:txBody>
                    <a:bodyPr/>
                    <a:lstStyle/>
                    <a:p>
                      <a:pPr algn="ctr"/>
                      <a:endParaRPr lang="en-US" sz="900" baseline="0"/>
                    </a:p>
                  </a:txBody>
                  <a:tcPr marT="34290" marB="34290" anchor="ctr"/>
                </a:tc>
                <a:extLst>
                  <a:ext uri="{0D108BD9-81ED-4DB2-BD59-A6C34878D82A}">
                    <a16:rowId xmlns:a16="http://schemas.microsoft.com/office/drawing/2014/main" val="10000"/>
                  </a:ext>
                </a:extLst>
              </a:tr>
              <a:tr h="205740">
                <a:tc>
                  <a:txBody>
                    <a:bodyPr/>
                    <a:lstStyle/>
                    <a:p>
                      <a:pPr algn="ctr"/>
                      <a:r>
                        <a:rPr lang="fr-FR" sz="900" baseline="0" dirty="0"/>
                        <a:t>2</a:t>
                      </a:r>
                      <a:endParaRPr lang="en-US" sz="900" baseline="0" dirty="0"/>
                    </a:p>
                  </a:txBody>
                  <a:tcPr marT="34290" marB="34290" anchor="ctr">
                    <a:solidFill>
                      <a:srgbClr val="99FF99"/>
                    </a:solidFill>
                  </a:tcPr>
                </a:tc>
                <a:tc>
                  <a:txBody>
                    <a:bodyPr/>
                    <a:lstStyle/>
                    <a:p>
                      <a:pPr algn="ctr"/>
                      <a:r>
                        <a:rPr lang="fr-FR" sz="900" baseline="0" dirty="0"/>
                        <a:t>1</a:t>
                      </a:r>
                      <a:endParaRPr lang="en-US" sz="900" baseline="0" dirty="0"/>
                    </a:p>
                  </a:txBody>
                  <a:tcPr marT="34290" marB="34290" anchor="ctr">
                    <a:solidFill>
                      <a:srgbClr val="99FF99"/>
                    </a:solidFill>
                  </a:tcPr>
                </a:tc>
                <a:tc>
                  <a:txBody>
                    <a:bodyPr/>
                    <a:lstStyle/>
                    <a:p>
                      <a:pPr algn="ctr"/>
                      <a:r>
                        <a:rPr lang="fr-FR" sz="900" baseline="0" dirty="0"/>
                        <a:t>0</a:t>
                      </a:r>
                      <a:endParaRPr lang="en-US" sz="900" baseline="0" dirty="0"/>
                    </a:p>
                  </a:txBody>
                  <a:tcPr marT="34290" marB="34290" anchor="ctr">
                    <a:solidFill>
                      <a:srgbClr val="99FF99"/>
                    </a:solidFill>
                  </a:tcPr>
                </a:tc>
                <a:tc>
                  <a:txBody>
                    <a:bodyPr/>
                    <a:lstStyle/>
                    <a:p>
                      <a:pPr algn="ctr"/>
                      <a:endParaRPr lang="en-US" sz="900" baseline="0" dirty="0"/>
                    </a:p>
                  </a:txBody>
                  <a:tcPr marT="34290" marB="34290" anchor="ctr"/>
                </a:tc>
                <a:extLst>
                  <a:ext uri="{0D108BD9-81ED-4DB2-BD59-A6C34878D82A}">
                    <a16:rowId xmlns:a16="http://schemas.microsoft.com/office/drawing/2014/main" val="10001"/>
                  </a:ext>
                </a:extLst>
              </a:tr>
              <a:tr h="205740">
                <a:tc>
                  <a:txBody>
                    <a:bodyPr/>
                    <a:lstStyle/>
                    <a:p>
                      <a:pPr algn="ctr"/>
                      <a:r>
                        <a:rPr lang="fr-FR" sz="900" baseline="0" dirty="0"/>
                        <a:t>6</a:t>
                      </a:r>
                      <a:endParaRPr lang="en-US" sz="900" baseline="0" dirty="0"/>
                    </a:p>
                  </a:txBody>
                  <a:tcPr marT="34290" marB="34290" anchor="ctr">
                    <a:solidFill>
                      <a:srgbClr val="99FF99"/>
                    </a:solidFill>
                  </a:tcPr>
                </a:tc>
                <a:tc>
                  <a:txBody>
                    <a:bodyPr/>
                    <a:lstStyle/>
                    <a:p>
                      <a:pPr algn="ctr"/>
                      <a:r>
                        <a:rPr lang="fr-FR" sz="900" baseline="0" dirty="0"/>
                        <a:t>5</a:t>
                      </a:r>
                      <a:endParaRPr lang="en-US" sz="900" baseline="0" dirty="0"/>
                    </a:p>
                  </a:txBody>
                  <a:tcPr marT="34290" marB="34290" anchor="ctr">
                    <a:solidFill>
                      <a:srgbClr val="99FF99"/>
                    </a:solidFill>
                  </a:tcPr>
                </a:tc>
                <a:tc>
                  <a:txBody>
                    <a:bodyPr/>
                    <a:lstStyle/>
                    <a:p>
                      <a:pPr algn="ctr"/>
                      <a:r>
                        <a:rPr lang="fr-FR" sz="900" baseline="0" dirty="0"/>
                        <a:t>4</a:t>
                      </a:r>
                      <a:endParaRPr lang="en-US" sz="900" baseline="0" dirty="0"/>
                    </a:p>
                  </a:txBody>
                  <a:tcPr marT="34290" marB="34290" anchor="ctr">
                    <a:solidFill>
                      <a:srgbClr val="99FF99"/>
                    </a:solidFill>
                  </a:tcPr>
                </a:tc>
                <a:tc>
                  <a:txBody>
                    <a:bodyPr/>
                    <a:lstStyle/>
                    <a:p>
                      <a:pPr algn="ctr"/>
                      <a:r>
                        <a:rPr lang="fr-FR" sz="900" baseline="0" dirty="0"/>
                        <a:t>3</a:t>
                      </a:r>
                      <a:endParaRPr lang="en-US" sz="900" baseline="0" dirty="0"/>
                    </a:p>
                  </a:txBody>
                  <a:tcPr marT="34290" marB="34290" anchor="ctr">
                    <a:solidFill>
                      <a:srgbClr val="99FF99"/>
                    </a:solidFill>
                  </a:tcPr>
                </a:tc>
                <a:extLst>
                  <a:ext uri="{0D108BD9-81ED-4DB2-BD59-A6C34878D82A}">
                    <a16:rowId xmlns:a16="http://schemas.microsoft.com/office/drawing/2014/main" val="10002"/>
                  </a:ext>
                </a:extLst>
              </a:tr>
              <a:tr h="205740">
                <a:tc>
                  <a:txBody>
                    <a:bodyPr/>
                    <a:lstStyle/>
                    <a:p>
                      <a:pPr algn="ctr"/>
                      <a:endParaRPr lang="en-US" sz="900" baseline="0" dirty="0"/>
                    </a:p>
                  </a:txBody>
                  <a:tcPr marT="34290" marB="34290" anchor="ctr"/>
                </a:tc>
                <a:tc>
                  <a:txBody>
                    <a:bodyPr/>
                    <a:lstStyle/>
                    <a:p>
                      <a:pPr algn="ctr"/>
                      <a:endParaRPr lang="en-US" sz="900" baseline="0" dirty="0"/>
                    </a:p>
                  </a:txBody>
                  <a:tcPr marT="34290" marB="34290" anchor="ctr"/>
                </a:tc>
                <a:tc>
                  <a:txBody>
                    <a:bodyPr/>
                    <a:lstStyle/>
                    <a:p>
                      <a:pPr algn="ctr"/>
                      <a:endParaRPr lang="en-US" sz="900" baseline="0" dirty="0"/>
                    </a:p>
                  </a:txBody>
                  <a:tcPr marT="34290" marB="34290" anchor="ctr"/>
                </a:tc>
                <a:tc>
                  <a:txBody>
                    <a:bodyPr/>
                    <a:lstStyle/>
                    <a:p>
                      <a:pPr algn="ctr"/>
                      <a:r>
                        <a:rPr lang="fr-FR" sz="900" baseline="0" dirty="0"/>
                        <a:t>7</a:t>
                      </a:r>
                      <a:endParaRPr lang="en-US" sz="900" baseline="0" dirty="0"/>
                    </a:p>
                  </a:txBody>
                  <a:tcPr marT="34290" marB="34290" anchor="ctr">
                    <a:solidFill>
                      <a:srgbClr val="99FF99"/>
                    </a:solidFill>
                  </a:tcPr>
                </a:tc>
                <a:extLst>
                  <a:ext uri="{0D108BD9-81ED-4DB2-BD59-A6C34878D82A}">
                    <a16:rowId xmlns:a16="http://schemas.microsoft.com/office/drawing/2014/main" val="10003"/>
                  </a:ext>
                </a:extLst>
              </a:tr>
              <a:tr h="205740">
                <a:tc>
                  <a:txBody>
                    <a:bodyPr/>
                    <a:lstStyle/>
                    <a:p>
                      <a:pPr algn="ctr"/>
                      <a:endParaRPr lang="en-US" sz="900" baseline="0"/>
                    </a:p>
                  </a:txBody>
                  <a:tcPr marT="34290" marB="34290" anchor="ctr"/>
                </a:tc>
                <a:tc>
                  <a:txBody>
                    <a:bodyPr/>
                    <a:lstStyle/>
                    <a:p>
                      <a:pPr algn="ctr"/>
                      <a:endParaRPr lang="en-US" sz="900" baseline="0"/>
                    </a:p>
                  </a:txBody>
                  <a:tcPr marT="34290" marB="34290" anchor="ctr"/>
                </a:tc>
                <a:tc>
                  <a:txBody>
                    <a:bodyPr/>
                    <a:lstStyle/>
                    <a:p>
                      <a:pPr algn="ctr"/>
                      <a:endParaRPr lang="en-US" sz="900" baseline="0"/>
                    </a:p>
                  </a:txBody>
                  <a:tcPr marT="34290" marB="34290" anchor="ctr"/>
                </a:tc>
                <a:tc>
                  <a:txBody>
                    <a:bodyPr/>
                    <a:lstStyle/>
                    <a:p>
                      <a:pPr algn="ctr"/>
                      <a:endParaRPr lang="en-US" sz="900" baseline="0" dirty="0"/>
                    </a:p>
                  </a:txBody>
                  <a:tcPr marT="34290" marB="34290" anchor="ctr"/>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C638DB6B-0DED-4BD7-9DEF-11E8B6F13130}"/>
              </a:ext>
            </a:extLst>
          </p:cNvPr>
          <p:cNvGraphicFramePr>
            <a:graphicFrameLocks noGrp="1"/>
          </p:cNvGraphicFramePr>
          <p:nvPr>
            <p:extLst>
              <p:ext uri="{D42A27DB-BD31-4B8C-83A1-F6EECF244321}">
                <p14:modId xmlns:p14="http://schemas.microsoft.com/office/powerpoint/2010/main" val="502996767"/>
              </p:ext>
            </p:extLst>
          </p:nvPr>
        </p:nvGraphicFramePr>
        <p:xfrm>
          <a:off x="1285781" y="3992755"/>
          <a:ext cx="1615440" cy="632460"/>
        </p:xfrm>
        <a:graphic>
          <a:graphicData uri="http://schemas.openxmlformats.org/drawingml/2006/table">
            <a:tbl>
              <a:tblPr>
                <a:tableStyleId>{616DA210-FB5B-4158-B5E0-FEB733F419BA}</a:tableStyleId>
              </a:tblPr>
              <a:tblGrid>
                <a:gridCol w="403860">
                  <a:extLst>
                    <a:ext uri="{9D8B030D-6E8A-4147-A177-3AD203B41FA5}">
                      <a16:colId xmlns:a16="http://schemas.microsoft.com/office/drawing/2014/main" val="20000"/>
                    </a:ext>
                  </a:extLst>
                </a:gridCol>
                <a:gridCol w="403860">
                  <a:extLst>
                    <a:ext uri="{9D8B030D-6E8A-4147-A177-3AD203B41FA5}">
                      <a16:colId xmlns:a16="http://schemas.microsoft.com/office/drawing/2014/main" val="20001"/>
                    </a:ext>
                  </a:extLst>
                </a:gridCol>
                <a:gridCol w="403860">
                  <a:extLst>
                    <a:ext uri="{9D8B030D-6E8A-4147-A177-3AD203B41FA5}">
                      <a16:colId xmlns:a16="http://schemas.microsoft.com/office/drawing/2014/main" val="20002"/>
                    </a:ext>
                  </a:extLst>
                </a:gridCol>
                <a:gridCol w="403860">
                  <a:extLst>
                    <a:ext uri="{9D8B030D-6E8A-4147-A177-3AD203B41FA5}">
                      <a16:colId xmlns:a16="http://schemas.microsoft.com/office/drawing/2014/main" val="20003"/>
                    </a:ext>
                  </a:extLst>
                </a:gridCol>
              </a:tblGrid>
              <a:tr h="205740">
                <a:tc gridSpan="4">
                  <a:txBody>
                    <a:bodyPr/>
                    <a:lstStyle/>
                    <a:p>
                      <a:pPr marL="0" marR="0" lvl="0" indent="0" algn="ctr" defTabSz="761790" rtl="0" eaLnBrk="1" fontAlgn="auto" latinLnBrk="0" hangingPunct="1">
                        <a:lnSpc>
                          <a:spcPct val="100000"/>
                        </a:lnSpc>
                        <a:spcBef>
                          <a:spcPts val="0"/>
                        </a:spcBef>
                        <a:spcAft>
                          <a:spcPts val="0"/>
                        </a:spcAft>
                        <a:buClrTx/>
                        <a:buSzTx/>
                        <a:buFontTx/>
                        <a:buNone/>
                        <a:tabLst/>
                        <a:defRPr/>
                      </a:pPr>
                      <a:r>
                        <a:rPr lang="fr-FR" sz="900" b="1" baseline="0" dirty="0">
                          <a:solidFill>
                            <a:srgbClr val="0070C0"/>
                          </a:solidFill>
                        </a:rPr>
                        <a:t>0x6651B000</a:t>
                      </a:r>
                      <a:endParaRPr lang="en-US" sz="900" b="1" baseline="0" dirty="0">
                        <a:solidFill>
                          <a:srgbClr val="0070C0"/>
                        </a:solidFill>
                      </a:endParaRPr>
                    </a:p>
                  </a:txBody>
                  <a:tcPr marT="34290" marB="34290" anchor="ctr"/>
                </a:tc>
                <a:tc hMerge="1">
                  <a:txBody>
                    <a:bodyPr/>
                    <a:lstStyle/>
                    <a:p>
                      <a:pPr algn="ctr"/>
                      <a:endParaRPr lang="en-US" sz="900" baseline="0" dirty="0"/>
                    </a:p>
                  </a:txBody>
                  <a:tcPr marT="34290" marB="34290" anchor="ctr"/>
                </a:tc>
                <a:tc hMerge="1">
                  <a:txBody>
                    <a:bodyPr/>
                    <a:lstStyle/>
                    <a:p>
                      <a:pPr algn="ctr"/>
                      <a:endParaRPr lang="en-US" sz="900" baseline="0" dirty="0"/>
                    </a:p>
                  </a:txBody>
                  <a:tcPr marT="34290" marB="34290" anchor="ctr"/>
                </a:tc>
                <a:tc hMerge="1">
                  <a:txBody>
                    <a:bodyPr/>
                    <a:lstStyle/>
                    <a:p>
                      <a:pPr algn="ctr"/>
                      <a:endParaRPr lang="en-US" sz="900" baseline="0" dirty="0"/>
                    </a:p>
                  </a:txBody>
                  <a:tcPr marT="34290" marB="34290" anchor="ctr"/>
                </a:tc>
                <a:extLst>
                  <a:ext uri="{0D108BD9-81ED-4DB2-BD59-A6C34878D82A}">
                    <a16:rowId xmlns:a16="http://schemas.microsoft.com/office/drawing/2014/main" val="10000"/>
                  </a:ext>
                </a:extLst>
              </a:tr>
              <a:tr h="205740">
                <a:tc>
                  <a:txBody>
                    <a:bodyPr/>
                    <a:lstStyle/>
                    <a:p>
                      <a:pPr algn="ctr"/>
                      <a:endParaRPr lang="en-US" sz="1000" b="1" baseline="0" dirty="0">
                        <a:solidFill>
                          <a:srgbClr val="0070C0"/>
                        </a:solidFill>
                      </a:endParaRPr>
                    </a:p>
                  </a:txBody>
                  <a:tcPr marT="34290" marB="34290" anchor="ctr"/>
                </a:tc>
                <a:tc>
                  <a:txBody>
                    <a:bodyPr/>
                    <a:lstStyle/>
                    <a:p>
                      <a:pPr algn="ctr"/>
                      <a:endParaRPr lang="en-US" sz="1000" b="1" baseline="0" dirty="0">
                        <a:solidFill>
                          <a:srgbClr val="0070C0"/>
                        </a:solidFill>
                      </a:endParaRPr>
                    </a:p>
                  </a:txBody>
                  <a:tcPr marT="34290" marB="34290" anchor="ctr"/>
                </a:tc>
                <a:tc>
                  <a:txBody>
                    <a:bodyPr/>
                    <a:lstStyle/>
                    <a:p>
                      <a:pPr algn="ctr"/>
                      <a:endParaRPr lang="en-US" sz="1000" b="1" baseline="0" dirty="0">
                        <a:solidFill>
                          <a:srgbClr val="0070C0"/>
                        </a:solidFill>
                      </a:endParaRPr>
                    </a:p>
                  </a:txBody>
                  <a:tcPr marT="34290" marB="34290" anchor="ctr"/>
                </a:tc>
                <a:tc>
                  <a:txBody>
                    <a:bodyPr/>
                    <a:lstStyle/>
                    <a:p>
                      <a:pPr algn="ctr"/>
                      <a:endParaRPr lang="en-US" sz="1000" b="1" baseline="0" dirty="0">
                        <a:solidFill>
                          <a:srgbClr val="0070C0"/>
                        </a:solidFill>
                      </a:endParaRPr>
                    </a:p>
                  </a:txBody>
                  <a:tcPr marT="34290" marB="34290" anchor="ctr"/>
                </a:tc>
                <a:extLst>
                  <a:ext uri="{0D108BD9-81ED-4DB2-BD59-A6C34878D82A}">
                    <a16:rowId xmlns:a16="http://schemas.microsoft.com/office/drawing/2014/main" val="10001"/>
                  </a:ext>
                </a:extLst>
              </a:tr>
              <a:tr h="205740">
                <a:tc>
                  <a:txBody>
                    <a:bodyPr/>
                    <a:lstStyle/>
                    <a:p>
                      <a:pPr algn="ctr"/>
                      <a:endParaRPr lang="en-US" sz="900" baseline="0" dirty="0"/>
                    </a:p>
                  </a:txBody>
                  <a:tcPr marT="34290" marB="34290" anchor="ctr"/>
                </a:tc>
                <a:tc>
                  <a:txBody>
                    <a:bodyPr/>
                    <a:lstStyle/>
                    <a:p>
                      <a:pPr algn="ctr"/>
                      <a:endParaRPr lang="en-US" sz="900" baseline="0" dirty="0"/>
                    </a:p>
                  </a:txBody>
                  <a:tcPr marT="34290" marB="34290" anchor="ctr"/>
                </a:tc>
                <a:tc>
                  <a:txBody>
                    <a:bodyPr/>
                    <a:lstStyle/>
                    <a:p>
                      <a:pPr algn="ctr"/>
                      <a:endParaRPr lang="en-US" sz="900" baseline="0" dirty="0"/>
                    </a:p>
                  </a:txBody>
                  <a:tcPr marT="34290" marB="34290" anchor="ctr"/>
                </a:tc>
                <a:tc>
                  <a:txBody>
                    <a:bodyPr/>
                    <a:lstStyle/>
                    <a:p>
                      <a:pPr algn="ctr"/>
                      <a:endParaRPr lang="en-US" sz="900" baseline="0" dirty="0"/>
                    </a:p>
                  </a:txBody>
                  <a:tcPr marT="34290" marB="34290" anchor="ctr"/>
                </a:tc>
                <a:extLst>
                  <a:ext uri="{0D108BD9-81ED-4DB2-BD59-A6C34878D82A}">
                    <a16:rowId xmlns:a16="http://schemas.microsoft.com/office/drawing/2014/main" val="10002"/>
                  </a:ext>
                </a:extLst>
              </a:tr>
            </a:tbl>
          </a:graphicData>
        </a:graphic>
      </p:graphicFrame>
      <p:sp>
        <p:nvSpPr>
          <p:cNvPr id="7" name="TextBox 6">
            <a:extLst>
              <a:ext uri="{FF2B5EF4-FFF2-40B4-BE49-F238E27FC236}">
                <a16:creationId xmlns:a16="http://schemas.microsoft.com/office/drawing/2014/main" id="{5FF2FA62-3F86-41CF-8F80-3D5C31A13ED3}"/>
              </a:ext>
            </a:extLst>
          </p:cNvPr>
          <p:cNvSpPr txBox="1"/>
          <p:nvPr/>
        </p:nvSpPr>
        <p:spPr>
          <a:xfrm>
            <a:off x="7269517" y="3114612"/>
            <a:ext cx="1386918" cy="512961"/>
          </a:xfrm>
          <a:prstGeom prst="rect">
            <a:avLst/>
          </a:prstGeom>
          <a:noFill/>
        </p:spPr>
        <p:txBody>
          <a:bodyPr wrap="none" rtlCol="0">
            <a:spAutoFit/>
          </a:bodyPr>
          <a:lstStyle/>
          <a:p>
            <a:pPr>
              <a:spcBef>
                <a:spcPts val="400"/>
              </a:spcBef>
            </a:pPr>
            <a:r>
              <a:rPr lang="fr-FR" sz="1200" dirty="0">
                <a:solidFill>
                  <a:srgbClr val="0070C0"/>
                </a:solidFill>
              </a:rPr>
              <a:t>@ </a:t>
            </a:r>
            <a:r>
              <a:rPr lang="fr-FR" sz="1200" b="1" dirty="0">
                <a:solidFill>
                  <a:srgbClr val="0070C0"/>
                </a:solidFill>
              </a:rPr>
              <a:t>0x6651B000</a:t>
            </a:r>
            <a:r>
              <a:rPr lang="fr-FR" sz="1200" dirty="0">
                <a:solidFill>
                  <a:srgbClr val="0070C0"/>
                </a:solidFill>
              </a:rPr>
              <a:t>/</a:t>
            </a:r>
            <a:r>
              <a:rPr lang="fr-FR" sz="1200" dirty="0">
                <a:solidFill>
                  <a:srgbClr val="FF0000"/>
                </a:solidFill>
              </a:rPr>
              <a:t>5</a:t>
            </a:r>
          </a:p>
          <a:p>
            <a:pPr>
              <a:spcBef>
                <a:spcPts val="400"/>
              </a:spcBef>
            </a:pPr>
            <a:r>
              <a:rPr lang="fr-FR" sz="1200" dirty="0">
                <a:solidFill>
                  <a:srgbClr val="0070C0"/>
                </a:solidFill>
              </a:rPr>
              <a:t>@ 0x6651B004</a:t>
            </a:r>
            <a:endParaRPr lang="en-US" sz="1200" dirty="0">
              <a:solidFill>
                <a:srgbClr val="0070C0"/>
              </a:solidFill>
            </a:endParaRPr>
          </a:p>
        </p:txBody>
      </p:sp>
      <p:sp>
        <p:nvSpPr>
          <p:cNvPr id="8" name="TextBox 7">
            <a:extLst>
              <a:ext uri="{FF2B5EF4-FFF2-40B4-BE49-F238E27FC236}">
                <a16:creationId xmlns:a16="http://schemas.microsoft.com/office/drawing/2014/main" id="{0743FCCD-1271-4F74-998C-658834A65102}"/>
              </a:ext>
            </a:extLst>
          </p:cNvPr>
          <p:cNvSpPr txBox="1"/>
          <p:nvPr/>
        </p:nvSpPr>
        <p:spPr>
          <a:xfrm>
            <a:off x="886773" y="2593773"/>
            <a:ext cx="465192" cy="1118255"/>
          </a:xfrm>
          <a:prstGeom prst="rect">
            <a:avLst/>
          </a:prstGeom>
          <a:noFill/>
        </p:spPr>
        <p:txBody>
          <a:bodyPr wrap="square" rtlCol="0">
            <a:spAutoFit/>
          </a:bodyPr>
          <a:lstStyle/>
          <a:p>
            <a:pPr>
              <a:spcBef>
                <a:spcPts val="200"/>
              </a:spcBef>
            </a:pPr>
            <a:r>
              <a:rPr lang="fr-FR" sz="1200" dirty="0"/>
              <a:t>R0</a:t>
            </a:r>
          </a:p>
          <a:p>
            <a:pPr>
              <a:spcBef>
                <a:spcPts val="200"/>
              </a:spcBef>
            </a:pPr>
            <a:r>
              <a:rPr lang="fr-FR" sz="1200" dirty="0"/>
              <a:t>R1</a:t>
            </a:r>
          </a:p>
          <a:p>
            <a:pPr>
              <a:spcBef>
                <a:spcPts val="200"/>
              </a:spcBef>
            </a:pPr>
            <a:r>
              <a:rPr lang="fr-FR" sz="1200" dirty="0"/>
              <a:t>R2</a:t>
            </a:r>
          </a:p>
          <a:p>
            <a:pPr>
              <a:spcBef>
                <a:spcPts val="200"/>
              </a:spcBef>
            </a:pPr>
            <a:r>
              <a:rPr lang="fr-FR" sz="1200" dirty="0"/>
              <a:t>R3</a:t>
            </a:r>
          </a:p>
          <a:p>
            <a:pPr>
              <a:spcBef>
                <a:spcPts val="200"/>
              </a:spcBef>
            </a:pPr>
            <a:r>
              <a:rPr lang="fr-FR" sz="1200" dirty="0"/>
              <a:t>R4</a:t>
            </a:r>
            <a:endParaRPr lang="en-US" sz="1200" dirty="0"/>
          </a:p>
        </p:txBody>
      </p:sp>
      <p:sp>
        <p:nvSpPr>
          <p:cNvPr id="9" name="TextBox 8">
            <a:extLst>
              <a:ext uri="{FF2B5EF4-FFF2-40B4-BE49-F238E27FC236}">
                <a16:creationId xmlns:a16="http://schemas.microsoft.com/office/drawing/2014/main" id="{DAFCB57B-E02C-4E44-B98E-A7B1A2A6F02D}"/>
              </a:ext>
            </a:extLst>
          </p:cNvPr>
          <p:cNvSpPr txBox="1"/>
          <p:nvPr/>
        </p:nvSpPr>
        <p:spPr>
          <a:xfrm>
            <a:off x="784262" y="3968551"/>
            <a:ext cx="465192" cy="697627"/>
          </a:xfrm>
          <a:prstGeom prst="rect">
            <a:avLst/>
          </a:prstGeom>
          <a:noFill/>
        </p:spPr>
        <p:txBody>
          <a:bodyPr wrap="square" rtlCol="0">
            <a:spAutoFit/>
          </a:bodyPr>
          <a:lstStyle>
            <a:defPPr>
              <a:defRPr lang="en-US"/>
            </a:defPPr>
            <a:lvl1pPr>
              <a:spcBef>
                <a:spcPts val="200"/>
              </a:spcBef>
              <a:defRPr sz="1200"/>
            </a:lvl1pPr>
          </a:lstStyle>
          <a:p>
            <a:r>
              <a:rPr lang="fr-FR" dirty="0"/>
              <a:t>R29</a:t>
            </a:r>
          </a:p>
          <a:p>
            <a:r>
              <a:rPr lang="fr-FR" dirty="0"/>
              <a:t>R30</a:t>
            </a:r>
          </a:p>
          <a:p>
            <a:r>
              <a:rPr lang="fr-FR" dirty="0"/>
              <a:t>R31</a:t>
            </a:r>
          </a:p>
        </p:txBody>
      </p:sp>
      <p:sp>
        <p:nvSpPr>
          <p:cNvPr id="11" name="TextBox 10">
            <a:extLst>
              <a:ext uri="{FF2B5EF4-FFF2-40B4-BE49-F238E27FC236}">
                <a16:creationId xmlns:a16="http://schemas.microsoft.com/office/drawing/2014/main" id="{416B5F17-7ED2-4C74-975E-E8841329B649}"/>
              </a:ext>
            </a:extLst>
          </p:cNvPr>
          <p:cNvSpPr txBox="1"/>
          <p:nvPr/>
        </p:nvSpPr>
        <p:spPr>
          <a:xfrm>
            <a:off x="1336988" y="2172345"/>
            <a:ext cx="1737360" cy="276999"/>
          </a:xfrm>
          <a:prstGeom prst="rect">
            <a:avLst/>
          </a:prstGeom>
          <a:noFill/>
        </p:spPr>
        <p:txBody>
          <a:bodyPr wrap="square" rtlCol="0">
            <a:spAutoFit/>
          </a:bodyPr>
          <a:lstStyle/>
          <a:p>
            <a:pPr>
              <a:spcBef>
                <a:spcPts val="700"/>
              </a:spcBef>
            </a:pPr>
            <a:r>
              <a:rPr lang="fr-FR" sz="1200" b="1" dirty="0"/>
              <a:t>PRU registers file</a:t>
            </a:r>
            <a:endParaRPr lang="en-US" sz="1200" b="1" dirty="0"/>
          </a:p>
        </p:txBody>
      </p:sp>
      <p:sp>
        <p:nvSpPr>
          <p:cNvPr id="12" name="TextBox 11">
            <a:extLst>
              <a:ext uri="{FF2B5EF4-FFF2-40B4-BE49-F238E27FC236}">
                <a16:creationId xmlns:a16="http://schemas.microsoft.com/office/drawing/2014/main" id="{4F0A67E3-0251-445E-AB8C-EC3933F970E3}"/>
              </a:ext>
            </a:extLst>
          </p:cNvPr>
          <p:cNvSpPr txBox="1"/>
          <p:nvPr/>
        </p:nvSpPr>
        <p:spPr>
          <a:xfrm>
            <a:off x="1249454" y="2398871"/>
            <a:ext cx="2323787" cy="276999"/>
          </a:xfrm>
          <a:prstGeom prst="rect">
            <a:avLst/>
          </a:prstGeom>
          <a:noFill/>
        </p:spPr>
        <p:txBody>
          <a:bodyPr wrap="square" rtlCol="0">
            <a:spAutoFit/>
          </a:bodyPr>
          <a:lstStyle/>
          <a:p>
            <a:pPr>
              <a:spcBef>
                <a:spcPts val="700"/>
              </a:spcBef>
            </a:pPr>
            <a:r>
              <a:rPr lang="fr-FR" sz="1200" dirty="0"/>
              <a:t>MSB                    LSB</a:t>
            </a:r>
            <a:endParaRPr lang="en-US" sz="1200" dirty="0"/>
          </a:p>
        </p:txBody>
      </p:sp>
      <p:sp>
        <p:nvSpPr>
          <p:cNvPr id="13" name="TextBox 12">
            <a:extLst>
              <a:ext uri="{FF2B5EF4-FFF2-40B4-BE49-F238E27FC236}">
                <a16:creationId xmlns:a16="http://schemas.microsoft.com/office/drawing/2014/main" id="{91618C5D-1AD4-43A3-BF47-7FCFF5C7BACC}"/>
              </a:ext>
            </a:extLst>
          </p:cNvPr>
          <p:cNvSpPr txBox="1"/>
          <p:nvPr/>
        </p:nvSpPr>
        <p:spPr>
          <a:xfrm>
            <a:off x="5761571" y="2387852"/>
            <a:ext cx="1737360" cy="276999"/>
          </a:xfrm>
          <a:prstGeom prst="rect">
            <a:avLst/>
          </a:prstGeom>
          <a:noFill/>
        </p:spPr>
        <p:txBody>
          <a:bodyPr wrap="square" rtlCol="0">
            <a:spAutoFit/>
          </a:bodyPr>
          <a:lstStyle/>
          <a:p>
            <a:pPr algn="ctr">
              <a:spcBef>
                <a:spcPts val="700"/>
              </a:spcBef>
            </a:pPr>
            <a:r>
              <a:rPr lang="fr-FR" sz="1200" b="1" dirty="0"/>
              <a:t>System memory</a:t>
            </a:r>
            <a:endParaRPr lang="en-US" sz="1200" b="1" dirty="0"/>
          </a:p>
        </p:txBody>
      </p:sp>
      <p:graphicFrame>
        <p:nvGraphicFramePr>
          <p:cNvPr id="14" name="Table 13">
            <a:extLst>
              <a:ext uri="{FF2B5EF4-FFF2-40B4-BE49-F238E27FC236}">
                <a16:creationId xmlns:a16="http://schemas.microsoft.com/office/drawing/2014/main" id="{18451071-B4D5-40EE-A74D-8D7FFC92B19C}"/>
              </a:ext>
            </a:extLst>
          </p:cNvPr>
          <p:cNvGraphicFramePr>
            <a:graphicFrameLocks noGrp="1"/>
          </p:cNvGraphicFramePr>
          <p:nvPr>
            <p:extLst>
              <p:ext uri="{D42A27DB-BD31-4B8C-83A1-F6EECF244321}">
                <p14:modId xmlns:p14="http://schemas.microsoft.com/office/powerpoint/2010/main" val="3081558124"/>
              </p:ext>
            </p:extLst>
          </p:nvPr>
        </p:nvGraphicFramePr>
        <p:xfrm>
          <a:off x="5884904" y="2644809"/>
          <a:ext cx="1384613" cy="1592580"/>
        </p:xfrm>
        <a:graphic>
          <a:graphicData uri="http://schemas.openxmlformats.org/drawingml/2006/table">
            <a:tbl>
              <a:tblPr>
                <a:tableStyleId>{616DA210-FB5B-4158-B5E0-FEB733F419BA}</a:tableStyleId>
              </a:tblPr>
              <a:tblGrid>
                <a:gridCol w="1384613">
                  <a:extLst>
                    <a:ext uri="{9D8B030D-6E8A-4147-A177-3AD203B41FA5}">
                      <a16:colId xmlns:a16="http://schemas.microsoft.com/office/drawing/2014/main" val="20000"/>
                    </a:ext>
                  </a:extLst>
                </a:gridCol>
              </a:tblGrid>
              <a:tr h="525780">
                <a:tc>
                  <a:txBody>
                    <a:bodyPr/>
                    <a:lstStyle/>
                    <a:p>
                      <a:pPr algn="ctr"/>
                      <a:endParaRPr lang="en-US" sz="900" baseline="0" dirty="0"/>
                    </a:p>
                  </a:txBody>
                  <a:tcPr marT="34290" marB="34290" anchor="ctr"/>
                </a:tc>
                <a:extLst>
                  <a:ext uri="{0D108BD9-81ED-4DB2-BD59-A6C34878D82A}">
                    <a16:rowId xmlns:a16="http://schemas.microsoft.com/office/drawing/2014/main" val="10000"/>
                  </a:ext>
                </a:extLst>
              </a:tr>
              <a:tr h="205740">
                <a:tc>
                  <a:txBody>
                    <a:bodyPr/>
                    <a:lstStyle/>
                    <a:p>
                      <a:pPr algn="ctr"/>
                      <a:r>
                        <a:rPr lang="fr-FR" sz="900" baseline="0" dirty="0"/>
                        <a:t>0x03020100</a:t>
                      </a:r>
                      <a:endParaRPr lang="en-US" sz="900" baseline="0" dirty="0"/>
                    </a:p>
                  </a:txBody>
                  <a:tcPr marT="34290" marB="34290" anchor="ctr"/>
                </a:tc>
                <a:extLst>
                  <a:ext uri="{0D108BD9-81ED-4DB2-BD59-A6C34878D82A}">
                    <a16:rowId xmlns:a16="http://schemas.microsoft.com/office/drawing/2014/main" val="10001"/>
                  </a:ext>
                </a:extLst>
              </a:tr>
              <a:tr h="205740">
                <a:tc>
                  <a:txBody>
                    <a:bodyPr/>
                    <a:lstStyle/>
                    <a:p>
                      <a:pPr algn="ctr"/>
                      <a:r>
                        <a:rPr lang="fr-FR" sz="900" baseline="0" dirty="0"/>
                        <a:t>0x07060504</a:t>
                      </a:r>
                      <a:endParaRPr lang="en-US" sz="900" baseline="0" dirty="0"/>
                    </a:p>
                  </a:txBody>
                  <a:tcPr marT="34290" marB="34290" anchor="ctr"/>
                </a:tc>
                <a:extLst>
                  <a:ext uri="{0D108BD9-81ED-4DB2-BD59-A6C34878D82A}">
                    <a16:rowId xmlns:a16="http://schemas.microsoft.com/office/drawing/2014/main" val="10002"/>
                  </a:ext>
                </a:extLst>
              </a:tr>
              <a:tr h="655320">
                <a:tc>
                  <a:txBody>
                    <a:bodyPr/>
                    <a:lstStyle/>
                    <a:p>
                      <a:pPr algn="ctr"/>
                      <a:endParaRPr lang="en-US" sz="900" baseline="0" dirty="0"/>
                    </a:p>
                  </a:txBody>
                  <a:tcPr marT="34290" marB="34290" anchor="ctr"/>
                </a:tc>
                <a:extLst>
                  <a:ext uri="{0D108BD9-81ED-4DB2-BD59-A6C34878D82A}">
                    <a16:rowId xmlns:a16="http://schemas.microsoft.com/office/drawing/2014/main" val="10003"/>
                  </a:ext>
                </a:extLst>
              </a:tr>
            </a:tbl>
          </a:graphicData>
        </a:graphic>
      </p:graphicFrame>
      <p:sp>
        <p:nvSpPr>
          <p:cNvPr id="15" name="TextBox 14">
            <a:extLst>
              <a:ext uri="{FF2B5EF4-FFF2-40B4-BE49-F238E27FC236}">
                <a16:creationId xmlns:a16="http://schemas.microsoft.com/office/drawing/2014/main" id="{7792E847-F5D9-4771-B613-B969BF96CB15}"/>
              </a:ext>
            </a:extLst>
          </p:cNvPr>
          <p:cNvSpPr txBox="1"/>
          <p:nvPr/>
        </p:nvSpPr>
        <p:spPr>
          <a:xfrm rot="282388">
            <a:off x="3092040" y="3392854"/>
            <a:ext cx="2420856" cy="338554"/>
          </a:xfrm>
          <a:prstGeom prst="rect">
            <a:avLst/>
          </a:prstGeom>
          <a:noFill/>
        </p:spPr>
        <p:txBody>
          <a:bodyPr wrap="none" rtlCol="0">
            <a:spAutoFit/>
          </a:bodyPr>
          <a:lstStyle/>
          <a:p>
            <a:r>
              <a:rPr lang="fr-FR" sz="1600" dirty="0"/>
              <a:t>LBBO &amp;R1.b1, R29, 0, 8</a:t>
            </a:r>
            <a:endParaRPr lang="en-US" sz="1600" dirty="0"/>
          </a:p>
        </p:txBody>
      </p:sp>
      <p:sp>
        <p:nvSpPr>
          <p:cNvPr id="16" name="TextBox 15">
            <a:extLst>
              <a:ext uri="{FF2B5EF4-FFF2-40B4-BE49-F238E27FC236}">
                <a16:creationId xmlns:a16="http://schemas.microsoft.com/office/drawing/2014/main" id="{A8C001E6-A7E5-44C6-98AE-0038168D4BA3}"/>
              </a:ext>
            </a:extLst>
          </p:cNvPr>
          <p:cNvSpPr txBox="1"/>
          <p:nvPr/>
        </p:nvSpPr>
        <p:spPr>
          <a:xfrm rot="272352">
            <a:off x="3091654" y="2597264"/>
            <a:ext cx="2614818" cy="338554"/>
          </a:xfrm>
          <a:prstGeom prst="rect">
            <a:avLst/>
          </a:prstGeom>
          <a:noFill/>
        </p:spPr>
        <p:txBody>
          <a:bodyPr wrap="none" rtlCol="0">
            <a:spAutoFit/>
          </a:bodyPr>
          <a:lstStyle/>
          <a:p>
            <a:r>
              <a:rPr lang="fr-FR" sz="1600" dirty="0"/>
              <a:t>SBBO &amp;R1.b1, R29, 0/</a:t>
            </a:r>
            <a:r>
              <a:rPr lang="fr-FR" sz="1600" dirty="0">
                <a:solidFill>
                  <a:srgbClr val="FF0000"/>
                </a:solidFill>
              </a:rPr>
              <a:t>5</a:t>
            </a:r>
            <a:r>
              <a:rPr lang="fr-FR" sz="1600" dirty="0"/>
              <a:t>, 8</a:t>
            </a:r>
            <a:endParaRPr lang="en-US" sz="1600" dirty="0"/>
          </a:p>
        </p:txBody>
      </p:sp>
      <p:sp>
        <p:nvSpPr>
          <p:cNvPr id="17" name="Right Arrow 16">
            <a:extLst>
              <a:ext uri="{FF2B5EF4-FFF2-40B4-BE49-F238E27FC236}">
                <a16:creationId xmlns:a16="http://schemas.microsoft.com/office/drawing/2014/main" id="{E0447197-EE5C-47A6-AC42-6A949A34C67E}"/>
              </a:ext>
            </a:extLst>
          </p:cNvPr>
          <p:cNvSpPr/>
          <p:nvPr/>
        </p:nvSpPr>
        <p:spPr>
          <a:xfrm rot="265766">
            <a:off x="2952670" y="2950389"/>
            <a:ext cx="2880783" cy="21469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8B487E4D-B451-4397-A3E3-7618FF2FFBA4}"/>
              </a:ext>
            </a:extLst>
          </p:cNvPr>
          <p:cNvSpPr/>
          <p:nvPr/>
        </p:nvSpPr>
        <p:spPr>
          <a:xfrm rot="11090413">
            <a:off x="2942472" y="3230946"/>
            <a:ext cx="2883804" cy="206693"/>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8C86C13-9BE7-4841-8AAD-EE2F856CDFF0}"/>
              </a:ext>
            </a:extLst>
          </p:cNvPr>
          <p:cNvSpPr txBox="1"/>
          <p:nvPr/>
        </p:nvSpPr>
        <p:spPr>
          <a:xfrm>
            <a:off x="68692" y="559673"/>
            <a:ext cx="7707559" cy="338554"/>
          </a:xfrm>
          <a:prstGeom prst="rect">
            <a:avLst/>
          </a:prstGeom>
          <a:noFill/>
        </p:spPr>
        <p:txBody>
          <a:bodyPr wrap="none" rtlCol="0">
            <a:spAutoFit/>
          </a:bodyPr>
          <a:lstStyle/>
          <a:p>
            <a:r>
              <a:rPr lang="en-US" sz="1600" dirty="0"/>
              <a:t>LBBO/SBBO is used to read/write a block of data from memory into the register file</a:t>
            </a:r>
          </a:p>
        </p:txBody>
      </p:sp>
      <p:sp>
        <p:nvSpPr>
          <p:cNvPr id="19" name="TextBox 18">
            <a:extLst>
              <a:ext uri="{FF2B5EF4-FFF2-40B4-BE49-F238E27FC236}">
                <a16:creationId xmlns:a16="http://schemas.microsoft.com/office/drawing/2014/main" id="{F1064FDB-057E-4B8B-91E8-7890CF30D882}"/>
              </a:ext>
            </a:extLst>
          </p:cNvPr>
          <p:cNvSpPr txBox="1"/>
          <p:nvPr/>
        </p:nvSpPr>
        <p:spPr>
          <a:xfrm>
            <a:off x="68692" y="1404674"/>
            <a:ext cx="1268296" cy="338554"/>
          </a:xfrm>
          <a:prstGeom prst="rect">
            <a:avLst/>
          </a:prstGeom>
          <a:noFill/>
        </p:spPr>
        <p:txBody>
          <a:bodyPr wrap="none" rtlCol="0">
            <a:spAutoFit/>
          </a:bodyPr>
          <a:lstStyle/>
          <a:p>
            <a:r>
              <a:rPr lang="de-DE" sz="1600" b="1" dirty="0"/>
              <a:t>Examples: </a:t>
            </a:r>
            <a:endParaRPr lang="en-US" sz="1600" b="1" dirty="0"/>
          </a:p>
        </p:txBody>
      </p:sp>
      <p:sp>
        <p:nvSpPr>
          <p:cNvPr id="20" name="TextBox 19">
            <a:extLst>
              <a:ext uri="{FF2B5EF4-FFF2-40B4-BE49-F238E27FC236}">
                <a16:creationId xmlns:a16="http://schemas.microsoft.com/office/drawing/2014/main" id="{27267D9F-5A22-42FB-B1C3-D6BADB0A303A}"/>
              </a:ext>
            </a:extLst>
          </p:cNvPr>
          <p:cNvSpPr txBox="1"/>
          <p:nvPr/>
        </p:nvSpPr>
        <p:spPr>
          <a:xfrm>
            <a:off x="1568945" y="1404674"/>
            <a:ext cx="6889255" cy="600164"/>
          </a:xfrm>
          <a:prstGeom prst="rect">
            <a:avLst/>
          </a:prstGeom>
          <a:noFill/>
        </p:spPr>
        <p:txBody>
          <a:bodyPr wrap="square" rtlCol="0">
            <a:spAutoFit/>
          </a:bodyPr>
          <a:lstStyle/>
          <a:p>
            <a:r>
              <a:rPr lang="en-US" sz="1400" dirty="0"/>
              <a:t>lbbo  &amp;r2, r1, 5, 8 </a:t>
            </a:r>
            <a:r>
              <a:rPr lang="en-US" sz="1400" dirty="0">
                <a:sym typeface="Wingdings" panose="05000000000000000000" pitchFamily="2" charset="2"/>
              </a:rPr>
              <a:t>          </a:t>
            </a:r>
            <a:r>
              <a:rPr lang="en-US" sz="1400" dirty="0"/>
              <a:t>// Copy 8 bytes into r2/r3 from the memory address r1+5</a:t>
            </a:r>
          </a:p>
          <a:p>
            <a:pPr>
              <a:spcBef>
                <a:spcPts val="600"/>
              </a:spcBef>
            </a:pPr>
            <a:r>
              <a:rPr lang="en-US" sz="1400" dirty="0"/>
              <a:t>sbbo &amp;r2, r1, </a:t>
            </a:r>
            <a:r>
              <a:rPr lang="en-US" sz="1400" dirty="0">
                <a:solidFill>
                  <a:schemeClr val="tx2"/>
                </a:solidFill>
              </a:rPr>
              <a:t>256</a:t>
            </a:r>
            <a:r>
              <a:rPr lang="en-US" sz="1400" dirty="0"/>
              <a:t>, </a:t>
            </a:r>
            <a:r>
              <a:rPr lang="en-US" sz="1400" dirty="0">
                <a:solidFill>
                  <a:schemeClr val="tx2"/>
                </a:solidFill>
              </a:rPr>
              <a:t>129</a:t>
            </a:r>
            <a:r>
              <a:rPr lang="en-US" sz="1400" dirty="0"/>
              <a:t>   // </a:t>
            </a:r>
            <a:r>
              <a:rPr lang="en-US" sz="1400" b="1" dirty="0">
                <a:solidFill>
                  <a:schemeClr val="tx2"/>
                </a:solidFill>
              </a:rPr>
              <a:t>Error: </a:t>
            </a:r>
            <a:r>
              <a:rPr lang="en-US" sz="1400" b="1" dirty="0"/>
              <a:t>Offset</a:t>
            </a:r>
            <a:r>
              <a:rPr lang="en-US" sz="1400" dirty="0"/>
              <a:t> must be </a:t>
            </a:r>
            <a:r>
              <a:rPr lang="en-US" sz="1400" b="1" dirty="0"/>
              <a:t>&lt;256</a:t>
            </a:r>
            <a:r>
              <a:rPr lang="en-US" sz="1400" dirty="0"/>
              <a:t>, </a:t>
            </a:r>
            <a:r>
              <a:rPr lang="en-US" sz="1400" b="1" dirty="0"/>
              <a:t>Length</a:t>
            </a:r>
            <a:r>
              <a:rPr lang="en-US" sz="1400" dirty="0"/>
              <a:t> must be </a:t>
            </a:r>
            <a:r>
              <a:rPr lang="en-US" sz="1400" b="1" dirty="0"/>
              <a:t>&lt;129</a:t>
            </a:r>
          </a:p>
        </p:txBody>
      </p:sp>
      <p:sp>
        <p:nvSpPr>
          <p:cNvPr id="22" name="TextBox 21">
            <a:extLst>
              <a:ext uri="{FF2B5EF4-FFF2-40B4-BE49-F238E27FC236}">
                <a16:creationId xmlns:a16="http://schemas.microsoft.com/office/drawing/2014/main" id="{1CB34421-6ADF-47A5-B6CE-7A75B96E7962}"/>
              </a:ext>
            </a:extLst>
          </p:cNvPr>
          <p:cNvSpPr txBox="1"/>
          <p:nvPr/>
        </p:nvSpPr>
        <p:spPr>
          <a:xfrm rot="5400000">
            <a:off x="878852" y="3734965"/>
            <a:ext cx="465192" cy="276999"/>
          </a:xfrm>
          <a:prstGeom prst="rect">
            <a:avLst/>
          </a:prstGeom>
          <a:noFill/>
        </p:spPr>
        <p:txBody>
          <a:bodyPr wrap="square" rtlCol="0">
            <a:spAutoFit/>
          </a:bodyPr>
          <a:lstStyle/>
          <a:p>
            <a:pPr>
              <a:spcBef>
                <a:spcPts val="700"/>
              </a:spcBef>
            </a:pPr>
            <a:r>
              <a:rPr lang="fr-FR" sz="1200" b="1" dirty="0"/>
              <a:t>…..</a:t>
            </a:r>
            <a:endParaRPr lang="en-US" sz="1200" b="1" dirty="0"/>
          </a:p>
        </p:txBody>
      </p:sp>
      <p:sp>
        <p:nvSpPr>
          <p:cNvPr id="23" name="TextBox 22">
            <a:extLst>
              <a:ext uri="{FF2B5EF4-FFF2-40B4-BE49-F238E27FC236}">
                <a16:creationId xmlns:a16="http://schemas.microsoft.com/office/drawing/2014/main" id="{8DF6BBD9-979D-417A-9AB2-D844B2208862}"/>
              </a:ext>
            </a:extLst>
          </p:cNvPr>
          <p:cNvSpPr txBox="1"/>
          <p:nvPr/>
        </p:nvSpPr>
        <p:spPr>
          <a:xfrm>
            <a:off x="68692" y="975118"/>
            <a:ext cx="1007007" cy="338554"/>
          </a:xfrm>
          <a:prstGeom prst="rect">
            <a:avLst/>
          </a:prstGeom>
          <a:noFill/>
        </p:spPr>
        <p:txBody>
          <a:bodyPr wrap="none" rtlCol="0">
            <a:spAutoFit/>
          </a:bodyPr>
          <a:lstStyle/>
          <a:p>
            <a:r>
              <a:rPr lang="de-DE" sz="1600" b="1" dirty="0"/>
              <a:t>Format: </a:t>
            </a:r>
            <a:endParaRPr lang="en-US" sz="1600" b="1" dirty="0"/>
          </a:p>
        </p:txBody>
      </p:sp>
      <p:sp>
        <p:nvSpPr>
          <p:cNvPr id="24" name="TextBox 23">
            <a:extLst>
              <a:ext uri="{FF2B5EF4-FFF2-40B4-BE49-F238E27FC236}">
                <a16:creationId xmlns:a16="http://schemas.microsoft.com/office/drawing/2014/main" id="{32D42EF4-5106-462A-847B-2BC73D4D3CC3}"/>
              </a:ext>
            </a:extLst>
          </p:cNvPr>
          <p:cNvSpPr txBox="1"/>
          <p:nvPr/>
        </p:nvSpPr>
        <p:spPr>
          <a:xfrm>
            <a:off x="1568944" y="987958"/>
            <a:ext cx="6889255" cy="307777"/>
          </a:xfrm>
          <a:prstGeom prst="rect">
            <a:avLst/>
          </a:prstGeom>
          <a:noFill/>
        </p:spPr>
        <p:txBody>
          <a:bodyPr wrap="square" rtlCol="0">
            <a:spAutoFit/>
          </a:bodyPr>
          <a:lstStyle/>
          <a:p>
            <a:r>
              <a:rPr lang="de-DE" sz="1400" dirty="0"/>
              <a:t>LBBO/SBBO Source (&amp;Reg1), Destination (Reg2), Offset, Length</a:t>
            </a:r>
            <a:endParaRPr lang="en-US" sz="1400" dirty="0"/>
          </a:p>
        </p:txBody>
      </p:sp>
    </p:spTree>
    <p:extLst>
      <p:ext uri="{BB962C8B-B14F-4D97-AF65-F5344CB8AC3E}">
        <p14:creationId xmlns:p14="http://schemas.microsoft.com/office/powerpoint/2010/main" val="227737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66765"/>
            <a:ext cx="9144000" cy="593809"/>
          </a:xfrm>
        </p:spPr>
        <p:txBody>
          <a:bodyPr/>
          <a:lstStyle/>
          <a:p>
            <a:r>
              <a:rPr lang="en-US" sz="2800" dirty="0"/>
              <a:t>SBCO/</a:t>
            </a:r>
            <a:r>
              <a:rPr lang="de-DE" sz="2800" dirty="0"/>
              <a:t>LBCO – Store/</a:t>
            </a:r>
            <a:r>
              <a:rPr lang="en-US" sz="2800" dirty="0"/>
              <a:t>Load Byte Burst with Constant Table Offset</a:t>
            </a:r>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73483" y="838899"/>
            <a:ext cx="8118273" cy="3584560"/>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buNone/>
            </a:pPr>
            <a:r>
              <a:rPr lang="fr-FR" sz="1600" b="1" kern="0" dirty="0"/>
              <a:t>Example:</a:t>
            </a:r>
          </a:p>
          <a:p>
            <a:pPr marL="0" indent="0">
              <a:lnSpc>
                <a:spcPct val="120000"/>
              </a:lnSpc>
              <a:spcBef>
                <a:spcPts val="0"/>
              </a:spcBef>
              <a:buNone/>
            </a:pPr>
            <a:r>
              <a:rPr lang="fr-FR" sz="1600" b="1" kern="0" dirty="0"/>
              <a:t>	</a:t>
            </a:r>
            <a:r>
              <a:rPr lang="en-US" sz="1600" dirty="0"/>
              <a:t>lbco &amp;r2, c1, 5, 8  		// Copy 8 bytes into r2/r3 from the </a:t>
            </a:r>
          </a:p>
          <a:p>
            <a:pPr marL="0" indent="0">
              <a:lnSpc>
                <a:spcPct val="120000"/>
              </a:lnSpc>
              <a:spcBef>
                <a:spcPts val="0"/>
              </a:spcBef>
              <a:buNone/>
            </a:pPr>
            <a:r>
              <a:rPr lang="en-US" sz="1600" dirty="0"/>
              <a:t>		               		// memory address c1+5 </a:t>
            </a:r>
          </a:p>
          <a:p>
            <a:pPr marL="0" indent="0">
              <a:lnSpc>
                <a:spcPct val="120000"/>
              </a:lnSpc>
              <a:spcBef>
                <a:spcPts val="0"/>
              </a:spcBef>
              <a:buNone/>
            </a:pPr>
            <a:r>
              <a:rPr lang="en-US" sz="1600" dirty="0"/>
              <a:t>	lbco &amp;r3, c1, r2.w0, b0            // Copy "r0.b0" bytes into r3 from the </a:t>
            </a:r>
          </a:p>
          <a:p>
            <a:pPr marL="0" indent="0">
              <a:lnSpc>
                <a:spcPct val="120000"/>
              </a:lnSpc>
              <a:spcBef>
                <a:spcPts val="0"/>
              </a:spcBef>
              <a:buNone/>
            </a:pPr>
            <a:r>
              <a:rPr lang="en-US" sz="1600" dirty="0"/>
              <a:t>		          	               // memory address c1+r2.w0</a:t>
            </a:r>
          </a:p>
          <a:p>
            <a:pPr marL="0" indent="0">
              <a:lnSpc>
                <a:spcPct val="120000"/>
              </a:lnSpc>
              <a:spcBef>
                <a:spcPts val="0"/>
              </a:spcBef>
              <a:buNone/>
            </a:pPr>
            <a:endParaRPr lang="de-DE" sz="1600" kern="0" dirty="0"/>
          </a:p>
          <a:p>
            <a:pPr marL="0" indent="0">
              <a:lnSpc>
                <a:spcPct val="120000"/>
              </a:lnSpc>
              <a:spcBef>
                <a:spcPts val="0"/>
              </a:spcBef>
              <a:buNone/>
            </a:pPr>
            <a:r>
              <a:rPr lang="en-US" sz="1600" dirty="0"/>
              <a:t>	sbco &amp;r2, c1, 5, 8 	               // Copy 8 bytes from r2/r3 to the </a:t>
            </a:r>
          </a:p>
          <a:p>
            <a:pPr marL="0" indent="0">
              <a:lnSpc>
                <a:spcPct val="120000"/>
              </a:lnSpc>
              <a:spcBef>
                <a:spcPts val="0"/>
              </a:spcBef>
              <a:buNone/>
            </a:pPr>
            <a:r>
              <a:rPr lang="en-US" sz="1600" dirty="0"/>
              <a:t>			               // memory address c1+5</a:t>
            </a:r>
          </a:p>
          <a:p>
            <a:pPr marL="0" indent="0">
              <a:lnSpc>
                <a:spcPct val="120000"/>
              </a:lnSpc>
              <a:spcBef>
                <a:spcPts val="0"/>
              </a:spcBef>
              <a:buNone/>
            </a:pPr>
            <a:r>
              <a:rPr lang="en-US" sz="1600" dirty="0"/>
              <a:t>	sbco &amp;r3, c1, r2.w0, b0          // Copy "r0.b0" bytes from r3 to the </a:t>
            </a:r>
          </a:p>
          <a:p>
            <a:pPr marL="0" indent="0">
              <a:lnSpc>
                <a:spcPct val="120000"/>
              </a:lnSpc>
              <a:spcBef>
                <a:spcPts val="0"/>
              </a:spcBef>
              <a:buNone/>
            </a:pPr>
            <a:r>
              <a:rPr lang="en-US" sz="1600" dirty="0"/>
              <a:t>			              // memory address c1+r2.w0</a:t>
            </a:r>
            <a:endParaRPr lang="fr-FR" sz="1600" kern="0" dirty="0"/>
          </a:p>
        </p:txBody>
      </p:sp>
      <p:sp>
        <p:nvSpPr>
          <p:cNvPr id="4" name="TextBox 3">
            <a:extLst>
              <a:ext uri="{FF2B5EF4-FFF2-40B4-BE49-F238E27FC236}">
                <a16:creationId xmlns:a16="http://schemas.microsoft.com/office/drawing/2014/main" id="{2F4AA96D-AD39-4355-9990-8A43DB848971}"/>
              </a:ext>
            </a:extLst>
          </p:cNvPr>
          <p:cNvSpPr txBox="1"/>
          <p:nvPr/>
        </p:nvSpPr>
        <p:spPr>
          <a:xfrm>
            <a:off x="117826" y="4299061"/>
            <a:ext cx="3512500" cy="307777"/>
          </a:xfrm>
          <a:prstGeom prst="rect">
            <a:avLst/>
          </a:prstGeom>
          <a:noFill/>
        </p:spPr>
        <p:txBody>
          <a:bodyPr wrap="none" rtlCol="0">
            <a:spAutoFit/>
          </a:bodyPr>
          <a:lstStyle/>
          <a:p>
            <a:r>
              <a:rPr lang="de-DE" sz="1400" b="1" dirty="0"/>
              <a:t>Note: </a:t>
            </a:r>
            <a:r>
              <a:rPr lang="de-DE" sz="1400" dirty="0"/>
              <a:t>Same limitations as in LBBO/SBBO</a:t>
            </a:r>
            <a:endParaRPr lang="en-US" sz="1400" dirty="0"/>
          </a:p>
        </p:txBody>
      </p:sp>
    </p:spTree>
    <p:extLst>
      <p:ext uri="{BB962C8B-B14F-4D97-AF65-F5344CB8AC3E}">
        <p14:creationId xmlns:p14="http://schemas.microsoft.com/office/powerpoint/2010/main" val="4128973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8678-A393-4CA1-877D-D6B41CAA4A60}"/>
              </a:ext>
            </a:extLst>
          </p:cNvPr>
          <p:cNvSpPr>
            <a:spLocks noGrp="1"/>
          </p:cNvSpPr>
          <p:nvPr>
            <p:ph type="ctrTitle"/>
          </p:nvPr>
        </p:nvSpPr>
        <p:spPr>
          <a:xfrm>
            <a:off x="0" y="109453"/>
            <a:ext cx="8458200" cy="593809"/>
          </a:xfrm>
        </p:spPr>
        <p:txBody>
          <a:bodyPr/>
          <a:lstStyle/>
          <a:p>
            <a:r>
              <a:rPr lang="de-DE" sz="2800" dirty="0"/>
              <a:t>ZERO</a:t>
            </a:r>
            <a:endParaRPr lang="en-US" sz="2800" dirty="0"/>
          </a:p>
        </p:txBody>
      </p:sp>
      <p:sp>
        <p:nvSpPr>
          <p:cNvPr id="10" name="Rectangle 3">
            <a:extLst>
              <a:ext uri="{FF2B5EF4-FFF2-40B4-BE49-F238E27FC236}">
                <a16:creationId xmlns:a16="http://schemas.microsoft.com/office/drawing/2014/main" id="{A687870A-583B-4703-BC61-D4101F3E6651}"/>
              </a:ext>
            </a:extLst>
          </p:cNvPr>
          <p:cNvSpPr txBox="1">
            <a:spLocks noChangeArrowheads="1"/>
          </p:cNvSpPr>
          <p:nvPr/>
        </p:nvSpPr>
        <p:spPr bwMode="auto">
          <a:xfrm>
            <a:off x="339927" y="703262"/>
            <a:ext cx="8594348" cy="3736975"/>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normAutofit/>
          </a:bodyPr>
          <a:lstStyle>
            <a:lvl1pPr marL="189124" indent="-189124" algn="l" rtl="0" eaLnBrk="1" fontAlgn="base" hangingPunct="1">
              <a:spcBef>
                <a:spcPts val="667"/>
              </a:spcBef>
              <a:spcAft>
                <a:spcPct val="0"/>
              </a:spcAft>
              <a:buChar char="•"/>
              <a:defRPr sz="1800">
                <a:solidFill>
                  <a:schemeClr val="tx1"/>
                </a:solidFill>
                <a:latin typeface="+mn-lt"/>
                <a:ea typeface="+mn-ea"/>
                <a:cs typeface="+mn-cs"/>
              </a:defRPr>
            </a:lvl1pPr>
            <a:lvl2pPr marL="478763" indent="-194416" algn="l" rtl="0" eaLnBrk="1" fontAlgn="base" hangingPunct="1">
              <a:spcBef>
                <a:spcPct val="20000"/>
              </a:spcBef>
              <a:spcAft>
                <a:spcPct val="0"/>
              </a:spcAft>
              <a:buChar char="–"/>
              <a:defRPr sz="1600">
                <a:solidFill>
                  <a:schemeClr val="tx1"/>
                </a:solidFill>
                <a:latin typeface="+mn-lt"/>
              </a:defRPr>
            </a:lvl2pPr>
            <a:lvl3pPr marL="711530" indent="-137548" algn="l" rtl="0" eaLnBrk="1" fontAlgn="base" hangingPunct="1">
              <a:spcBef>
                <a:spcPct val="15000"/>
              </a:spcBef>
              <a:spcAft>
                <a:spcPct val="0"/>
              </a:spcAft>
              <a:buChar char="•"/>
              <a:defRPr sz="1600">
                <a:solidFill>
                  <a:schemeClr val="tx1"/>
                </a:solidFill>
                <a:latin typeface="+mn-lt"/>
              </a:defRPr>
            </a:lvl3pPr>
            <a:lvl4pPr marL="1001168" indent="-194416" algn="l" rtl="0" eaLnBrk="1" fontAlgn="base" hangingPunct="1">
              <a:spcBef>
                <a:spcPct val="5000"/>
              </a:spcBef>
              <a:spcAft>
                <a:spcPct val="0"/>
              </a:spcAft>
              <a:buChar char="–"/>
              <a:defRPr sz="1600">
                <a:solidFill>
                  <a:schemeClr val="tx1"/>
                </a:solidFill>
                <a:latin typeface="+mn-lt"/>
              </a:defRPr>
            </a:lvl4pPr>
            <a:lvl5pPr marL="1240546" indent="-144163" algn="l" rtl="0" eaLnBrk="1" fontAlgn="base" hangingPunct="1">
              <a:spcBef>
                <a:spcPct val="0"/>
              </a:spcBef>
              <a:spcAft>
                <a:spcPct val="0"/>
              </a:spcAft>
              <a:buChar char="»"/>
              <a:defRPr sz="1600">
                <a:solidFill>
                  <a:schemeClr val="tx1"/>
                </a:solidFill>
                <a:latin typeface="+mn-lt"/>
              </a:defRPr>
            </a:lvl5pPr>
            <a:lvl6pPr marL="1621441" indent="-144163" algn="l" rtl="0" eaLnBrk="1" fontAlgn="base" hangingPunct="1">
              <a:spcBef>
                <a:spcPct val="0"/>
              </a:spcBef>
              <a:spcAft>
                <a:spcPct val="0"/>
              </a:spcAft>
              <a:buChar char="»"/>
              <a:defRPr sz="1300">
                <a:solidFill>
                  <a:schemeClr val="tx1"/>
                </a:solidFill>
                <a:latin typeface="+mn-lt"/>
              </a:defRPr>
            </a:lvl6pPr>
            <a:lvl7pPr marL="2002336" indent="-144163" algn="l" rtl="0" eaLnBrk="1" fontAlgn="base" hangingPunct="1">
              <a:spcBef>
                <a:spcPct val="0"/>
              </a:spcBef>
              <a:spcAft>
                <a:spcPct val="0"/>
              </a:spcAft>
              <a:buChar char="»"/>
              <a:defRPr sz="1300">
                <a:solidFill>
                  <a:schemeClr val="tx1"/>
                </a:solidFill>
                <a:latin typeface="+mn-lt"/>
              </a:defRPr>
            </a:lvl7pPr>
            <a:lvl8pPr marL="2383230" indent="-144163" algn="l" rtl="0" eaLnBrk="1" fontAlgn="base" hangingPunct="1">
              <a:spcBef>
                <a:spcPct val="0"/>
              </a:spcBef>
              <a:spcAft>
                <a:spcPct val="0"/>
              </a:spcAft>
              <a:buChar char="»"/>
              <a:defRPr sz="1300">
                <a:solidFill>
                  <a:schemeClr val="tx1"/>
                </a:solidFill>
                <a:latin typeface="+mn-lt"/>
              </a:defRPr>
            </a:lvl8pPr>
            <a:lvl9pPr marL="2764124" indent="-144163" algn="l" rtl="0" eaLnBrk="1" fontAlgn="base" hangingPunct="1">
              <a:spcBef>
                <a:spcPct val="0"/>
              </a:spcBef>
              <a:spcAft>
                <a:spcPct val="0"/>
              </a:spcAft>
              <a:buChar char="»"/>
              <a:defRPr sz="1300">
                <a:solidFill>
                  <a:schemeClr val="tx1"/>
                </a:solidFill>
                <a:latin typeface="+mn-lt"/>
              </a:defRPr>
            </a:lvl9pPr>
          </a:lstStyle>
          <a:p>
            <a:pPr marL="0" indent="0">
              <a:lnSpc>
                <a:spcPct val="120000"/>
              </a:lnSpc>
              <a:spcBef>
                <a:spcPts val="0"/>
              </a:spcBef>
              <a:buNone/>
            </a:pPr>
            <a:r>
              <a:rPr lang="fr-FR" sz="1600" b="1" kern="0" dirty="0"/>
              <a:t>Format: </a:t>
            </a:r>
          </a:p>
          <a:p>
            <a:pPr marL="0" indent="0">
              <a:lnSpc>
                <a:spcPct val="120000"/>
              </a:lnSpc>
              <a:spcBef>
                <a:spcPts val="0"/>
              </a:spcBef>
              <a:buNone/>
            </a:pPr>
            <a:r>
              <a:rPr lang="de-DE" sz="1600" dirty="0"/>
              <a:t>	ZERO &amp;REG1, IM(128) </a:t>
            </a:r>
          </a:p>
          <a:p>
            <a:pPr marL="0" indent="0">
              <a:lnSpc>
                <a:spcPct val="120000"/>
              </a:lnSpc>
              <a:spcBef>
                <a:spcPts val="0"/>
              </a:spcBef>
              <a:buNone/>
            </a:pPr>
            <a:r>
              <a:rPr lang="de-DE" sz="1600" dirty="0"/>
              <a:t>	ZERO </a:t>
            </a:r>
            <a:r>
              <a:rPr lang="de-DE" sz="1600" dirty="0">
                <a:solidFill>
                  <a:schemeClr val="tx2"/>
                </a:solidFill>
              </a:rPr>
              <a:t>IM(123), </a:t>
            </a:r>
            <a:r>
              <a:rPr lang="de-DE" sz="1600" dirty="0"/>
              <a:t>IM(128)   // Invalid Instruction!</a:t>
            </a:r>
            <a:endParaRPr lang="en-US" sz="1600" b="1" kern="0" dirty="0"/>
          </a:p>
          <a:p>
            <a:pPr marL="0" indent="0">
              <a:lnSpc>
                <a:spcPct val="120000"/>
              </a:lnSpc>
              <a:buNone/>
            </a:pPr>
            <a:r>
              <a:rPr lang="fr-FR" sz="1600" b="1" kern="0" dirty="0"/>
              <a:t>Example:</a:t>
            </a:r>
          </a:p>
          <a:p>
            <a:pPr marL="0" indent="0">
              <a:lnSpc>
                <a:spcPct val="120000"/>
              </a:lnSpc>
              <a:spcBef>
                <a:spcPts val="0"/>
              </a:spcBef>
              <a:buNone/>
            </a:pPr>
            <a:r>
              <a:rPr lang="fr-FR" sz="1600" b="1" kern="0" dirty="0"/>
              <a:t>	</a:t>
            </a:r>
            <a:r>
              <a:rPr lang="pt-BR" sz="1600" dirty="0"/>
              <a:t>zero &amp;r0, 8 (bytes)           // Set R0 and R1 to zero</a:t>
            </a:r>
          </a:p>
          <a:p>
            <a:pPr marL="0" indent="0">
              <a:lnSpc>
                <a:spcPct val="120000"/>
              </a:lnSpc>
              <a:spcBef>
                <a:spcPts val="0"/>
              </a:spcBef>
              <a:buNone/>
            </a:pPr>
            <a:r>
              <a:rPr lang="pt-BR" sz="1600" dirty="0"/>
              <a:t>	zero </a:t>
            </a:r>
            <a:r>
              <a:rPr lang="pt-BR" sz="1600" dirty="0">
                <a:solidFill>
                  <a:schemeClr val="tx2"/>
                </a:solidFill>
              </a:rPr>
              <a:t>0</a:t>
            </a:r>
            <a:r>
              <a:rPr lang="pt-BR" sz="1600" dirty="0"/>
              <a:t>, 8 	             	        // Invalid Instruction</a:t>
            </a:r>
          </a:p>
          <a:p>
            <a:pPr marL="0" indent="0">
              <a:lnSpc>
                <a:spcPct val="120000"/>
              </a:lnSpc>
              <a:spcBef>
                <a:spcPts val="0"/>
              </a:spcBef>
              <a:buNone/>
            </a:pPr>
            <a:r>
              <a:rPr lang="pt-BR" sz="1600" dirty="0"/>
              <a:t>	</a:t>
            </a:r>
            <a:endParaRPr lang="fr-FR" sz="1600" kern="0" dirty="0"/>
          </a:p>
        </p:txBody>
      </p:sp>
      <p:sp>
        <p:nvSpPr>
          <p:cNvPr id="5" name="TextBox 4">
            <a:extLst>
              <a:ext uri="{FF2B5EF4-FFF2-40B4-BE49-F238E27FC236}">
                <a16:creationId xmlns:a16="http://schemas.microsoft.com/office/drawing/2014/main" id="{CD85F94C-8153-461B-ABC8-D6B5301A3397}"/>
              </a:ext>
            </a:extLst>
          </p:cNvPr>
          <p:cNvSpPr txBox="1"/>
          <p:nvPr/>
        </p:nvSpPr>
        <p:spPr>
          <a:xfrm>
            <a:off x="396435" y="2639561"/>
            <a:ext cx="752129" cy="307777"/>
          </a:xfrm>
          <a:prstGeom prst="rect">
            <a:avLst/>
          </a:prstGeom>
          <a:noFill/>
        </p:spPr>
        <p:txBody>
          <a:bodyPr wrap="none" rtlCol="0">
            <a:spAutoFit/>
          </a:bodyPr>
          <a:lstStyle/>
          <a:p>
            <a:r>
              <a:rPr lang="de-DE" sz="1400" b="1" dirty="0"/>
              <a:t>Before</a:t>
            </a:r>
            <a:endParaRPr lang="en-US" sz="1400" b="1" dirty="0"/>
          </a:p>
        </p:txBody>
      </p:sp>
      <p:sp>
        <p:nvSpPr>
          <p:cNvPr id="7" name="TextBox 6">
            <a:extLst>
              <a:ext uri="{FF2B5EF4-FFF2-40B4-BE49-F238E27FC236}">
                <a16:creationId xmlns:a16="http://schemas.microsoft.com/office/drawing/2014/main" id="{E10C0EA9-888B-4B22-8588-BD063A172008}"/>
              </a:ext>
            </a:extLst>
          </p:cNvPr>
          <p:cNvSpPr txBox="1"/>
          <p:nvPr/>
        </p:nvSpPr>
        <p:spPr>
          <a:xfrm>
            <a:off x="4556463" y="2642970"/>
            <a:ext cx="603050" cy="307777"/>
          </a:xfrm>
          <a:prstGeom prst="rect">
            <a:avLst/>
          </a:prstGeom>
          <a:noFill/>
        </p:spPr>
        <p:txBody>
          <a:bodyPr wrap="none" rtlCol="0">
            <a:spAutoFit/>
          </a:bodyPr>
          <a:lstStyle/>
          <a:p>
            <a:r>
              <a:rPr lang="de-DE" sz="1400" b="1" dirty="0"/>
              <a:t>After</a:t>
            </a:r>
            <a:endParaRPr lang="en-US" sz="1400" b="1" dirty="0"/>
          </a:p>
        </p:txBody>
      </p:sp>
      <p:sp>
        <p:nvSpPr>
          <p:cNvPr id="8" name="TextBox 7">
            <a:extLst>
              <a:ext uri="{FF2B5EF4-FFF2-40B4-BE49-F238E27FC236}">
                <a16:creationId xmlns:a16="http://schemas.microsoft.com/office/drawing/2014/main" id="{6C99DA03-A63B-4ED2-B23F-E676A179A404}"/>
              </a:ext>
            </a:extLst>
          </p:cNvPr>
          <p:cNvSpPr txBox="1"/>
          <p:nvPr/>
        </p:nvSpPr>
        <p:spPr>
          <a:xfrm>
            <a:off x="113387" y="4363366"/>
            <a:ext cx="3749744" cy="307777"/>
          </a:xfrm>
          <a:prstGeom prst="rect">
            <a:avLst/>
          </a:prstGeom>
          <a:noFill/>
        </p:spPr>
        <p:txBody>
          <a:bodyPr wrap="none" rtlCol="0">
            <a:spAutoFit/>
          </a:bodyPr>
          <a:lstStyle/>
          <a:p>
            <a:r>
              <a:rPr lang="de-DE" sz="1400" b="1" dirty="0"/>
              <a:t>Note: </a:t>
            </a:r>
            <a:r>
              <a:rPr lang="de-DE" sz="1400" dirty="0"/>
              <a:t>Error if value is &gt;128 for second value</a:t>
            </a:r>
            <a:endParaRPr lang="en-US" sz="1400" dirty="0"/>
          </a:p>
        </p:txBody>
      </p:sp>
      <p:pic>
        <p:nvPicPr>
          <p:cNvPr id="6" name="Picture 5">
            <a:extLst>
              <a:ext uri="{FF2B5EF4-FFF2-40B4-BE49-F238E27FC236}">
                <a16:creationId xmlns:a16="http://schemas.microsoft.com/office/drawing/2014/main" id="{51097BD4-9CD8-410C-BE78-74475CD3686C}"/>
              </a:ext>
            </a:extLst>
          </p:cNvPr>
          <p:cNvPicPr>
            <a:picLocks noChangeAspect="1"/>
          </p:cNvPicPr>
          <p:nvPr/>
        </p:nvPicPr>
        <p:blipFill>
          <a:blip r:embed="rId2"/>
          <a:stretch>
            <a:fillRect/>
          </a:stretch>
        </p:blipFill>
        <p:spPr>
          <a:xfrm>
            <a:off x="485213" y="2885564"/>
            <a:ext cx="3960000" cy="1308670"/>
          </a:xfrm>
          <a:prstGeom prst="rect">
            <a:avLst/>
          </a:prstGeom>
        </p:spPr>
      </p:pic>
      <p:pic>
        <p:nvPicPr>
          <p:cNvPr id="9" name="Picture 8">
            <a:extLst>
              <a:ext uri="{FF2B5EF4-FFF2-40B4-BE49-F238E27FC236}">
                <a16:creationId xmlns:a16="http://schemas.microsoft.com/office/drawing/2014/main" id="{76B938A8-C076-4EB4-9F1D-20EA0CD8D96F}"/>
              </a:ext>
            </a:extLst>
          </p:cNvPr>
          <p:cNvPicPr>
            <a:picLocks noChangeAspect="1"/>
          </p:cNvPicPr>
          <p:nvPr/>
        </p:nvPicPr>
        <p:blipFill>
          <a:blip r:embed="rId3"/>
          <a:stretch>
            <a:fillRect/>
          </a:stretch>
        </p:blipFill>
        <p:spPr>
          <a:xfrm>
            <a:off x="4634887" y="2889546"/>
            <a:ext cx="3960000" cy="1300705"/>
          </a:xfrm>
          <a:prstGeom prst="rect">
            <a:avLst/>
          </a:prstGeom>
        </p:spPr>
      </p:pic>
    </p:spTree>
    <p:extLst>
      <p:ext uri="{BB962C8B-B14F-4D97-AF65-F5344CB8AC3E}">
        <p14:creationId xmlns:p14="http://schemas.microsoft.com/office/powerpoint/2010/main" val="1589194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JMP = Unconditional Jump</a:t>
            </a:r>
            <a:endParaRPr lang="en-US" sz="2800" dirty="0"/>
          </a:p>
        </p:txBody>
      </p:sp>
      <p:sp>
        <p:nvSpPr>
          <p:cNvPr id="12" name="Rectangle 11">
            <a:extLst>
              <a:ext uri="{FF2B5EF4-FFF2-40B4-BE49-F238E27FC236}">
                <a16:creationId xmlns:a16="http://schemas.microsoft.com/office/drawing/2014/main" id="{7DF4C01F-E6B6-4116-8D42-E40B4373CEB8}"/>
              </a:ext>
            </a:extLst>
          </p:cNvPr>
          <p:cNvSpPr/>
          <p:nvPr/>
        </p:nvSpPr>
        <p:spPr>
          <a:xfrm>
            <a:off x="213918" y="801402"/>
            <a:ext cx="8560965" cy="3770263"/>
          </a:xfrm>
          <a:prstGeom prst="rect">
            <a:avLst/>
          </a:prstGeom>
        </p:spPr>
        <p:txBody>
          <a:bodyPr wrap="square">
            <a:spAutoFit/>
          </a:bodyPr>
          <a:lstStyle/>
          <a:p>
            <a:r>
              <a:rPr lang="en-US" sz="1600" dirty="0"/>
              <a:t>Unconditional jump to a 16-bit instruction address, specified by register or immediate value. Also works with label, jmp loop1, main etc.</a:t>
            </a:r>
          </a:p>
          <a:p>
            <a:endParaRPr lang="en-US" sz="1600" dirty="0"/>
          </a:p>
          <a:p>
            <a:r>
              <a:rPr lang="de-DE" sz="1600" b="1" dirty="0"/>
              <a:t>D</a:t>
            </a:r>
            <a:r>
              <a:rPr lang="en-US" sz="1600" b="1" dirty="0"/>
              <a:t>efinition: </a:t>
            </a:r>
          </a:p>
          <a:p>
            <a:r>
              <a:rPr lang="en-US" sz="1600" dirty="0"/>
              <a:t>	JMP OP(65535) </a:t>
            </a:r>
          </a:p>
          <a:p>
            <a:endParaRPr lang="de-DE" sz="1600" dirty="0"/>
          </a:p>
          <a:p>
            <a:r>
              <a:rPr lang="de-DE" sz="1600" b="1" dirty="0"/>
              <a:t>O</a:t>
            </a:r>
            <a:r>
              <a:rPr lang="en-US" sz="1600" b="1" dirty="0"/>
              <a:t>peration</a:t>
            </a:r>
            <a:r>
              <a:rPr lang="en-US" sz="1600" dirty="0"/>
              <a:t>:</a:t>
            </a:r>
          </a:p>
          <a:p>
            <a:r>
              <a:rPr lang="de-DE" sz="1600" dirty="0"/>
              <a:t>	</a:t>
            </a:r>
            <a:r>
              <a:rPr lang="en-US" sz="1600" dirty="0"/>
              <a:t>PRU Instruction Pointer = OP(65535)</a:t>
            </a:r>
          </a:p>
          <a:p>
            <a:endParaRPr lang="de-DE" sz="1600" dirty="0"/>
          </a:p>
          <a:p>
            <a:r>
              <a:rPr lang="de-DE" sz="1600" b="1" dirty="0"/>
              <a:t>E</a:t>
            </a:r>
            <a:r>
              <a:rPr lang="en-US" sz="1600" b="1" dirty="0"/>
              <a:t>xample:</a:t>
            </a:r>
          </a:p>
          <a:p>
            <a:r>
              <a:rPr lang="de-DE" sz="1600" b="1" dirty="0"/>
              <a:t>	</a:t>
            </a:r>
            <a:r>
              <a:rPr lang="en-US" sz="1600" dirty="0"/>
              <a:t>jmp r2.w0 		// Jump to instruction number r2.w0</a:t>
            </a:r>
          </a:p>
          <a:p>
            <a:pPr>
              <a:spcBef>
                <a:spcPts val="600"/>
              </a:spcBef>
            </a:pPr>
            <a:r>
              <a:rPr lang="de-DE" sz="1600" b="1" dirty="0"/>
              <a:t>	</a:t>
            </a:r>
            <a:r>
              <a:rPr lang="de-DE" sz="1600" dirty="0"/>
              <a:t>r2.w0 = 1  </a:t>
            </a:r>
            <a:r>
              <a:rPr lang="de-DE" sz="1600" dirty="0">
                <a:sym typeface="Wingdings" panose="05000000000000000000" pitchFamily="2" charset="2"/>
              </a:rPr>
              <a:t>  Program Counter PC = 4 x 1 = 4  </a:t>
            </a:r>
          </a:p>
          <a:p>
            <a:pPr>
              <a:spcBef>
                <a:spcPts val="600"/>
              </a:spcBef>
            </a:pPr>
            <a:r>
              <a:rPr lang="de-DE" sz="1600" dirty="0">
                <a:sym typeface="Wingdings" panose="05000000000000000000" pitchFamily="2" charset="2"/>
              </a:rPr>
              <a:t>	r2.w0 = 4    Program Counter PC = 4 x 4 = 16</a:t>
            </a:r>
            <a:endParaRPr lang="de-DE" sz="1600" dirty="0"/>
          </a:p>
          <a:p>
            <a:pPr>
              <a:spcBef>
                <a:spcPts val="600"/>
              </a:spcBef>
            </a:pPr>
            <a:r>
              <a:rPr lang="de-DE" sz="1600" dirty="0"/>
              <a:t>	</a:t>
            </a:r>
            <a:endParaRPr lang="en-US" sz="1600" dirty="0"/>
          </a:p>
        </p:txBody>
      </p:sp>
      <p:sp>
        <p:nvSpPr>
          <p:cNvPr id="4" name="Right Brace 3">
            <a:extLst>
              <a:ext uri="{FF2B5EF4-FFF2-40B4-BE49-F238E27FC236}">
                <a16:creationId xmlns:a16="http://schemas.microsoft.com/office/drawing/2014/main" id="{65AB6626-406B-4214-BFAF-9ABC15F0303F}"/>
              </a:ext>
            </a:extLst>
          </p:cNvPr>
          <p:cNvSpPr/>
          <p:nvPr/>
        </p:nvSpPr>
        <p:spPr>
          <a:xfrm>
            <a:off x="5699464" y="3639845"/>
            <a:ext cx="102093" cy="537099"/>
          </a:xfrm>
          <a:prstGeom prst="righ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3EDB6331-F68F-497D-AC7B-7C366403FB18}"/>
              </a:ext>
            </a:extLst>
          </p:cNvPr>
          <p:cNvSpPr txBox="1"/>
          <p:nvPr/>
        </p:nvSpPr>
        <p:spPr>
          <a:xfrm>
            <a:off x="5801557" y="3739117"/>
            <a:ext cx="2489784" cy="338554"/>
          </a:xfrm>
          <a:prstGeom prst="rect">
            <a:avLst/>
          </a:prstGeom>
          <a:noFill/>
        </p:spPr>
        <p:txBody>
          <a:bodyPr wrap="none" rtlCol="0">
            <a:spAutoFit/>
          </a:bodyPr>
          <a:lstStyle/>
          <a:p>
            <a:r>
              <a:rPr lang="de-DE" sz="1600" dirty="0"/>
              <a:t>One instruction is 4 bytes</a:t>
            </a:r>
            <a:endParaRPr lang="en-US" sz="1600" dirty="0"/>
          </a:p>
        </p:txBody>
      </p:sp>
    </p:spTree>
    <p:extLst>
      <p:ext uri="{BB962C8B-B14F-4D97-AF65-F5344CB8AC3E}">
        <p14:creationId xmlns:p14="http://schemas.microsoft.com/office/powerpoint/2010/main" val="3198029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JAL = Unconditional Jump and Link</a:t>
            </a:r>
            <a:endParaRPr lang="en-US" sz="2800" dirty="0"/>
          </a:p>
        </p:txBody>
      </p:sp>
      <p:sp>
        <p:nvSpPr>
          <p:cNvPr id="2" name="Rectangle 1">
            <a:extLst>
              <a:ext uri="{FF2B5EF4-FFF2-40B4-BE49-F238E27FC236}">
                <a16:creationId xmlns:a16="http://schemas.microsoft.com/office/drawing/2014/main" id="{48BBB298-14CF-48B1-9CA1-B752400E8282}"/>
              </a:ext>
            </a:extLst>
          </p:cNvPr>
          <p:cNvSpPr/>
          <p:nvPr/>
        </p:nvSpPr>
        <p:spPr>
          <a:xfrm>
            <a:off x="163585" y="703261"/>
            <a:ext cx="8686800" cy="3293209"/>
          </a:xfrm>
          <a:prstGeom prst="rect">
            <a:avLst/>
          </a:prstGeom>
        </p:spPr>
        <p:txBody>
          <a:bodyPr wrap="square">
            <a:spAutoFit/>
          </a:bodyPr>
          <a:lstStyle/>
          <a:p>
            <a:r>
              <a:rPr lang="en-US" sz="1600" dirty="0"/>
              <a:t>Unconditional jump to a 16-bit instruction address, specified by register or immediate value. The address following the JAL instruction is stored into REG1, so that REG1 can later be used as a "return" address</a:t>
            </a:r>
          </a:p>
          <a:p>
            <a:endParaRPr lang="de-DE" sz="1600" dirty="0"/>
          </a:p>
          <a:p>
            <a:r>
              <a:rPr lang="en-US" sz="1600" b="1" dirty="0"/>
              <a:t>Definition</a:t>
            </a:r>
            <a:r>
              <a:rPr lang="en-US" sz="1600" dirty="0"/>
              <a:t> </a:t>
            </a:r>
          </a:p>
          <a:p>
            <a:r>
              <a:rPr lang="en-US" sz="1600" dirty="0"/>
              <a:t>	JAL REG1, OP(65535) </a:t>
            </a:r>
          </a:p>
          <a:p>
            <a:endParaRPr lang="en-US" sz="1600" b="1" dirty="0"/>
          </a:p>
          <a:p>
            <a:r>
              <a:rPr lang="en-US" sz="1600" b="1" dirty="0"/>
              <a:t>Operation </a:t>
            </a:r>
          </a:p>
          <a:p>
            <a:r>
              <a:rPr lang="en-US" sz="1600" b="1" dirty="0"/>
              <a:t>	</a:t>
            </a:r>
            <a:r>
              <a:rPr lang="en-US" sz="1600" dirty="0"/>
              <a:t>REG1 = Current PRU Instruction Pointer + 1 PRU </a:t>
            </a:r>
          </a:p>
          <a:p>
            <a:r>
              <a:rPr lang="en-US" sz="1600" dirty="0"/>
              <a:t>	Instruction Pointer = OP(65535)</a:t>
            </a:r>
          </a:p>
          <a:p>
            <a:r>
              <a:rPr lang="en-US" sz="1600" dirty="0"/>
              <a:t> </a:t>
            </a:r>
          </a:p>
          <a:p>
            <a:r>
              <a:rPr lang="en-US" sz="1600" b="1" dirty="0"/>
              <a:t>Example</a:t>
            </a:r>
            <a:r>
              <a:rPr lang="en-US" sz="1600" dirty="0"/>
              <a:t> </a:t>
            </a:r>
          </a:p>
          <a:p>
            <a:r>
              <a:rPr lang="en-US" sz="1600" dirty="0"/>
              <a:t>	jal r2.w2, r2.w0 // Jump to the address stored in r2.w0 // put return location in r2.w2 </a:t>
            </a:r>
          </a:p>
        </p:txBody>
      </p:sp>
    </p:spTree>
    <p:extLst>
      <p:ext uri="{BB962C8B-B14F-4D97-AF65-F5344CB8AC3E}">
        <p14:creationId xmlns:p14="http://schemas.microsoft.com/office/powerpoint/2010/main" val="615024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QBGT/QBGE = Quick Branch if Greater Than or Equal</a:t>
            </a:r>
            <a:endParaRPr lang="en-US" sz="2800" dirty="0"/>
          </a:p>
        </p:txBody>
      </p:sp>
      <p:sp>
        <p:nvSpPr>
          <p:cNvPr id="2" name="Rectangle 1">
            <a:extLst>
              <a:ext uri="{FF2B5EF4-FFF2-40B4-BE49-F238E27FC236}">
                <a16:creationId xmlns:a16="http://schemas.microsoft.com/office/drawing/2014/main" id="{445F8988-7595-413B-B5A9-E791E0F1C651}"/>
              </a:ext>
            </a:extLst>
          </p:cNvPr>
          <p:cNvSpPr/>
          <p:nvPr/>
        </p:nvSpPr>
        <p:spPr>
          <a:xfrm>
            <a:off x="138418" y="1027743"/>
            <a:ext cx="8703577" cy="2031325"/>
          </a:xfrm>
          <a:prstGeom prst="rect">
            <a:avLst/>
          </a:prstGeom>
        </p:spPr>
        <p:txBody>
          <a:bodyPr wrap="square">
            <a:spAutoFit/>
          </a:bodyPr>
          <a:lstStyle/>
          <a:p>
            <a:r>
              <a:rPr lang="en-US" b="1" dirty="0"/>
              <a:t>Definition: </a:t>
            </a:r>
            <a:r>
              <a:rPr lang="en-US" dirty="0"/>
              <a:t>QBGT/E LABEL, REG1, OP(255) </a:t>
            </a:r>
          </a:p>
          <a:p>
            <a:r>
              <a:rPr lang="en-US" b="1" dirty="0"/>
              <a:t>Example: </a:t>
            </a:r>
          </a:p>
          <a:p>
            <a:r>
              <a:rPr lang="en-US" b="1" dirty="0"/>
              <a:t>	</a:t>
            </a:r>
            <a:r>
              <a:rPr lang="en-US" dirty="0"/>
              <a:t>qbge myLabel, r2.w0, 5 	// Branch to label if 5 &gt; r2.w0 </a:t>
            </a:r>
          </a:p>
          <a:p>
            <a:r>
              <a:rPr lang="en-US" dirty="0"/>
              <a:t>	qbge myLabel, r3, r4 	// Branch to label if r4 &gt; r3</a:t>
            </a:r>
          </a:p>
          <a:p>
            <a:endParaRPr lang="en-US" dirty="0"/>
          </a:p>
          <a:p>
            <a:r>
              <a:rPr lang="pt-BR" dirty="0"/>
              <a:t>	qbgt myLabel, r2.w0, 5 	// Branch if 5 &gt;= r2.w0 </a:t>
            </a:r>
          </a:p>
          <a:p>
            <a:r>
              <a:rPr lang="pt-BR" dirty="0"/>
              <a:t>	qbgt myLabel, r3, r4 	// Branch if r4 &gt;= r</a:t>
            </a:r>
            <a:r>
              <a:rPr lang="en-US" dirty="0"/>
              <a:t> </a:t>
            </a:r>
          </a:p>
        </p:txBody>
      </p:sp>
    </p:spTree>
    <p:extLst>
      <p:ext uri="{BB962C8B-B14F-4D97-AF65-F5344CB8AC3E}">
        <p14:creationId xmlns:p14="http://schemas.microsoft.com/office/powerpoint/2010/main" val="545976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QBLT/E= Q</a:t>
            </a:r>
            <a:r>
              <a:rPr lang="en-US" sz="2800" dirty="0"/>
              <a:t>uick Branch if Less Than or Equal</a:t>
            </a:r>
          </a:p>
        </p:txBody>
      </p:sp>
      <p:sp>
        <p:nvSpPr>
          <p:cNvPr id="2" name="Rectangle 1">
            <a:extLst>
              <a:ext uri="{FF2B5EF4-FFF2-40B4-BE49-F238E27FC236}">
                <a16:creationId xmlns:a16="http://schemas.microsoft.com/office/drawing/2014/main" id="{C2E7C782-34DF-4581-942E-1237ECD9F256}"/>
              </a:ext>
            </a:extLst>
          </p:cNvPr>
          <p:cNvSpPr/>
          <p:nvPr/>
        </p:nvSpPr>
        <p:spPr>
          <a:xfrm>
            <a:off x="327171" y="989901"/>
            <a:ext cx="6530829" cy="2031325"/>
          </a:xfrm>
          <a:prstGeom prst="rect">
            <a:avLst/>
          </a:prstGeom>
        </p:spPr>
        <p:txBody>
          <a:bodyPr wrap="square">
            <a:spAutoFit/>
          </a:bodyPr>
          <a:lstStyle/>
          <a:p>
            <a:r>
              <a:rPr lang="en-US" b="1" dirty="0"/>
              <a:t>Definition:</a:t>
            </a:r>
            <a:r>
              <a:rPr lang="en-US" dirty="0"/>
              <a:t> QBLT LABEL, REG1, OP(255) </a:t>
            </a:r>
          </a:p>
          <a:p>
            <a:r>
              <a:rPr lang="en-US" b="1" dirty="0"/>
              <a:t>Example:</a:t>
            </a:r>
            <a:r>
              <a:rPr lang="en-US" dirty="0"/>
              <a:t> </a:t>
            </a:r>
          </a:p>
          <a:p>
            <a:r>
              <a:rPr lang="en-US" dirty="0"/>
              <a:t>	qblt myLabel, r2.w0, 5 	// Branch if 5 &lt; r2.w0 </a:t>
            </a:r>
          </a:p>
          <a:p>
            <a:r>
              <a:rPr lang="en-US" dirty="0"/>
              <a:t>	qblt myLabel, r3, r4 	// Branch if r4 &lt; r3 </a:t>
            </a:r>
          </a:p>
          <a:p>
            <a:endParaRPr lang="de-DE" dirty="0"/>
          </a:p>
          <a:p>
            <a:r>
              <a:rPr lang="pt-BR" dirty="0"/>
              <a:t>	qble myLabel, r2.w0, 5 	// Branch if 5 &lt;= r2.w0 	qble myLabel, r3, r4 	// Branch if r4 &lt;= r3</a:t>
            </a:r>
            <a:endParaRPr lang="en-US" dirty="0"/>
          </a:p>
        </p:txBody>
      </p:sp>
    </p:spTree>
    <p:extLst>
      <p:ext uri="{BB962C8B-B14F-4D97-AF65-F5344CB8AC3E}">
        <p14:creationId xmlns:p14="http://schemas.microsoft.com/office/powerpoint/2010/main" val="4228126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QBEQ= Q</a:t>
            </a:r>
            <a:r>
              <a:rPr lang="en-US" sz="2800" dirty="0"/>
              <a:t>uick Branch if Equal</a:t>
            </a:r>
          </a:p>
        </p:txBody>
      </p:sp>
      <p:sp>
        <p:nvSpPr>
          <p:cNvPr id="2" name="Rectangle 1">
            <a:extLst>
              <a:ext uri="{FF2B5EF4-FFF2-40B4-BE49-F238E27FC236}">
                <a16:creationId xmlns:a16="http://schemas.microsoft.com/office/drawing/2014/main" id="{857B63D5-E8BA-4E7C-9796-5C28C19EE078}"/>
              </a:ext>
            </a:extLst>
          </p:cNvPr>
          <p:cNvSpPr/>
          <p:nvPr/>
        </p:nvSpPr>
        <p:spPr>
          <a:xfrm>
            <a:off x="251670" y="914400"/>
            <a:ext cx="6606330" cy="1477328"/>
          </a:xfrm>
          <a:prstGeom prst="rect">
            <a:avLst/>
          </a:prstGeom>
        </p:spPr>
        <p:txBody>
          <a:bodyPr wrap="square">
            <a:spAutoFit/>
          </a:bodyPr>
          <a:lstStyle/>
          <a:p>
            <a:r>
              <a:rPr lang="en-US" b="1" dirty="0"/>
              <a:t>Definition:</a:t>
            </a:r>
            <a:r>
              <a:rPr lang="en-US" dirty="0"/>
              <a:t> QBEQ LABEL, REG1, OP(255) </a:t>
            </a:r>
          </a:p>
          <a:p>
            <a:r>
              <a:rPr lang="en-US" b="1" dirty="0"/>
              <a:t>Operation: </a:t>
            </a:r>
            <a:r>
              <a:rPr lang="en-US" dirty="0"/>
              <a:t>Branch to LABEL if OP(255) == REG1 </a:t>
            </a:r>
          </a:p>
          <a:p>
            <a:r>
              <a:rPr lang="en-US" b="1" dirty="0"/>
              <a:t>Example: </a:t>
            </a:r>
          </a:p>
          <a:p>
            <a:r>
              <a:rPr lang="en-US" b="1" dirty="0"/>
              <a:t>	</a:t>
            </a:r>
            <a:r>
              <a:rPr lang="en-US" dirty="0"/>
              <a:t>qbeq myLabel, r2.w0, 5 	// Branch if r2.w0==5 </a:t>
            </a:r>
          </a:p>
          <a:p>
            <a:r>
              <a:rPr lang="en-US" dirty="0"/>
              <a:t>	qbeq myLabel, r3, r4 	// Branch if r4==r3 </a:t>
            </a:r>
          </a:p>
        </p:txBody>
      </p:sp>
    </p:spTree>
    <p:extLst>
      <p:ext uri="{BB962C8B-B14F-4D97-AF65-F5344CB8AC3E}">
        <p14:creationId xmlns:p14="http://schemas.microsoft.com/office/powerpoint/2010/main" val="3563032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QBNE = Q</a:t>
            </a:r>
            <a:r>
              <a:rPr lang="en-US" sz="2800" dirty="0"/>
              <a:t>uick Branch if Not Equal</a:t>
            </a:r>
          </a:p>
        </p:txBody>
      </p:sp>
      <p:sp>
        <p:nvSpPr>
          <p:cNvPr id="2" name="Rectangle 1">
            <a:extLst>
              <a:ext uri="{FF2B5EF4-FFF2-40B4-BE49-F238E27FC236}">
                <a16:creationId xmlns:a16="http://schemas.microsoft.com/office/drawing/2014/main" id="{1FAC7111-E63C-4CBF-BD82-A06F29CEF2E2}"/>
              </a:ext>
            </a:extLst>
          </p:cNvPr>
          <p:cNvSpPr/>
          <p:nvPr/>
        </p:nvSpPr>
        <p:spPr>
          <a:xfrm>
            <a:off x="243281" y="914400"/>
            <a:ext cx="6614719" cy="1477328"/>
          </a:xfrm>
          <a:prstGeom prst="rect">
            <a:avLst/>
          </a:prstGeom>
        </p:spPr>
        <p:txBody>
          <a:bodyPr wrap="square">
            <a:spAutoFit/>
          </a:bodyPr>
          <a:lstStyle/>
          <a:p>
            <a:r>
              <a:rPr lang="en-US" b="1" dirty="0"/>
              <a:t>Definition:</a:t>
            </a:r>
            <a:r>
              <a:rPr lang="en-US" dirty="0"/>
              <a:t> QBNE LABEL, REG1, OP(255) </a:t>
            </a:r>
          </a:p>
          <a:p>
            <a:r>
              <a:rPr lang="en-US" b="1" dirty="0"/>
              <a:t>Operation: </a:t>
            </a:r>
            <a:r>
              <a:rPr lang="en-US" dirty="0"/>
              <a:t>Branch to LABEL if OP(255) != REG1 </a:t>
            </a:r>
          </a:p>
          <a:p>
            <a:r>
              <a:rPr lang="en-US" b="1" dirty="0"/>
              <a:t>Example: </a:t>
            </a:r>
          </a:p>
          <a:p>
            <a:r>
              <a:rPr lang="en-US" b="1" dirty="0"/>
              <a:t>	</a:t>
            </a:r>
            <a:r>
              <a:rPr lang="en-US" dirty="0"/>
              <a:t>qbne myLabel, r2.w0, 5 	// Branch if r2.w0!=5 </a:t>
            </a:r>
          </a:p>
          <a:p>
            <a:r>
              <a:rPr lang="en-US" dirty="0"/>
              <a:t>	qbne myLabel, r3, r4 	// Branch if r4!=r3 </a:t>
            </a:r>
          </a:p>
        </p:txBody>
      </p:sp>
    </p:spTree>
    <p:extLst>
      <p:ext uri="{BB962C8B-B14F-4D97-AF65-F5344CB8AC3E}">
        <p14:creationId xmlns:p14="http://schemas.microsoft.com/office/powerpoint/2010/main" val="649630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QBA = Q</a:t>
            </a:r>
            <a:r>
              <a:rPr lang="en-US" sz="2800" dirty="0"/>
              <a:t>uick Branch Always</a:t>
            </a:r>
          </a:p>
        </p:txBody>
      </p:sp>
      <p:sp>
        <p:nvSpPr>
          <p:cNvPr id="2" name="Rectangle 1">
            <a:extLst>
              <a:ext uri="{FF2B5EF4-FFF2-40B4-BE49-F238E27FC236}">
                <a16:creationId xmlns:a16="http://schemas.microsoft.com/office/drawing/2014/main" id="{31E1BA0A-535B-44E3-AC2A-EFC963B4A872}"/>
              </a:ext>
            </a:extLst>
          </p:cNvPr>
          <p:cNvSpPr/>
          <p:nvPr/>
        </p:nvSpPr>
        <p:spPr>
          <a:xfrm>
            <a:off x="346230" y="914573"/>
            <a:ext cx="8380418" cy="2031325"/>
          </a:xfrm>
          <a:prstGeom prst="rect">
            <a:avLst/>
          </a:prstGeom>
        </p:spPr>
        <p:txBody>
          <a:bodyPr wrap="square">
            <a:spAutoFit/>
          </a:bodyPr>
          <a:lstStyle/>
          <a:p>
            <a:r>
              <a:rPr lang="en-US" dirty="0"/>
              <a:t>Jump always. This is similar to the JMP instruction, only QBA uses an address offset and thus can be relocated in memory</a:t>
            </a:r>
          </a:p>
          <a:p>
            <a:endParaRPr lang="de-DE" dirty="0"/>
          </a:p>
          <a:p>
            <a:r>
              <a:rPr lang="en-US" b="1" dirty="0"/>
              <a:t>Example:</a:t>
            </a:r>
          </a:p>
          <a:p>
            <a:r>
              <a:rPr lang="en-US" b="1" dirty="0"/>
              <a:t>	</a:t>
            </a:r>
            <a:r>
              <a:rPr lang="en-US" dirty="0"/>
              <a:t> qba myLabel 	// Branch</a:t>
            </a:r>
          </a:p>
          <a:p>
            <a:endParaRPr lang="de-DE" b="1" dirty="0"/>
          </a:p>
          <a:p>
            <a:r>
              <a:rPr lang="de-DE" b="1" dirty="0">
                <a:solidFill>
                  <a:srgbClr val="FF0000"/>
                </a:solidFill>
                <a:sym typeface="Wingdings" panose="05000000000000000000" pitchFamily="2" charset="2"/>
              </a:rPr>
              <a:t></a:t>
            </a:r>
            <a:r>
              <a:rPr lang="en-US" b="1" dirty="0">
                <a:solidFill>
                  <a:srgbClr val="FF0000"/>
                </a:solidFill>
                <a:sym typeface="Wingdings" panose="05000000000000000000" pitchFamily="2" charset="2"/>
              </a:rPr>
              <a:t> Limit </a:t>
            </a:r>
            <a:r>
              <a:rPr lang="en-US" b="1" dirty="0" err="1">
                <a:solidFill>
                  <a:srgbClr val="FF0000"/>
                </a:solidFill>
                <a:sym typeface="Wingdings" panose="05000000000000000000" pitchFamily="2" charset="2"/>
              </a:rPr>
              <a:t>wie</a:t>
            </a:r>
            <a:r>
              <a:rPr lang="en-US" b="1" dirty="0">
                <a:solidFill>
                  <a:srgbClr val="FF0000"/>
                </a:solidFill>
                <a:sym typeface="Wingdings" panose="05000000000000000000" pitchFamily="2" charset="2"/>
              </a:rPr>
              <a:t> </a:t>
            </a:r>
            <a:r>
              <a:rPr lang="en-US" b="1" dirty="0" err="1">
                <a:solidFill>
                  <a:srgbClr val="FF0000"/>
                </a:solidFill>
                <a:sym typeface="Wingdings" panose="05000000000000000000" pitchFamily="2" charset="2"/>
              </a:rPr>
              <a:t>weit</a:t>
            </a:r>
            <a:r>
              <a:rPr lang="en-US" b="1" dirty="0">
                <a:solidFill>
                  <a:srgbClr val="FF0000"/>
                </a:solidFill>
                <a:sym typeface="Wingdings" panose="05000000000000000000" pitchFamily="2" charset="2"/>
              </a:rPr>
              <a:t> man </a:t>
            </a:r>
            <a:r>
              <a:rPr lang="en-US" b="1" dirty="0" err="1">
                <a:solidFill>
                  <a:srgbClr val="FF0000"/>
                </a:solidFill>
                <a:sym typeface="Wingdings" panose="05000000000000000000" pitchFamily="2" charset="2"/>
              </a:rPr>
              <a:t>springen</a:t>
            </a:r>
            <a:r>
              <a:rPr lang="en-US" b="1" dirty="0">
                <a:solidFill>
                  <a:srgbClr val="FF0000"/>
                </a:solidFill>
                <a:sym typeface="Wingdings" panose="05000000000000000000" pitchFamily="2" charset="2"/>
              </a:rPr>
              <a:t> </a:t>
            </a:r>
            <a:r>
              <a:rPr lang="en-US" b="1" dirty="0" err="1">
                <a:solidFill>
                  <a:srgbClr val="FF0000"/>
                </a:solidFill>
                <a:sym typeface="Wingdings" panose="05000000000000000000" pitchFamily="2" charset="2"/>
              </a:rPr>
              <a:t>kann</a:t>
            </a:r>
            <a:r>
              <a:rPr lang="en-US" b="1" dirty="0">
                <a:solidFill>
                  <a:srgbClr val="FF0000"/>
                </a:solidFill>
                <a:sym typeface="Wingdings" panose="05000000000000000000" pitchFamily="2" charset="2"/>
              </a:rPr>
              <a:t>? Label </a:t>
            </a:r>
            <a:r>
              <a:rPr lang="en-US" b="1" dirty="0" err="1">
                <a:solidFill>
                  <a:srgbClr val="FF0000"/>
                </a:solidFill>
                <a:sym typeface="Wingdings" panose="05000000000000000000" pitchFamily="2" charset="2"/>
              </a:rPr>
              <a:t>wie</a:t>
            </a:r>
            <a:r>
              <a:rPr lang="en-US" b="1" dirty="0">
                <a:solidFill>
                  <a:srgbClr val="FF0000"/>
                </a:solidFill>
                <a:sym typeface="Wingdings" panose="05000000000000000000" pitchFamily="2" charset="2"/>
              </a:rPr>
              <a:t> </a:t>
            </a:r>
            <a:r>
              <a:rPr lang="en-US" b="1" dirty="0" err="1">
                <a:solidFill>
                  <a:srgbClr val="FF0000"/>
                </a:solidFill>
                <a:sym typeface="Wingdings" panose="05000000000000000000" pitchFamily="2" charset="2"/>
              </a:rPr>
              <a:t>weit</a:t>
            </a:r>
            <a:r>
              <a:rPr lang="en-US" b="1" dirty="0">
                <a:solidFill>
                  <a:srgbClr val="FF0000"/>
                </a:solidFill>
                <a:sym typeface="Wingdings" panose="05000000000000000000" pitchFamily="2" charset="2"/>
              </a:rPr>
              <a:t> </a:t>
            </a:r>
            <a:r>
              <a:rPr lang="en-US" b="1" dirty="0" err="1">
                <a:solidFill>
                  <a:srgbClr val="FF0000"/>
                </a:solidFill>
                <a:sym typeface="Wingdings" panose="05000000000000000000" pitchFamily="2" charset="2"/>
              </a:rPr>
              <a:t>weg</a:t>
            </a:r>
            <a:r>
              <a:rPr lang="en-US" b="1" dirty="0">
                <a:solidFill>
                  <a:srgbClr val="FF0000"/>
                </a:solidFill>
                <a:sym typeface="Wingdings" panose="05000000000000000000" pitchFamily="2" charset="2"/>
              </a:rPr>
              <a:t>?</a:t>
            </a:r>
            <a:endParaRPr lang="en-US" b="1" dirty="0">
              <a:solidFill>
                <a:srgbClr val="FF0000"/>
              </a:solidFill>
            </a:endParaRPr>
          </a:p>
        </p:txBody>
      </p:sp>
    </p:spTree>
    <p:extLst>
      <p:ext uri="{BB962C8B-B14F-4D97-AF65-F5344CB8AC3E}">
        <p14:creationId xmlns:p14="http://schemas.microsoft.com/office/powerpoint/2010/main" val="4171366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QBBS = Q</a:t>
            </a:r>
            <a:r>
              <a:rPr lang="en-US" sz="2800" dirty="0"/>
              <a:t>uick Branch if Bit is Set</a:t>
            </a:r>
          </a:p>
        </p:txBody>
      </p:sp>
      <p:sp>
        <p:nvSpPr>
          <p:cNvPr id="2" name="Rectangle 1">
            <a:extLst>
              <a:ext uri="{FF2B5EF4-FFF2-40B4-BE49-F238E27FC236}">
                <a16:creationId xmlns:a16="http://schemas.microsoft.com/office/drawing/2014/main" id="{AB094868-4566-4693-BFB7-6CF11E8346B5}"/>
              </a:ext>
            </a:extLst>
          </p:cNvPr>
          <p:cNvSpPr/>
          <p:nvPr/>
        </p:nvSpPr>
        <p:spPr>
          <a:xfrm>
            <a:off x="310393" y="880844"/>
            <a:ext cx="8355435" cy="3293209"/>
          </a:xfrm>
          <a:prstGeom prst="rect">
            <a:avLst/>
          </a:prstGeom>
        </p:spPr>
        <p:txBody>
          <a:bodyPr wrap="square">
            <a:spAutoFit/>
          </a:bodyPr>
          <a:lstStyle/>
          <a:p>
            <a:r>
              <a:rPr lang="en-US" sz="1600" b="1" dirty="0"/>
              <a:t>Definition:</a:t>
            </a:r>
            <a:r>
              <a:rPr lang="en-US" sz="1600" dirty="0"/>
              <a:t> QBBS LABEL, REG1, OP(31) </a:t>
            </a:r>
          </a:p>
          <a:p>
            <a:r>
              <a:rPr lang="en-US" sz="1600" b="1" dirty="0"/>
              <a:t>Operation:</a:t>
            </a:r>
            <a:r>
              <a:rPr lang="en-US" sz="1600" dirty="0"/>
              <a:t> Branch to LABEL if (REG1 &amp; (1 &lt;&lt; (OP(31) &amp; 0x1f))) </a:t>
            </a:r>
          </a:p>
          <a:p>
            <a:r>
              <a:rPr lang="en-US" sz="1600" b="1" dirty="0"/>
              <a:t>Example: </a:t>
            </a:r>
          </a:p>
          <a:p>
            <a:r>
              <a:rPr lang="en-US" sz="1600" b="1" dirty="0"/>
              <a:t>	</a:t>
            </a:r>
            <a:r>
              <a:rPr lang="en-US" sz="1600" dirty="0"/>
              <a:t>qbbs myLabel r3, r1 	// Branch if (r3 &amp; (1&lt;&lt;</a:t>
            </a:r>
            <a:r>
              <a:rPr lang="pt-BR" sz="1600" dirty="0"/>
              <a:t>r1)) </a:t>
            </a:r>
          </a:p>
          <a:p>
            <a:r>
              <a:rPr lang="pt-BR" sz="1600" dirty="0"/>
              <a:t>	qbbs myLabel, r1.b1, 5 	// Branch if (r1.b1 &amp; 1&lt;&lt;5)</a:t>
            </a:r>
          </a:p>
          <a:p>
            <a:endParaRPr lang="pt-BR" sz="1600" dirty="0"/>
          </a:p>
          <a:p>
            <a:r>
              <a:rPr lang="pt-BR" sz="1600" dirty="0"/>
              <a:t>OR</a:t>
            </a:r>
          </a:p>
          <a:p>
            <a:endParaRPr lang="en-US" sz="1600" b="1" dirty="0"/>
          </a:p>
          <a:p>
            <a:r>
              <a:rPr lang="en-US" sz="1600" b="1" dirty="0"/>
              <a:t>Definition:</a:t>
            </a:r>
            <a:r>
              <a:rPr lang="en-US" sz="1600" dirty="0"/>
              <a:t> QBBS LABEL, Rn.tx </a:t>
            </a:r>
          </a:p>
          <a:p>
            <a:r>
              <a:rPr lang="en-US" sz="1600" b="1" dirty="0"/>
              <a:t>Operation:</a:t>
            </a:r>
            <a:r>
              <a:rPr lang="en-US" sz="1600" dirty="0"/>
              <a:t> Branch to LABEL if( Rn &amp; Rn.tx ) </a:t>
            </a:r>
          </a:p>
          <a:p>
            <a:r>
              <a:rPr lang="en-US" sz="1600" b="1" dirty="0"/>
              <a:t>Example:</a:t>
            </a:r>
            <a:r>
              <a:rPr lang="en-US" sz="1600" dirty="0"/>
              <a:t> </a:t>
            </a:r>
          </a:p>
          <a:p>
            <a:r>
              <a:rPr lang="en-US" sz="1600" dirty="0"/>
              <a:t>	qbbs myLabel, r1.b1.t5 	// Branch if (r1.b1 &amp; 1&lt;&lt;5)</a:t>
            </a:r>
          </a:p>
          <a:p>
            <a:r>
              <a:rPr lang="de-DE" sz="1600" dirty="0"/>
              <a:t>	</a:t>
            </a:r>
            <a:r>
              <a:rPr lang="en-US" sz="1600" dirty="0"/>
              <a:t>qbbs myLabel, r0.t0 	// Branch if bit 0 in R0 is set </a:t>
            </a:r>
          </a:p>
        </p:txBody>
      </p:sp>
    </p:spTree>
    <p:extLst>
      <p:ext uri="{BB962C8B-B14F-4D97-AF65-F5344CB8AC3E}">
        <p14:creationId xmlns:p14="http://schemas.microsoft.com/office/powerpoint/2010/main" val="2590779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QBBC = Q</a:t>
            </a:r>
            <a:r>
              <a:rPr lang="en-US" sz="2800" dirty="0"/>
              <a:t>uick Branch if Bit is Clear</a:t>
            </a:r>
          </a:p>
        </p:txBody>
      </p:sp>
      <p:sp>
        <p:nvSpPr>
          <p:cNvPr id="2" name="Rectangle 1">
            <a:extLst>
              <a:ext uri="{FF2B5EF4-FFF2-40B4-BE49-F238E27FC236}">
                <a16:creationId xmlns:a16="http://schemas.microsoft.com/office/drawing/2014/main" id="{AB094868-4566-4693-BFB7-6CF11E8346B5}"/>
              </a:ext>
            </a:extLst>
          </p:cNvPr>
          <p:cNvSpPr/>
          <p:nvPr/>
        </p:nvSpPr>
        <p:spPr>
          <a:xfrm>
            <a:off x="310393" y="880844"/>
            <a:ext cx="8355435" cy="3293209"/>
          </a:xfrm>
          <a:prstGeom prst="rect">
            <a:avLst/>
          </a:prstGeom>
        </p:spPr>
        <p:txBody>
          <a:bodyPr wrap="square">
            <a:spAutoFit/>
          </a:bodyPr>
          <a:lstStyle/>
          <a:p>
            <a:r>
              <a:rPr lang="en-US" sz="1600" b="1" dirty="0"/>
              <a:t>Definition:</a:t>
            </a:r>
            <a:r>
              <a:rPr lang="en-US" sz="1600" dirty="0"/>
              <a:t> QBBC LABEL, REG1, OP(31) </a:t>
            </a:r>
          </a:p>
          <a:p>
            <a:r>
              <a:rPr lang="en-US" sz="1600" b="1" dirty="0"/>
              <a:t>Operation:</a:t>
            </a:r>
            <a:r>
              <a:rPr lang="en-US" sz="1600" dirty="0"/>
              <a:t> Branch to LABEL if ( !(REG1 &amp; (1 &lt;&lt; (OP(31) &amp; 0x1f))) </a:t>
            </a:r>
          </a:p>
          <a:p>
            <a:r>
              <a:rPr lang="en-US" sz="1600" b="1" dirty="0"/>
              <a:t>Example: </a:t>
            </a:r>
          </a:p>
          <a:p>
            <a:r>
              <a:rPr lang="en-US" sz="1600" b="1" dirty="0"/>
              <a:t>	</a:t>
            </a:r>
            <a:r>
              <a:rPr lang="en-US" sz="1600" dirty="0"/>
              <a:t>qbbc myLabel r3, r1 	// Branch if ( !(r3 &amp; (1&lt;&lt;</a:t>
            </a:r>
            <a:r>
              <a:rPr lang="pt-BR" sz="1600" dirty="0"/>
              <a:t>r1)) </a:t>
            </a:r>
          </a:p>
          <a:p>
            <a:r>
              <a:rPr lang="pt-BR" sz="1600" dirty="0"/>
              <a:t>	qbbc myLabel, r1.b1, 5 	// Branch if ( !(r1.b1 &amp; 1&lt;&lt;5))</a:t>
            </a:r>
          </a:p>
          <a:p>
            <a:endParaRPr lang="pt-BR" sz="1600" dirty="0"/>
          </a:p>
          <a:p>
            <a:r>
              <a:rPr lang="pt-BR" sz="1600" dirty="0"/>
              <a:t>OR</a:t>
            </a:r>
          </a:p>
          <a:p>
            <a:endParaRPr lang="en-US" sz="1600" b="1" dirty="0"/>
          </a:p>
          <a:p>
            <a:r>
              <a:rPr lang="en-US" sz="1600" b="1" dirty="0"/>
              <a:t>Definition:</a:t>
            </a:r>
            <a:r>
              <a:rPr lang="en-US" sz="1600" dirty="0"/>
              <a:t> QBBC LABEL, Rn.tx </a:t>
            </a:r>
          </a:p>
          <a:p>
            <a:r>
              <a:rPr lang="en-US" sz="1600" b="1" dirty="0"/>
              <a:t>Operation:</a:t>
            </a:r>
            <a:r>
              <a:rPr lang="en-US" sz="1600" dirty="0"/>
              <a:t> Branch to LABEL if ( !(Rn &amp; Rn.tx)) </a:t>
            </a:r>
          </a:p>
          <a:p>
            <a:r>
              <a:rPr lang="en-US" sz="1600" b="1" dirty="0"/>
              <a:t>Example:</a:t>
            </a:r>
            <a:r>
              <a:rPr lang="en-US" sz="1600" dirty="0"/>
              <a:t> </a:t>
            </a:r>
          </a:p>
          <a:p>
            <a:r>
              <a:rPr lang="en-US" sz="1600" dirty="0"/>
              <a:t>	qbbc myLabel, r1.b1.t5 	// Branch if ( !(r1.b1 &amp; 1&lt;&lt;5))</a:t>
            </a:r>
          </a:p>
          <a:p>
            <a:r>
              <a:rPr lang="de-DE" sz="1600" dirty="0"/>
              <a:t>	</a:t>
            </a:r>
            <a:r>
              <a:rPr lang="en-US" sz="1600" dirty="0"/>
              <a:t>qbbc myLabel, r0.t0 	// Branch if bit 0 in R0 is set </a:t>
            </a:r>
          </a:p>
        </p:txBody>
      </p:sp>
    </p:spTree>
    <p:extLst>
      <p:ext uri="{BB962C8B-B14F-4D97-AF65-F5344CB8AC3E}">
        <p14:creationId xmlns:p14="http://schemas.microsoft.com/office/powerpoint/2010/main" val="174369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WBS/C = Wait until Bit Set/Clear</a:t>
            </a:r>
            <a:endParaRPr lang="en-US" sz="2800" dirty="0"/>
          </a:p>
        </p:txBody>
      </p:sp>
      <p:sp>
        <p:nvSpPr>
          <p:cNvPr id="2" name="Rectangle 1">
            <a:extLst>
              <a:ext uri="{FF2B5EF4-FFF2-40B4-BE49-F238E27FC236}">
                <a16:creationId xmlns:a16="http://schemas.microsoft.com/office/drawing/2014/main" id="{11195A51-0BAC-4797-83F7-7640731F5736}"/>
              </a:ext>
            </a:extLst>
          </p:cNvPr>
          <p:cNvSpPr/>
          <p:nvPr/>
        </p:nvSpPr>
        <p:spPr>
          <a:xfrm>
            <a:off x="117826" y="1395853"/>
            <a:ext cx="9195507" cy="2031325"/>
          </a:xfrm>
          <a:prstGeom prst="rect">
            <a:avLst/>
          </a:prstGeom>
        </p:spPr>
        <p:txBody>
          <a:bodyPr wrap="square">
            <a:spAutoFit/>
          </a:bodyPr>
          <a:lstStyle/>
          <a:p>
            <a:r>
              <a:rPr lang="en-US" b="1" dirty="0"/>
              <a:t>Definition: </a:t>
            </a:r>
            <a:r>
              <a:rPr lang="en-US" dirty="0"/>
              <a:t>WBS REG1, OP(31) </a:t>
            </a:r>
          </a:p>
          <a:p>
            <a:endParaRPr lang="en-US" dirty="0"/>
          </a:p>
          <a:p>
            <a:r>
              <a:rPr lang="en-US" b="1" dirty="0"/>
              <a:t>Operation: </a:t>
            </a:r>
            <a:r>
              <a:rPr lang="en-US" dirty="0"/>
              <a:t>QBBS/C $, REG1, OP(31) </a:t>
            </a:r>
          </a:p>
          <a:p>
            <a:endParaRPr lang="en-US" dirty="0"/>
          </a:p>
          <a:p>
            <a:r>
              <a:rPr lang="en-US" b="1" dirty="0"/>
              <a:t>Example: </a:t>
            </a:r>
          </a:p>
          <a:p>
            <a:r>
              <a:rPr lang="en-US" dirty="0"/>
              <a:t>	wbs/c r31, r1                                             </a:t>
            </a:r>
          </a:p>
          <a:p>
            <a:r>
              <a:rPr lang="en-US" dirty="0"/>
              <a:t>	wbs/c r31.b1, 5</a:t>
            </a:r>
          </a:p>
        </p:txBody>
      </p:sp>
      <p:sp>
        <p:nvSpPr>
          <p:cNvPr id="5" name="TextBox 4">
            <a:extLst>
              <a:ext uri="{FF2B5EF4-FFF2-40B4-BE49-F238E27FC236}">
                <a16:creationId xmlns:a16="http://schemas.microsoft.com/office/drawing/2014/main" id="{5FDFDA37-A4D0-4272-B6AC-1976F2B6AA58}"/>
              </a:ext>
            </a:extLst>
          </p:cNvPr>
          <p:cNvSpPr txBox="1"/>
          <p:nvPr/>
        </p:nvSpPr>
        <p:spPr>
          <a:xfrm>
            <a:off x="117826" y="4299061"/>
            <a:ext cx="6922088" cy="307777"/>
          </a:xfrm>
          <a:prstGeom prst="rect">
            <a:avLst/>
          </a:prstGeom>
          <a:noFill/>
        </p:spPr>
        <p:txBody>
          <a:bodyPr wrap="none" rtlCol="0">
            <a:spAutoFit/>
          </a:bodyPr>
          <a:lstStyle/>
          <a:p>
            <a:r>
              <a:rPr lang="de-DE" sz="1400" b="1" dirty="0"/>
              <a:t>Note: </a:t>
            </a:r>
            <a:r>
              <a:rPr lang="en-US" sz="1400" dirty="0"/>
              <a:t>REG1 is almost certainly R31, else this instruction could lead to an infinite loop</a:t>
            </a:r>
          </a:p>
        </p:txBody>
      </p:sp>
      <p:sp>
        <p:nvSpPr>
          <p:cNvPr id="6" name="TextBox 5">
            <a:extLst>
              <a:ext uri="{FF2B5EF4-FFF2-40B4-BE49-F238E27FC236}">
                <a16:creationId xmlns:a16="http://schemas.microsoft.com/office/drawing/2014/main" id="{10D90F40-12A9-4E7C-BF86-03FD4B05EDC4}"/>
              </a:ext>
            </a:extLst>
          </p:cNvPr>
          <p:cNvSpPr txBox="1"/>
          <p:nvPr/>
        </p:nvSpPr>
        <p:spPr>
          <a:xfrm>
            <a:off x="313267" y="821267"/>
            <a:ext cx="6250429" cy="369332"/>
          </a:xfrm>
          <a:prstGeom prst="rect">
            <a:avLst/>
          </a:prstGeom>
          <a:noFill/>
        </p:spPr>
        <p:txBody>
          <a:bodyPr wrap="none" rtlCol="0">
            <a:spAutoFit/>
          </a:bodyPr>
          <a:lstStyle/>
          <a:p>
            <a:r>
              <a:rPr lang="de-DE" dirty="0"/>
              <a:t>Instruction waits until Bit is Set or Cleared (see Slide 20/21)</a:t>
            </a:r>
            <a:endParaRPr lang="en-US" dirty="0"/>
          </a:p>
        </p:txBody>
      </p:sp>
    </p:spTree>
    <p:extLst>
      <p:ext uri="{BB962C8B-B14F-4D97-AF65-F5344CB8AC3E}">
        <p14:creationId xmlns:p14="http://schemas.microsoft.com/office/powerpoint/2010/main" val="4260641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HALT = Halt Operation</a:t>
            </a:r>
            <a:endParaRPr lang="en-US" sz="2800" dirty="0"/>
          </a:p>
        </p:txBody>
      </p:sp>
      <p:sp>
        <p:nvSpPr>
          <p:cNvPr id="2" name="TextBox 1">
            <a:extLst>
              <a:ext uri="{FF2B5EF4-FFF2-40B4-BE49-F238E27FC236}">
                <a16:creationId xmlns:a16="http://schemas.microsoft.com/office/drawing/2014/main" id="{11673AF8-E242-4126-AD29-D8A5232278D3}"/>
              </a:ext>
            </a:extLst>
          </p:cNvPr>
          <p:cNvSpPr txBox="1"/>
          <p:nvPr/>
        </p:nvSpPr>
        <p:spPr>
          <a:xfrm>
            <a:off x="134324" y="973667"/>
            <a:ext cx="7832810" cy="163121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de-DE" dirty="0"/>
              <a:t>This Operation is used to halt the PRU and implement SW breakpoints in the debugger</a:t>
            </a:r>
          </a:p>
          <a:p>
            <a:pPr marL="285750" indent="-285750">
              <a:spcBef>
                <a:spcPts val="600"/>
              </a:spcBef>
              <a:buFont typeface="Arial" panose="020B0604020202020204" pitchFamily="34" charset="0"/>
              <a:buChar char="•"/>
            </a:pPr>
            <a:r>
              <a:rPr lang="de-DE" dirty="0"/>
              <a:t>The Program counter remains in the current location</a:t>
            </a:r>
          </a:p>
          <a:p>
            <a:pPr marL="285750" indent="-285750">
              <a:spcBef>
                <a:spcPts val="600"/>
              </a:spcBef>
              <a:buFont typeface="Arial" panose="020B0604020202020204" pitchFamily="34" charset="0"/>
              <a:buChar char="•"/>
            </a:pPr>
            <a:r>
              <a:rPr lang="de-DE" dirty="0"/>
              <a:t>When the PRU is reenabled the instructions is refetched from instruction memory</a:t>
            </a:r>
            <a:endParaRPr lang="en-US" dirty="0"/>
          </a:p>
        </p:txBody>
      </p:sp>
      <p:sp>
        <p:nvSpPr>
          <p:cNvPr id="3" name="Rectangle 2">
            <a:extLst>
              <a:ext uri="{FF2B5EF4-FFF2-40B4-BE49-F238E27FC236}">
                <a16:creationId xmlns:a16="http://schemas.microsoft.com/office/drawing/2014/main" id="{470D7734-4979-4DDB-886C-216E9A8E9978}"/>
              </a:ext>
            </a:extLst>
          </p:cNvPr>
          <p:cNvSpPr/>
          <p:nvPr/>
        </p:nvSpPr>
        <p:spPr>
          <a:xfrm>
            <a:off x="436424" y="2970199"/>
            <a:ext cx="1544012" cy="646331"/>
          </a:xfrm>
          <a:prstGeom prst="rect">
            <a:avLst/>
          </a:prstGeom>
        </p:spPr>
        <p:txBody>
          <a:bodyPr wrap="none">
            <a:spAutoFit/>
          </a:bodyPr>
          <a:lstStyle/>
          <a:p>
            <a:r>
              <a:rPr lang="en-US" b="1" dirty="0"/>
              <a:t>Example</a:t>
            </a:r>
            <a:r>
              <a:rPr lang="en-US" dirty="0"/>
              <a:t> </a:t>
            </a:r>
          </a:p>
          <a:p>
            <a:r>
              <a:rPr lang="en-US" dirty="0"/>
              <a:t>	halt </a:t>
            </a:r>
          </a:p>
        </p:txBody>
      </p:sp>
    </p:spTree>
    <p:extLst>
      <p:ext uri="{BB962C8B-B14F-4D97-AF65-F5344CB8AC3E}">
        <p14:creationId xmlns:p14="http://schemas.microsoft.com/office/powerpoint/2010/main" val="3955296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SLP = Sleep Operation</a:t>
            </a:r>
            <a:endParaRPr lang="en-US" sz="2800" dirty="0"/>
          </a:p>
        </p:txBody>
      </p:sp>
      <p:sp>
        <p:nvSpPr>
          <p:cNvPr id="2" name="Rectangle 1">
            <a:extLst>
              <a:ext uri="{FF2B5EF4-FFF2-40B4-BE49-F238E27FC236}">
                <a16:creationId xmlns:a16="http://schemas.microsoft.com/office/drawing/2014/main" id="{98B8CC4A-4264-4D55-A02E-24B817B998C7}"/>
              </a:ext>
            </a:extLst>
          </p:cNvPr>
          <p:cNvSpPr/>
          <p:nvPr/>
        </p:nvSpPr>
        <p:spPr>
          <a:xfrm>
            <a:off x="0" y="841223"/>
            <a:ext cx="8906932" cy="1477328"/>
          </a:xfrm>
          <a:prstGeom prst="rect">
            <a:avLst/>
          </a:prstGeom>
        </p:spPr>
        <p:txBody>
          <a:bodyPr wrap="square">
            <a:spAutoFit/>
          </a:bodyPr>
          <a:lstStyle/>
          <a:p>
            <a:r>
              <a:rPr lang="en-US" dirty="0"/>
              <a:t>The SLP instruction will sleep the PRU. This instruction can specify either a permanent sleep or a "wake on event". When the </a:t>
            </a:r>
            <a:r>
              <a:rPr lang="en-US" b="1" dirty="0"/>
              <a:t>wake on event</a:t>
            </a:r>
            <a:r>
              <a:rPr lang="en-US" dirty="0"/>
              <a:t> option is </a:t>
            </a:r>
            <a:r>
              <a:rPr lang="en-US" b="1" dirty="0"/>
              <a:t>set to "1", </a:t>
            </a:r>
            <a:r>
              <a:rPr lang="en-US" dirty="0"/>
              <a:t>the PRU will wake on any event that is enabled in the PRU Wakeup Enable register. Otherwise, the core can only be woken by manually clearing the SLEEPING bit of the core's CTRL register, or by resetting the PRU core.</a:t>
            </a:r>
          </a:p>
        </p:txBody>
      </p:sp>
      <p:sp>
        <p:nvSpPr>
          <p:cNvPr id="3" name="Rectangle 2">
            <a:extLst>
              <a:ext uri="{FF2B5EF4-FFF2-40B4-BE49-F238E27FC236}">
                <a16:creationId xmlns:a16="http://schemas.microsoft.com/office/drawing/2014/main" id="{2F3BF145-B3F1-4462-B5D0-D4FF00251F62}"/>
              </a:ext>
            </a:extLst>
          </p:cNvPr>
          <p:cNvSpPr/>
          <p:nvPr/>
        </p:nvSpPr>
        <p:spPr>
          <a:xfrm>
            <a:off x="67734" y="2942852"/>
            <a:ext cx="7890933" cy="923330"/>
          </a:xfrm>
          <a:prstGeom prst="rect">
            <a:avLst/>
          </a:prstGeom>
        </p:spPr>
        <p:txBody>
          <a:bodyPr wrap="square">
            <a:spAutoFit/>
          </a:bodyPr>
          <a:lstStyle/>
          <a:p>
            <a:r>
              <a:rPr lang="en-US" b="1" dirty="0"/>
              <a:t>Example </a:t>
            </a:r>
          </a:p>
          <a:p>
            <a:r>
              <a:rPr lang="en-US" b="1" dirty="0"/>
              <a:t>	</a:t>
            </a:r>
            <a:r>
              <a:rPr lang="en-US" dirty="0"/>
              <a:t>SLP 0 		// Sleep without wake events </a:t>
            </a:r>
          </a:p>
          <a:p>
            <a:r>
              <a:rPr lang="en-US" dirty="0"/>
              <a:t>	SLP 1 		// Sleep until wake event set</a:t>
            </a:r>
          </a:p>
        </p:txBody>
      </p:sp>
    </p:spTree>
    <p:extLst>
      <p:ext uri="{BB962C8B-B14F-4D97-AF65-F5344CB8AC3E}">
        <p14:creationId xmlns:p14="http://schemas.microsoft.com/office/powerpoint/2010/main" val="31727224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0482F20-F7B9-4501-9DBD-8011319A03FA}"/>
              </a:ext>
            </a:extLst>
          </p:cNvPr>
          <p:cNvSpPr>
            <a:spLocks noGrp="1"/>
          </p:cNvSpPr>
          <p:nvPr>
            <p:ph type="ctrTitle"/>
          </p:nvPr>
        </p:nvSpPr>
        <p:spPr>
          <a:xfrm>
            <a:off x="0" y="109453"/>
            <a:ext cx="8458200" cy="593809"/>
          </a:xfrm>
        </p:spPr>
        <p:txBody>
          <a:bodyPr/>
          <a:lstStyle/>
          <a:p>
            <a:r>
              <a:rPr lang="de-DE" sz="2800" dirty="0"/>
              <a:t>LOOP = Hardware Loop Assist</a:t>
            </a:r>
            <a:endParaRPr lang="en-US" sz="2800" dirty="0"/>
          </a:p>
        </p:txBody>
      </p:sp>
      <p:sp>
        <p:nvSpPr>
          <p:cNvPr id="3" name="Rectangle 2">
            <a:extLst>
              <a:ext uri="{FF2B5EF4-FFF2-40B4-BE49-F238E27FC236}">
                <a16:creationId xmlns:a16="http://schemas.microsoft.com/office/drawing/2014/main" id="{87A64AB5-4963-43F8-8804-54E6481C1215}"/>
              </a:ext>
            </a:extLst>
          </p:cNvPr>
          <p:cNvSpPr/>
          <p:nvPr/>
        </p:nvSpPr>
        <p:spPr>
          <a:xfrm>
            <a:off x="0" y="596991"/>
            <a:ext cx="8636000" cy="369332"/>
          </a:xfrm>
          <a:prstGeom prst="rect">
            <a:avLst/>
          </a:prstGeom>
        </p:spPr>
        <p:txBody>
          <a:bodyPr wrap="square">
            <a:spAutoFit/>
          </a:bodyPr>
          <a:lstStyle/>
          <a:p>
            <a:r>
              <a:rPr lang="en-US" dirty="0"/>
              <a:t>Defines a hardware-assisted loop operation. The loop is non interruptible.</a:t>
            </a:r>
          </a:p>
        </p:txBody>
      </p:sp>
      <p:sp>
        <p:nvSpPr>
          <p:cNvPr id="4" name="Rectangle 3">
            <a:extLst>
              <a:ext uri="{FF2B5EF4-FFF2-40B4-BE49-F238E27FC236}">
                <a16:creationId xmlns:a16="http://schemas.microsoft.com/office/drawing/2014/main" id="{FF77C40F-41D3-41C0-8D85-B188AF08CFB6}"/>
              </a:ext>
            </a:extLst>
          </p:cNvPr>
          <p:cNvSpPr/>
          <p:nvPr/>
        </p:nvSpPr>
        <p:spPr>
          <a:xfrm>
            <a:off x="0" y="966323"/>
            <a:ext cx="9025467" cy="1508105"/>
          </a:xfrm>
          <a:prstGeom prst="rect">
            <a:avLst/>
          </a:prstGeom>
        </p:spPr>
        <p:txBody>
          <a:bodyPr wrap="square">
            <a:spAutoFit/>
          </a:bodyPr>
          <a:lstStyle/>
          <a:p>
            <a:r>
              <a:rPr lang="en-US" sz="1600" b="1" dirty="0"/>
              <a:t>Example 1:</a:t>
            </a:r>
          </a:p>
          <a:p>
            <a:r>
              <a:rPr lang="en-US" dirty="0"/>
              <a:t>	</a:t>
            </a:r>
            <a:r>
              <a:rPr lang="en-US" sz="1400" dirty="0"/>
              <a:t>loop EndLoop, 5 		// Peform the loop 5 times</a:t>
            </a:r>
          </a:p>
          <a:p>
            <a:r>
              <a:rPr lang="en-US" sz="1400" dirty="0"/>
              <a:t>	mvi r2, *r1.b0 		// Get value </a:t>
            </a:r>
          </a:p>
          <a:p>
            <a:r>
              <a:rPr lang="en-US" sz="1400" dirty="0"/>
              <a:t>	xor r2, r2, r3 		// Change value </a:t>
            </a:r>
          </a:p>
          <a:p>
            <a:r>
              <a:rPr lang="en-US" sz="1400" dirty="0"/>
              <a:t>	mvi *r1.b0++, r1 		// Save value </a:t>
            </a:r>
          </a:p>
          <a:p>
            <a:r>
              <a:rPr lang="en-US" sz="1400" dirty="0"/>
              <a:t>          EndLoop:</a:t>
            </a:r>
          </a:p>
        </p:txBody>
      </p:sp>
      <p:sp>
        <p:nvSpPr>
          <p:cNvPr id="5" name="Rectangle 4">
            <a:extLst>
              <a:ext uri="{FF2B5EF4-FFF2-40B4-BE49-F238E27FC236}">
                <a16:creationId xmlns:a16="http://schemas.microsoft.com/office/drawing/2014/main" id="{7CA010A9-D611-451F-ABA8-821F8C4A77EA}"/>
              </a:ext>
            </a:extLst>
          </p:cNvPr>
          <p:cNvSpPr/>
          <p:nvPr/>
        </p:nvSpPr>
        <p:spPr>
          <a:xfrm>
            <a:off x="0" y="2395092"/>
            <a:ext cx="9143999" cy="1723549"/>
          </a:xfrm>
          <a:prstGeom prst="rect">
            <a:avLst/>
          </a:prstGeom>
        </p:spPr>
        <p:txBody>
          <a:bodyPr wrap="square">
            <a:spAutoFit/>
          </a:bodyPr>
          <a:lstStyle/>
          <a:p>
            <a:r>
              <a:rPr lang="en-US" sz="1600" b="1" dirty="0"/>
              <a:t>Example 2: </a:t>
            </a:r>
          </a:p>
          <a:p>
            <a:r>
              <a:rPr lang="en-US" b="1" dirty="0"/>
              <a:t>	</a:t>
            </a:r>
            <a:r>
              <a:rPr lang="en-US" sz="1400" dirty="0"/>
              <a:t>mvi r2, *r1.b0++ 		// Get the number of elements </a:t>
            </a:r>
          </a:p>
          <a:p>
            <a:r>
              <a:rPr lang="en-US" sz="1400" dirty="0"/>
              <a:t>	loop EndLoop, r2 		// Peform the loop for each element (value of r2) </a:t>
            </a:r>
          </a:p>
          <a:p>
            <a:r>
              <a:rPr lang="en-US" sz="1400" dirty="0"/>
              <a:t>	mvi r2, *r1.b0 		// Get value </a:t>
            </a:r>
          </a:p>
          <a:p>
            <a:r>
              <a:rPr lang="en-US" sz="1400" dirty="0"/>
              <a:t>	call ProcessValue 		// It is legal to jump outside the loop </a:t>
            </a:r>
          </a:p>
          <a:p>
            <a:r>
              <a:rPr lang="en-US" sz="1400" dirty="0"/>
              <a:t>	mvi *r1.b0++, r1 		// Save value </a:t>
            </a:r>
          </a:p>
          <a:p>
            <a:r>
              <a:rPr lang="en-US" sz="1400" dirty="0"/>
              <a:t>          EndLoop: </a:t>
            </a:r>
          </a:p>
        </p:txBody>
      </p:sp>
      <p:sp>
        <p:nvSpPr>
          <p:cNvPr id="7" name="TextBox 6">
            <a:extLst>
              <a:ext uri="{FF2B5EF4-FFF2-40B4-BE49-F238E27FC236}">
                <a16:creationId xmlns:a16="http://schemas.microsoft.com/office/drawing/2014/main" id="{1E1A31AE-BB2E-4D27-B5A8-EBF934E6C120}"/>
              </a:ext>
            </a:extLst>
          </p:cNvPr>
          <p:cNvSpPr txBox="1"/>
          <p:nvPr/>
        </p:nvSpPr>
        <p:spPr>
          <a:xfrm>
            <a:off x="0" y="4121261"/>
            <a:ext cx="8806041" cy="523220"/>
          </a:xfrm>
          <a:prstGeom prst="rect">
            <a:avLst/>
          </a:prstGeom>
          <a:noFill/>
        </p:spPr>
        <p:txBody>
          <a:bodyPr wrap="square" rtlCol="0">
            <a:spAutoFit/>
          </a:bodyPr>
          <a:lstStyle/>
          <a:p>
            <a:r>
              <a:rPr lang="de-DE" sz="1400" b="1" dirty="0"/>
              <a:t>Note: </a:t>
            </a:r>
            <a:r>
              <a:rPr lang="en-US" sz="1400" dirty="0"/>
              <a:t>When the loop count is set from a register, only the 16 LSB are used (regardless of the field size). If this 16-bit value is zero, the instruction jumps directly to the end of loop</a:t>
            </a:r>
          </a:p>
        </p:txBody>
      </p:sp>
    </p:spTree>
    <p:extLst>
      <p:ext uri="{BB962C8B-B14F-4D97-AF65-F5344CB8AC3E}">
        <p14:creationId xmlns:p14="http://schemas.microsoft.com/office/powerpoint/2010/main" val="3790079027"/>
      </p:ext>
    </p:extLst>
  </p:cSld>
  <p:clrMapOvr>
    <a:masterClrMapping/>
  </p:clrMapOvr>
</p:sld>
</file>

<file path=ppt/theme/theme1.xml><?xml version="1.0" encoding="utf-8"?>
<a:theme xmlns:a="http://schemas.openxmlformats.org/drawingml/2006/main" name="Default Theme-new">
  <a:themeElements>
    <a:clrScheme name="Custom 1">
      <a:dk1>
        <a:srgbClr val="000000"/>
      </a:dk1>
      <a:lt1>
        <a:srgbClr val="FFFFFF"/>
      </a:lt1>
      <a:dk2>
        <a:srgbClr val="DE0000"/>
      </a:dk2>
      <a:lt2>
        <a:srgbClr val="808080"/>
      </a:lt2>
      <a:accent1>
        <a:srgbClr val="DE0000"/>
      </a:accent1>
      <a:accent2>
        <a:srgbClr val="A4A4A4"/>
      </a:accent2>
      <a:accent3>
        <a:srgbClr val="117788"/>
      </a:accent3>
      <a:accent4>
        <a:srgbClr val="404040"/>
      </a:accent4>
      <a:accent5>
        <a:srgbClr val="4ABED4"/>
      </a:accent5>
      <a:accent6>
        <a:srgbClr val="7F7F7F"/>
      </a:accent6>
      <a:hlink>
        <a:srgbClr val="DE0000"/>
      </a:hlink>
      <a:folHlink>
        <a:srgbClr val="AAAAAA"/>
      </a:folHlink>
    </a:clrScheme>
    <a:fontScheme name="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efault Theme-new" id="{4B444CA8-5089-4C8C-A892-5383A8EDC2CD}" vid="{B9F702C9-368E-4FE6-9D0C-1E6C532F79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18281</TotalTime>
  <Words>3415</Words>
  <Application>Microsoft Office PowerPoint</Application>
  <PresentationFormat>On-screen Show (16:9)</PresentationFormat>
  <Paragraphs>554</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Symbol</vt:lpstr>
      <vt:lpstr>Times New Roman</vt:lpstr>
      <vt:lpstr>Wingdings</vt:lpstr>
      <vt:lpstr>Default Theme-new</vt:lpstr>
      <vt:lpstr>PRU Instruction Set</vt:lpstr>
      <vt:lpstr>Register Examples (1/2)</vt:lpstr>
      <vt:lpstr>Register Examples (2/2)</vt:lpstr>
      <vt:lpstr>Arithmetic Instructions</vt:lpstr>
      <vt:lpstr>ADD</vt:lpstr>
      <vt:lpstr>ADC = Add with carry</vt:lpstr>
      <vt:lpstr>SUB = Subtract</vt:lpstr>
      <vt:lpstr>RSB = Reversed Integer Subtract</vt:lpstr>
      <vt:lpstr>SUC = Subtract with Carry</vt:lpstr>
      <vt:lpstr>RSC = Reversed Integer Subtract with Carry</vt:lpstr>
      <vt:lpstr>Logic Operations</vt:lpstr>
      <vt:lpstr>LSL = Logical Shift Left</vt:lpstr>
      <vt:lpstr>LSR = Logical Shift Right</vt:lpstr>
      <vt:lpstr>AND</vt:lpstr>
      <vt:lpstr>OR</vt:lpstr>
      <vt:lpstr>XOR</vt:lpstr>
      <vt:lpstr>NOT</vt:lpstr>
      <vt:lpstr>MIN</vt:lpstr>
      <vt:lpstr>MAX</vt:lpstr>
      <vt:lpstr>CLR – Clear Bit</vt:lpstr>
      <vt:lpstr>SET – Set Bit</vt:lpstr>
      <vt:lpstr>LMBD – Left Most Bit Detect</vt:lpstr>
      <vt:lpstr>LDI = Load Immediate</vt:lpstr>
      <vt:lpstr>MOV = Copy Value</vt:lpstr>
      <vt:lpstr>MVIx = Move Register File Indirect</vt:lpstr>
      <vt:lpstr>PowerPoint Presentation</vt:lpstr>
      <vt:lpstr>SBBO/LBBO = Store/Load Byte Burst</vt:lpstr>
      <vt:lpstr>SBCO/LBCO – Store/Load Byte Burst with Constant Table Offset</vt:lpstr>
      <vt:lpstr>ZERO</vt:lpstr>
      <vt:lpstr>JMP = Unconditional Jump</vt:lpstr>
      <vt:lpstr>JAL = Unconditional Jump and Link</vt:lpstr>
      <vt:lpstr>QBGT/QBGE = Quick Branch if Greater Than or Equal</vt:lpstr>
      <vt:lpstr>QBLT/E= Quick Branch if Less Than or Equal</vt:lpstr>
      <vt:lpstr>QBEQ= Quick Branch if Equal</vt:lpstr>
      <vt:lpstr>QBNE = Quick Branch if Not Equal</vt:lpstr>
      <vt:lpstr>QBA = Quick Branch Always</vt:lpstr>
      <vt:lpstr>QBBS = Quick Branch if Bit is Set</vt:lpstr>
      <vt:lpstr>QBBC = Quick Branch if Bit is Clear</vt:lpstr>
      <vt:lpstr>WBS/C = Wait until Bit Set/Clear</vt:lpstr>
      <vt:lpstr>HALT = Halt Operation</vt:lpstr>
      <vt:lpstr>SLP = Sleep Operation</vt:lpstr>
      <vt:lpstr>LOOP = Hardware Loop Assist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 Instruction Set</dc:title>
  <dc:creator>Kolukaj, Dardan</dc:creator>
  <cp:lastModifiedBy>Leyrer, Thomas</cp:lastModifiedBy>
  <cp:revision>365</cp:revision>
  <dcterms:created xsi:type="dcterms:W3CDTF">2022-06-22T08:13:50Z</dcterms:created>
  <dcterms:modified xsi:type="dcterms:W3CDTF">2025-07-28T08:11:18Z</dcterms:modified>
</cp:coreProperties>
</file>